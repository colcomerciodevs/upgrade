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propósito: estandarizar y gobernar la actualización de los servidores SUSE Linux Enterprise 15 que soportan GeoPOS. La automatización utiliza AWX para orquestar, Ansible para ejecutar y Foreman/Katello como origen de contenido corporativo.</a:t>
            </a:r>
          </a:p>
          <a:p/>
          <a:p>
            <a:r>
              <a:t>Aclarar que los cambios de Service Pack se realizan de manera secuencial y no se salta directamente de SP5 a SP7. La presentación resume la solución y sus avances; no representa una puesta en producción ya completada. El objetivo final es avanzar hacia SP7, sujeto a los controles y pruebas establecidos.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justificación no debe presentarse como reemplazo de una operación manual vigente: el proyecto se diseñó automatizado desde su origen. Frente a una intervención manual repetida, la automatización permite establecer una forma común de ejecución, validar condiciones antes de actuar y dejar evidencia de lo ocurrido.</a:t>
            </a:r>
          </a:p>
          <a:p/>
          <a:p>
            <a:r>
              <a:t>Los cuatro beneficios son preparación verificable (versión del sistema, espacio, conectividad y repositorios), consistencia (misma secuencia controlada), gobierno (CRQ/RFC, lote, ambiente y confirmación explícita) y trazabilidad (reportes por servidor, fase y lote).</a:t>
            </a:r>
          </a:p>
          <a:p/>
          <a:p>
            <a:r>
              <a:t>No afirmar un ahorro de tiempo medido ni eliminación de interrupciones: las migraciones reales requieren reinicio y ventana autorizada.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arquitectura es deliberadamente simple: AWX es la interfaz de orquestación y ejecución de cambios; Ansible realiza la lógica sobre los servidores SLES 15 y obtiene paquetes exclusivamente desde Foreman/Katello. El inventario dinámico procede de un Excel compartido en SharePoint y el Survey relaciona la ejecución con CRQ/RFC, lote y ambiente.</a:t>
            </a:r>
          </a:p>
          <a:p/>
          <a:p>
            <a:r>
              <a:t>El Workflow consta de cinco etapas. Verificar: evaluar prerrequisitos. Preparar: administrar repositorios temporales de la fase. Aplicar: simulación preventiva obligatoria justo antes del cambio real, actualización, reinicio y validación posterior. Reportar: generar resultados individuales y consolidados. Sincronizar: publicar una copia de los reportes en SharePoint, cuando esté configurado. Puede existir aprobación humana entre Preparar y Aplicar.</a:t>
            </a:r>
          </a:p>
          <a:p/>
          <a:p>
            <a:r>
              <a:t>La validación real de servicios GeoPOS requiere completar la parametrización por servidor antes de la salida a producción. No mencionar VALIDATE como modo independiente: ya no forma parte de la solución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cuatro modos de ejecución son SP4→SP5, SP5→SP6, SP6→SP7 y FULL. FULL ejecuta SP5→SP6 y, después de completar, reiniciar y verificar ese Service Pack intermedio, SP6→SP7. No existe salto directo de SP5 a SP7.</a:t>
            </a:r>
          </a:p>
          <a:p/>
          <a:p>
            <a:r>
              <a:t>Se decidió mantener SP4→SP5 como ejecución independiente para evitar añadir una tercera transición a FULL. La razón de cobertura también influye: aproximadamente el 90 % de los servidores se encuentra en SP5, según estimación operativa del proyecto (no una medición certificada); hay pocos equipos en SP4, algunos en Cuba. Un servidor en SP4 puede migrar primero a SP5 y luego usar el modo que corresponda.</a:t>
            </a:r>
          </a:p>
          <a:p/>
          <a:p>
            <a:r>
              <a:t>Cada transición tiene validaciones propias y un reinicio obligatorio; un error crítico bloquea el avance al siguiente Service Pack del mismo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control operativo se distribuye a lo largo de la ejecución. Antes del cambio se verifican condiciones técnicas y se corre una simulación preventiva obligatoria de Zypper en la propia fase Aplicar. Durante el cambio se exige confirmación y se ejecuta por defecto un servidor a la vez, con posibilidad de aprobación humana entre preparación y aplicación. Después se confirma el Service Pack alcanzado y el estado de los servicios configurados.</a:t>
            </a:r>
          </a:p>
          <a:p/>
          <a:p>
            <a:r>
              <a:t>Las evidencias HTML permiten revisar resultados por servidor y etapa y un consolidado por lote. Los estados distinguen OK, advertencia, fallido y no verificado; una revisión no ejecutada jamás debe presentarse como aprobada. La sincronización hacia SharePoint puede habilitarse.</a:t>
            </a:r>
          </a:p>
          <a:p/>
          <a:p>
            <a:r>
              <a:t>Importante: la tarjeta de reportes de esta diapositiva es una ilustración esquemática de la salida del sistema, no evidencia de una ejecución productiva. La parametrización y verificación de servicios reales GeoPOS se encuentra pendiente para QA y el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distinguiendo resultados confirmados y pendientes. El único ensayo señalado como completado es la migración SP5→SP6 en una plantilla SUSE Linux Enterprise 15 SP5. Esto no equivale a una validación de QA ni a una implementación productiva.</a:t>
            </a:r>
          </a:p>
          <a:p/>
          <a:p>
            <a:r>
              <a:t>Sobre la plantilla quedan pendientes el salto SP6→SP7 y el modo FULL SP5→SP6→SP7, idealmente partiendo en FULL de un estado SP5 inicial. En el ambiente real de QA deben probarse las cuatro rutas: SP4→SP5, SP5→SP6, SP6→SP7 y FULL.</a:t>
            </a:r>
          </a:p>
          <a:p/>
          <a:p>
            <a:r>
              <a:t>Finalmente corresponde integrar y validar los servicios reales de GeoPOS por servidor (unidades systemd, procesos Java, puertos TCP y comprobaciones HTTP/HTTPS opcionales) para establecer el criterio de éxito funcional.</a:t>
            </a:r>
          </a:p>
          <a:p/>
          <a:p>
            <a:r>
              <a:t>Solo cuando estas pruebas estén completadas y las dependencias del cambio resueltas podrá coordinarse la ventana de mantenimiento y la aprobación para producción. No prometer una fecha ni una tasa de éxito aún no acreditadas. Esta presentación ejecutiva se complementa con una versión funcional/técnica de doce diapositivas y con el informe de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B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498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8BE7D0"/>
                </a:solidFill>
                <a:latin typeface="Calibri"/>
              </a:defRPr>
            </a:pPr>
            <a:r>
              <a:t>PRESENTACIÓN EJECUTIVA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35608"/>
            <a:ext cx="6858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3600" b="1">
                <a:solidFill>
                  <a:srgbClr val="FFFFFF"/>
                </a:solidFill>
                <a:latin typeface="Calibri"/>
              </a:defRPr>
            </a:pPr>
            <a:r>
              <a:t>Upgrade automatizado de</a:t>
            </a:r>
          </a:p>
          <a:p>
            <a:pPr algn="l">
              <a:lnSpc>
                <a:spcPct val="105000"/>
              </a:lnSpc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SUSE Linux Enterprise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00400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700" b="0">
                <a:solidFill>
                  <a:srgbClr val="B7CFD8"/>
                </a:solidFill>
                <a:latin typeface="Calibri"/>
              </a:defRPr>
            </a:pPr>
            <a:r>
              <a:t>Actualización secuencial, controlada y trazable</a:t>
            </a:r>
          </a:p>
          <a:p>
            <a:pPr algn="l">
              <a:lnSpc>
                <a:spcPct val="115000"/>
              </a:lnSpc>
              <a:defRPr sz="1700" b="0">
                <a:solidFill>
                  <a:srgbClr val="B7CFD8"/>
                </a:solidFill>
                <a:latin typeface="Calibri"/>
              </a:defRPr>
            </a:pPr>
            <a:r>
              <a:t>para la plataforma GeoPOS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274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8BE7D0"/>
                </a:solidFill>
                <a:latin typeface="Calibri"/>
              </a:defRPr>
            </a:pPr>
            <a:r>
              <a:t>AWX  +  ANSIBLE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02352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7CFD8"/>
                </a:solidFill>
                <a:latin typeface="Calibri"/>
              </a:defRPr>
            </a:pPr>
            <a:r>
              <a:t>Repositorios internos Foreman / Katello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48272" y="4325112"/>
            <a:ext cx="859536" cy="859536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4325112"/>
            <a:ext cx="859536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SP4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3401568"/>
            <a:ext cx="859536" cy="859536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3401568"/>
            <a:ext cx="859536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SP5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71432" y="2468880"/>
            <a:ext cx="859536" cy="859536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1432" y="2468880"/>
            <a:ext cx="859536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SP6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0152" y="1536192"/>
            <a:ext cx="859536" cy="859536"/>
          </a:xfrm>
          <a:prstGeom prst="roundRect">
            <a:avLst/>
          </a:prstGeom>
          <a:solidFill>
            <a:srgbClr val="15B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0152" y="1536192"/>
            <a:ext cx="859536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0D2434"/>
                </a:solidFill>
                <a:latin typeface="Calibri"/>
              </a:defRPr>
            </a:pPr>
            <a:r>
              <a:t>SP7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577840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8BE7D0"/>
                </a:solidFill>
                <a:latin typeface="Calibri"/>
              </a:defRPr>
            </a:pPr>
            <a:r>
              <a:t>EVOLUCIÓN POR ETAPAS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099048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B8C3"/>
                </a:solidFill>
                <a:latin typeface="Calibri"/>
              </a:defRPr>
            </a:pPr>
            <a:r>
              <a:t>Octubre de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46480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AB8C3"/>
                </a:solidFill>
                <a:latin typeface="Calibri"/>
              </a:defRPr>
            </a:pPr>
            <a:r>
              <a:t>G E O P O S   /   I N F R A E S T R U C T U R A   L I N U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5566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7CFD8"/>
                </a:solidFill>
                <a:latin typeface="Calibri"/>
              </a:defRPr>
            </a:pPr>
            <a:r>
              <a:t>01  / 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B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B589"/>
                </a:solidFill>
                <a:latin typeface="Calibri"/>
              </a:defRPr>
            </a:pPr>
            <a:r>
              <a:t>02   /   MOTIVACIÓN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02C3C"/>
                </a:solidFill>
                <a:latin typeface="Calibri"/>
              </a:defRPr>
            </a:pPr>
            <a:r>
              <a:t>Automatizar desde el diseño aporta mayor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7281"/>
                </a:solidFill>
                <a:latin typeface="Calibri"/>
              </a:defRPr>
            </a:pPr>
            <a:r>
              <a:t>La solución se concibió automatizada desde el inicio; no sustituye un proceso manual vigente.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048256"/>
            <a:ext cx="5222595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" y="2249424"/>
            <a:ext cx="384048" cy="384048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4942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B58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31136"/>
            <a:ext cx="42716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C3C"/>
                </a:solidFill>
                <a:latin typeface="Calibri"/>
              </a:defRPr>
            </a:pPr>
            <a:r>
              <a:t>Preparación verificable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578608"/>
            <a:ext cx="42716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A7281"/>
                </a:solidFill>
                <a:latin typeface="Calibri"/>
              </a:defRPr>
            </a:pPr>
            <a:r>
              <a:t>Revisar prerrequisitos antes de iniciar un cambio.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291" y="2048256"/>
            <a:ext cx="5222595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0459" y="2249424"/>
            <a:ext cx="384048" cy="384048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0459" y="224942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B58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9099" y="2231136"/>
            <a:ext cx="42716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C3C"/>
                </a:solidFill>
                <a:latin typeface="Calibri"/>
              </a:defRPr>
            </a:pPr>
            <a:r>
              <a:t>Ejecución consistente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9099" y="2578608"/>
            <a:ext cx="42716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A7281"/>
                </a:solidFill>
                <a:latin typeface="Calibri"/>
              </a:defRPr>
            </a:pPr>
            <a:r>
              <a:t>Aplicar una secuencia estándar a cada servidor.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557016"/>
            <a:ext cx="5222595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" y="3758184"/>
            <a:ext cx="384048" cy="384048"/>
          </a:xfrm>
          <a:prstGeom prst="roundRect">
            <a:avLst/>
          </a:prstGeom>
          <a:solidFill>
            <a:srgbClr val="D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7581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B58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739896"/>
            <a:ext cx="42716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C3C"/>
                </a:solidFill>
                <a:latin typeface="Calibri"/>
              </a:defRPr>
            </a:pPr>
            <a:r>
              <a:t>Gobierno del cambio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4087368"/>
            <a:ext cx="42716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A7281"/>
                </a:solidFill>
                <a:latin typeface="Calibri"/>
              </a:defRPr>
            </a:pPr>
            <a:r>
              <a:t>Definir alcance, autorización y avance controlado.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9291" y="3557016"/>
            <a:ext cx="5222595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20459" y="3758184"/>
            <a:ext cx="384048" cy="384048"/>
          </a:xfrm>
          <a:prstGeom prst="roundRect">
            <a:avLst/>
          </a:prstGeom>
          <a:solidFill>
            <a:srgbClr val="D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0459" y="37581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B58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9099" y="3739896"/>
            <a:ext cx="42716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C3C"/>
                </a:solidFill>
                <a:latin typeface="Calibri"/>
              </a:defRPr>
            </a:pPr>
            <a:r>
              <a:t>Trazabilidad completa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9099" y="4087368"/>
            <a:ext cx="42716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A7281"/>
                </a:solidFill>
                <a:latin typeface="Calibri"/>
              </a:defRPr>
            </a:pPr>
            <a:r>
              <a:t>Registrar resultados para seguimiento y auditoría.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5303520"/>
            <a:ext cx="10661904" cy="640080"/>
          </a:xfrm>
          <a:prstGeom prst="rect">
            <a:avLst/>
          </a:prstGeom>
          <a:solidFill>
            <a:srgbClr val="0D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530352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  Mayor estandarización y control del proceso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6437376"/>
            <a:ext cx="10692079" cy="1"/>
          </a:xfrm>
          <a:prstGeom prst="rect">
            <a:avLst/>
          </a:prstGeom>
          <a:solidFill>
            <a:srgbClr val="9AB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646480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A7281"/>
                </a:solidFill>
                <a:latin typeface="Calibri"/>
              </a:defRPr>
            </a:pPr>
            <a:r>
              <a:t>G E O P O S   /   I N F R A E S T R U C T U R A   L I N U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5566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A7281"/>
                </a:solidFill>
                <a:latin typeface="Calibri"/>
              </a:defRPr>
            </a:pPr>
            <a:r>
              <a:t>02  / 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B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B589"/>
                </a:solidFill>
                <a:latin typeface="Calibri"/>
              </a:defRPr>
            </a:pPr>
            <a:r>
              <a:t>03   /  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02C3C"/>
                </a:solidFill>
                <a:latin typeface="Calibri"/>
              </a:defRPr>
            </a:pPr>
            <a:r>
              <a:t>Una automatización integrada a las plataformas actuales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7281"/>
                </a:solidFill>
                <a:latin typeface="Calibri"/>
              </a:defRPr>
            </a:pPr>
            <a:r>
              <a:t>AWX coordina · Ansible ejecuta · Foreman / Katello suministra paquetes internos.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148840"/>
            <a:ext cx="3337560" cy="2167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386584"/>
            <a:ext cx="384048" cy="384048"/>
          </a:xfrm>
          <a:prstGeom prst="roundRect">
            <a:avLst/>
          </a:prstGeom>
          <a:solidFill>
            <a:srgbClr val="D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865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5B58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5351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02C3C"/>
                </a:solidFill>
                <a:latin typeface="Calibri"/>
              </a:defRPr>
            </a:pPr>
            <a:r>
              <a:t>AWX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19856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B589"/>
                </a:solidFill>
                <a:latin typeface="Calibri"/>
              </a:defRPr>
            </a:pPr>
            <a:r>
              <a:t>Orquesta el cambio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9476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A7281"/>
                </a:solidFill>
                <a:latin typeface="Calibri"/>
              </a:defRPr>
            </a:pPr>
            <a:r>
              <a:t>Selecciona el lote y coordina el flujo.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300837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5B58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148840"/>
            <a:ext cx="3337560" cy="2167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386584"/>
            <a:ext cx="384048" cy="384048"/>
          </a:xfrm>
          <a:prstGeom prst="roundRect">
            <a:avLst/>
          </a:prstGeom>
          <a:solidFill>
            <a:srgbClr val="D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3865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5B58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95351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02C3C"/>
                </a:solidFill>
                <a:latin typeface="Calibri"/>
              </a:defRPr>
            </a:pPr>
            <a:r>
              <a:t>Ansible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419856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B589"/>
                </a:solidFill>
                <a:latin typeface="Calibri"/>
              </a:defRPr>
            </a:pPr>
            <a:r>
              <a:t>Ejecuta las tareas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79476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A7281"/>
                </a:solidFill>
                <a:latin typeface="Calibri"/>
              </a:defRPr>
            </a:pPr>
            <a:r>
              <a:t>Aplica el upgrade y las verificaciones.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00837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5B58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148840"/>
            <a:ext cx="3337560" cy="2167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2752" y="2386584"/>
            <a:ext cx="384048" cy="384048"/>
          </a:xfrm>
          <a:prstGeom prst="roundRect">
            <a:avLst/>
          </a:prstGeom>
          <a:solidFill>
            <a:srgbClr val="D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3865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5B58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95351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02C3C"/>
                </a:solidFill>
                <a:latin typeface="Calibri"/>
              </a:defRPr>
            </a:pPr>
            <a:r>
              <a:t>SLES 15 + GeoPOS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419856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B589"/>
                </a:solidFill>
                <a:latin typeface="Calibri"/>
              </a:defRPr>
            </a:pPr>
            <a:r>
              <a:t>Infraestructura objetivo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79476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A7281"/>
                </a:solidFill>
                <a:latin typeface="Calibri"/>
              </a:defRPr>
            </a:pPr>
            <a:r>
              <a:t>Actualiza el SO y comprueba su estado.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681728"/>
            <a:ext cx="6400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A7281"/>
                </a:solidFill>
                <a:latin typeface="Calibri"/>
              </a:defRPr>
            </a:pPr>
            <a:r>
              <a:t>FLUJO DE EJECUCIÓN EN AWX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056632"/>
            <a:ext cx="1984248" cy="612648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0392" y="5157216"/>
            <a:ext cx="310896" cy="310896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5157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1016" y="5056632"/>
            <a:ext cx="146304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2C3C"/>
                </a:solidFill>
                <a:latin typeface="Calibri"/>
              </a:defRPr>
            </a:pPr>
            <a:r>
              <a:t>Verificar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5056632"/>
            <a:ext cx="1984248" cy="612648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26664" y="5157216"/>
            <a:ext cx="310896" cy="310896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6664" y="5157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288" y="5056632"/>
            <a:ext cx="146304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2C3C"/>
                </a:solidFill>
                <a:latin typeface="Calibri"/>
              </a:defRPr>
            </a:pPr>
            <a:r>
              <a:t>Preparar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02352" y="5056632"/>
            <a:ext cx="1984248" cy="612648"/>
          </a:xfrm>
          <a:prstGeom prst="roundRect">
            <a:avLst/>
          </a:prstGeom>
          <a:solidFill>
            <a:srgbClr val="D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02936" y="5157216"/>
            <a:ext cx="310896" cy="310896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02936" y="5157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5056632"/>
            <a:ext cx="146304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2C3C"/>
                </a:solidFill>
                <a:latin typeface="Calibri"/>
              </a:defRPr>
            </a:pPr>
            <a:r>
              <a:t>Aplicar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78624" y="5056632"/>
            <a:ext cx="1984248" cy="612648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79208" y="5157216"/>
            <a:ext cx="310896" cy="310896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208" y="5157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9832" y="5056632"/>
            <a:ext cx="146304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2C3C"/>
                </a:solidFill>
                <a:latin typeface="Calibri"/>
              </a:defRPr>
            </a:pPr>
            <a:r>
              <a:t>Reportar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54896" y="5056632"/>
            <a:ext cx="1984248" cy="612648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55480" y="5157216"/>
            <a:ext cx="310896" cy="310896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5157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76104" y="5056632"/>
            <a:ext cx="146304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2C3C"/>
                </a:solidFill>
                <a:latin typeface="Calibri"/>
              </a:defRPr>
            </a:pPr>
            <a:r>
              <a:t>Sincronizar*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824728"/>
            <a:ext cx="993038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7281"/>
                </a:solidFill>
                <a:latin typeface="Calibri"/>
              </a:defRPr>
            </a:pPr>
            <a:r>
              <a:t>* Sincronización de reportes a SharePoint opcional.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" y="6437376"/>
            <a:ext cx="10692079" cy="1"/>
          </a:xfrm>
          <a:prstGeom prst="rect">
            <a:avLst/>
          </a:prstGeom>
          <a:solidFill>
            <a:srgbClr val="9AB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646480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A7281"/>
                </a:solidFill>
                <a:latin typeface="Calibri"/>
              </a:defRPr>
            </a:pPr>
            <a:r>
              <a:t>G E O P O S   /   I N F R A E S T R U C T U R A   L I N U 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20095" y="645566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A7281"/>
                </a:solidFill>
                <a:latin typeface="Calibri"/>
              </a:defRPr>
            </a:pPr>
            <a:r>
              <a:t>03  / 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B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8BE7D0"/>
                </a:solidFill>
                <a:latin typeface="Calibri"/>
              </a:defRPr>
            </a:pPr>
            <a:r>
              <a:t>04   /  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Cuatro modos; una regla: no saltar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7CFD8"/>
                </a:solidFill>
                <a:latin typeface="Calibri"/>
              </a:defRPr>
            </a:pPr>
            <a:r>
              <a:t>Tres transiciones individuales y un modo FULL con dos cambios secuenciales.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502920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8BE7D0"/>
                </a:solidFill>
                <a:latin typeface="Calibri"/>
              </a:defRPr>
            </a:pPr>
            <a:r>
              <a:t>MODOS INDIVIDUALES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423160"/>
            <a:ext cx="3383280" cy="1124712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724912"/>
            <a:ext cx="987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984" y="2724912"/>
            <a:ext cx="44805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5B58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2724912"/>
            <a:ext cx="987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423160"/>
            <a:ext cx="3383280" cy="1124712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724912"/>
            <a:ext cx="987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724912"/>
            <a:ext cx="44805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5B58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724912"/>
            <a:ext cx="987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2423160"/>
            <a:ext cx="3383280" cy="1124712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724912"/>
            <a:ext cx="987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724912"/>
            <a:ext cx="44805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5B58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4704" y="2724912"/>
            <a:ext cx="987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977639"/>
            <a:ext cx="10725912" cy="1170432"/>
          </a:xfrm>
          <a:prstGeom prst="rect">
            <a:avLst/>
          </a:prstGeom>
          <a:solidFill>
            <a:srgbClr val="184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8408" y="4261104"/>
            <a:ext cx="1298448" cy="292608"/>
          </a:xfrm>
          <a:prstGeom prst="roundRect">
            <a:avLst/>
          </a:prstGeom>
          <a:solidFill>
            <a:srgbClr val="1B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4261104"/>
            <a:ext cx="129844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8BE7D0"/>
                </a:solidFill>
                <a:latin typeface="Calibri"/>
              </a:defRPr>
            </a:pPr>
            <a:r>
              <a:t>MODO FULL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4306824"/>
            <a:ext cx="11155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SP5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4279392"/>
            <a:ext cx="347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8BE7D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4306824"/>
            <a:ext cx="11155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SP6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4279392"/>
            <a:ext cx="347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8BE7D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306824"/>
            <a:ext cx="108813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SP7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4504" y="4315968"/>
            <a:ext cx="262432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D2F7E8"/>
                </a:solidFill>
                <a:latin typeface="Calibri"/>
              </a:defRPr>
            </a:pPr>
            <a:r>
              <a:t>Verifica SP6 antes</a:t>
            </a:r>
          </a:p>
          <a:p>
            <a:pPr algn="l">
              <a:lnSpc>
                <a:spcPct val="105000"/>
              </a:lnSpc>
              <a:defRPr sz="1200" b="1">
                <a:solidFill>
                  <a:srgbClr val="D2F7E8"/>
                </a:solidFill>
                <a:latin typeface="Calibri"/>
              </a:defRPr>
            </a:pPr>
            <a:r>
              <a:t>de continuar a SP7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48640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ℹ  SP4→SP5 se mantiene independiente para simplificar el flujo.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870448"/>
            <a:ext cx="9509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7CFD8"/>
                </a:solidFill>
                <a:latin typeface="Calibri"/>
              </a:defRPr>
            </a:pPr>
            <a:r>
              <a:t>≈90 % del parque en SP5 · estimación operativa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6437376"/>
            <a:ext cx="10692079" cy="1"/>
          </a:xfrm>
          <a:prstGeom prst="rect">
            <a:avLst/>
          </a:prstGeom>
          <a:solidFill>
            <a:srgbClr val="9AB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646480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A7281"/>
                </a:solidFill>
                <a:latin typeface="Calibri"/>
              </a:defRPr>
            </a:pPr>
            <a:r>
              <a:t>G E O P O S   /   I N F R A E S T R U C T U R A   L I N U 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5566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A7281"/>
                </a:solidFill>
                <a:latin typeface="Calibri"/>
              </a:defRPr>
            </a:pPr>
            <a:r>
              <a:t>04  / 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B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B589"/>
                </a:solidFill>
                <a:latin typeface="Calibri"/>
              </a:defRPr>
            </a:pPr>
            <a:r>
              <a:t>05   /   GOBIERNO Y EVIDENCIAS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02C3C"/>
                </a:solidFill>
                <a:latin typeface="Calibri"/>
              </a:defRPr>
            </a:pPr>
            <a:r>
              <a:t>El cambio se controla de principio a 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7281"/>
                </a:solidFill>
                <a:latin typeface="Calibri"/>
              </a:defRPr>
            </a:pPr>
            <a:r>
              <a:t>Condiciones previas, ejecución supervisada y resultados consultables.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084831"/>
            <a:ext cx="5769864" cy="8869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" y="2285999"/>
            <a:ext cx="384048" cy="384048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85999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B58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67711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2C3C"/>
                </a:solidFill>
                <a:latin typeface="Calibri"/>
              </a:defRPr>
            </a:pPr>
            <a: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615183"/>
            <a:ext cx="48188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A7281"/>
                </a:solidFill>
                <a:latin typeface="Calibri"/>
              </a:defRPr>
            </a:pPr>
            <a:r>
              <a:t>Prerrequisitos y simulación preventiva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145535"/>
            <a:ext cx="5769864" cy="8869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" y="3346703"/>
            <a:ext cx="384048" cy="384048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346703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B58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328415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2C3C"/>
                </a:solidFill>
                <a:latin typeface="Calibri"/>
              </a:defRPr>
            </a:pPr>
            <a:r>
              <a:t>Durante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3675887"/>
            <a:ext cx="48188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A7281"/>
                </a:solidFill>
                <a:latin typeface="Calibri"/>
              </a:defRPr>
            </a:pPr>
            <a:r>
              <a:t>Confirmación del cambio y avance controlado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06239"/>
            <a:ext cx="5769864" cy="8869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" y="4407407"/>
            <a:ext cx="384048" cy="384048"/>
          </a:xfrm>
          <a:prstGeom prst="roundRect">
            <a:avLst/>
          </a:prstGeom>
          <a:solidFill>
            <a:srgbClr val="D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40740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B58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389119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2C3C"/>
                </a:solidFill>
                <a:latin typeface="Calibri"/>
              </a:defRPr>
            </a:pPr>
            <a:r>
              <a:t>Después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4736591"/>
            <a:ext cx="48188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A7281"/>
                </a:solidFill>
                <a:latin typeface="Calibri"/>
              </a:defRPr>
            </a:pPr>
            <a:r>
              <a:t>Verificación del sistema y servicios definidos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21424" y="2084831"/>
            <a:ext cx="4617720" cy="367588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21424" y="2084831"/>
            <a:ext cx="4617720" cy="539496"/>
          </a:xfrm>
          <a:prstGeom prst="rect">
            <a:avLst/>
          </a:prstGeom>
          <a:solidFill>
            <a:srgbClr val="0D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221992"/>
            <a:ext cx="40782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REPORTE DE EJECUCIÓN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2880360"/>
            <a:ext cx="4032504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02C3C"/>
                </a:solidFill>
                <a:latin typeface="Calibri"/>
              </a:defRPr>
            </a:pPr>
            <a:r>
              <a:t>Evidencia generada automáticamente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419856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A7281"/>
                </a:solidFill>
                <a:latin typeface="Calibri"/>
              </a:defRPr>
            </a:pPr>
            <a:r>
              <a:t>POR SERVIDOR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77456" y="3767328"/>
            <a:ext cx="1463040" cy="521207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6" y="3767328"/>
            <a:ext cx="14630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B3B4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7656" y="3419856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A7281"/>
                </a:solidFill>
                <a:latin typeface="Calibri"/>
              </a:defRPr>
            </a:pPr>
            <a:r>
              <a:t>POR ETAPA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77656" y="3767328"/>
            <a:ext cx="1463040" cy="521207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77656" y="3767328"/>
            <a:ext cx="14630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B3B4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7856" y="3419856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A7281"/>
                </a:solidFill>
                <a:latin typeface="Calibri"/>
              </a:defRPr>
            </a:pPr>
            <a:r>
              <a:t>POR LOTE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77856" y="3767328"/>
            <a:ext cx="1463040" cy="521207"/>
          </a:xfrm>
          <a:prstGeom prst="roundRect">
            <a:avLst/>
          </a:prstGeom>
          <a:solidFill>
            <a:srgbClr val="E8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7856" y="3767328"/>
            <a:ext cx="14630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B3B4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7456" y="4553712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A7281"/>
                </a:solidFill>
                <a:latin typeface="Calibri"/>
              </a:defRPr>
            </a:pPr>
            <a:r>
              <a:t>Resultados diferenciados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77456" y="4846320"/>
            <a:ext cx="902970" cy="384048"/>
          </a:xfrm>
          <a:prstGeom prst="roundRect">
            <a:avLst/>
          </a:prstGeom>
          <a:solidFill>
            <a:srgbClr val="D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77456" y="4846320"/>
            <a:ext cx="90297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5B589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7586" y="4846320"/>
            <a:ext cx="902970" cy="384048"/>
          </a:xfrm>
          <a:prstGeom prst="roundRect">
            <a:avLst/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7586" y="4846320"/>
            <a:ext cx="90297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B8860B"/>
                </a:solidFill>
                <a:latin typeface="Calibri"/>
              </a:defRPr>
            </a:pPr>
            <a:r>
              <a:t>ADVERTENCIA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57716" y="4846320"/>
            <a:ext cx="902970" cy="38404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57716" y="4846320"/>
            <a:ext cx="90297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C62828"/>
                </a:solidFill>
                <a:latin typeface="Calibri"/>
              </a:defRPr>
            </a:pPr>
            <a:r>
              <a:t>FALLIDO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97846" y="4846320"/>
            <a:ext cx="902970" cy="384048"/>
          </a:xfrm>
          <a:prstGeom prst="roundRect">
            <a:avLst/>
          </a:prstGeom>
          <a:solidFill>
            <a:srgbClr val="E4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7846" y="4846320"/>
            <a:ext cx="90297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B7A82"/>
                </a:solidFill>
                <a:latin typeface="Calibri"/>
              </a:defRPr>
            </a:pPr>
            <a:r>
              <a:t>NO VERIFICADO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7456" y="5349240"/>
            <a:ext cx="4023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A7281"/>
                </a:solidFill>
                <a:latin typeface="Calibri"/>
              </a:defRPr>
            </a:pPr>
            <a:r>
              <a:t>Reportes HTML individuales y consolidados por lote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6035040"/>
            <a:ext cx="10607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7281"/>
                </a:solidFill>
                <a:latin typeface="Calibri"/>
              </a:defRPr>
            </a:pPr>
            <a:r>
              <a:t>* GeoPOS: validación funcional pendiente de parametrizar y probar.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6437376"/>
            <a:ext cx="10692079" cy="1"/>
          </a:xfrm>
          <a:prstGeom prst="rect">
            <a:avLst/>
          </a:prstGeom>
          <a:solidFill>
            <a:srgbClr val="9AB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646480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A7281"/>
                </a:solidFill>
                <a:latin typeface="Calibri"/>
              </a:defRPr>
            </a:pPr>
            <a:r>
              <a:t>G E O P O S   /   I N F R A E S T R U C T U R A   L I N U 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5566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A7281"/>
                </a:solidFill>
                <a:latin typeface="Calibri"/>
              </a:defRPr>
            </a:pPr>
            <a:r>
              <a:t>05  / 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B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B589"/>
                </a:solidFill>
                <a:latin typeface="Calibri"/>
              </a:defRPr>
            </a:pPr>
            <a:r>
              <a:t>06   /   AVANCES Y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22960"/>
            <a:ext cx="10881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02C3C"/>
                </a:solidFill>
                <a:latin typeface="Calibri"/>
              </a:defRPr>
            </a:pPr>
            <a:r>
              <a:t>Un resultado confirmado; próximos hitos definidos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A7281"/>
                </a:solidFill>
                <a:latin typeface="Calibri"/>
              </a:defRPr>
            </a:pPr>
            <a:r>
              <a:t>La salida a producción estará condicionada a las pruebas y verificaciones pendientes.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965960"/>
            <a:ext cx="10680192" cy="566928"/>
          </a:xfrm>
          <a:prstGeom prst="rect">
            <a:avLst/>
          </a:prstGeom>
          <a:solidFill>
            <a:srgbClr val="D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5B589"/>
                </a:solidFill>
                <a:latin typeface="Calibri"/>
              </a:defRPr>
            </a:pPr>
            <a:r>
              <a:t>✓  PRUEBA COMPLETADA  ·  SP5 → SP6 sobre plantilla SUSE Linux Enterprise 15 SP5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788920"/>
            <a:ext cx="3399434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2990088"/>
            <a:ext cx="384048" cy="384048"/>
          </a:xfrm>
          <a:prstGeom prst="roundRect">
            <a:avLst/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9900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B8860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971800"/>
            <a:ext cx="244845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C3C"/>
                </a:solidFill>
                <a:latin typeface="Calibri"/>
              </a:defRPr>
            </a:pPr>
            <a:r>
              <a:t>PLANTILLA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3319272"/>
            <a:ext cx="244845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A7281"/>
                </a:solidFill>
                <a:latin typeface="Calibri"/>
              </a:defRPr>
            </a:pPr>
            <a:r>
              <a:t>SP6→SP7 y modo FULL · 2 escenarios pendientes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6130" y="2788920"/>
            <a:ext cx="3399434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7298" y="2990088"/>
            <a:ext cx="384048" cy="384048"/>
          </a:xfrm>
          <a:prstGeom prst="roundRect">
            <a:avLst/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7298" y="29900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B8860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5938" y="2971800"/>
            <a:ext cx="244845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C3C"/>
                </a:solidFill>
                <a:latin typeface="Calibri"/>
              </a:defRPr>
            </a:pPr>
            <a:r>
              <a:t>AMBIENTE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5938" y="3319272"/>
            <a:ext cx="244845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A7281"/>
                </a:solidFill>
                <a:latin typeface="Calibri"/>
              </a:defRPr>
            </a:pPr>
            <a:r>
              <a:t>Tres rutas individuales + FULL · 4 escenarios pendientes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2452" y="2788920"/>
            <a:ext cx="3399434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3620" y="2990088"/>
            <a:ext cx="384048" cy="384048"/>
          </a:xfrm>
          <a:prstGeom prst="roundRect">
            <a:avLst/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3620" y="29900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B8860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2260" y="2971800"/>
            <a:ext cx="244845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C3C"/>
                </a:solidFill>
                <a:latin typeface="Calibri"/>
              </a:defRPr>
            </a:pPr>
            <a:r>
              <a:t>CIERRE GEOPOS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2260" y="3319272"/>
            <a:ext cx="244845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A7281"/>
                </a:solidFill>
                <a:latin typeface="Calibri"/>
              </a:defRPr>
            </a:pPr>
            <a:r>
              <a:t>Servicios, procesos y puertos · verificación pendiente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5303520"/>
            <a:ext cx="10661904" cy="640080"/>
          </a:xfrm>
          <a:prstGeom prst="rect">
            <a:avLst/>
          </a:prstGeom>
          <a:solidFill>
            <a:srgbClr val="0D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530352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Habilitación productiva: después de las pruebas, aprobación y ventana de mantenimiento.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6437376"/>
            <a:ext cx="10692079" cy="1"/>
          </a:xfrm>
          <a:prstGeom prst="rect">
            <a:avLst/>
          </a:prstGeom>
          <a:solidFill>
            <a:srgbClr val="9AB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646480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A7281"/>
                </a:solidFill>
                <a:latin typeface="Calibri"/>
              </a:defRPr>
            </a:pPr>
            <a:r>
              <a:t>G E O P O S   /   I N F R A E S T R U C T U R A   L I N U 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5566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A7281"/>
                </a:solidFill>
                <a:latin typeface="Calibri"/>
              </a:defRPr>
            </a:pPr>
            <a:r>
              <a:t>06  / 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