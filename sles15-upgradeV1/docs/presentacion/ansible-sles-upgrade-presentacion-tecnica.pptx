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Abrir con el propósito: convertir las migraciones de Service Pack de SLES 15 en un proceso estandarizado, gobernado desde AWX y ejecutado con Ansible para los servidores de GeoPOS. El objetivo es avanzar hacia SP7 conservando controles de disponibilidad, preparación y evidencia.</a:t>
            </a:r>
          </a:p>
          <a:p/>
          <a:p>
            <a:r>
              <a:t>Precisar desde el principio que no se realizan saltos entre Service Packs: las migraciones se ejecutan secuencialmente. En el proyecto actual, SP4→SP5 es un modo independiente; la ruta completa automatizada agrupa SP5→SP6→SP7 y comprueba la etapa intermedia antes de continuar. La presentación resume capacidades y resultados de laboratorio; no debe interpretarse como despliegue completado en producción.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existía un procedimiento manual de upgrade de Service Pack actualmente en ejecución que este proyecto busque reemplazar. Se decidió diseñar desde el principio una solución automatizada para estandarizar la forma de actualizar los servidores SLES 15 que soportan GeoPOS. La comparación con la ejecución manual es conceptual: automatizar ofrece ventajas potenciales frente a intervenciones repetidas manualmente; no afirmar resultados de productividad ya medidos.</a:t>
            </a:r>
          </a:p>
          <a:p/>
          <a:p>
            <a:r>
              <a:t>Explicar cuatro beneficios: (1) prerequisitos técnicos medidos antes de iniciar, entre ellos SP de origen, espacio, bloqueo del gestor de paquetes, conectividad y repositorios disponibles en Foreman/Katello; (2) validaciones preventivas, incluida una simulación automática de la operación de paquetes inmediatamente antes de aplicar cada migración real; (3) gobierno del cambio, ya que AWX exige datos CRQ/RFC, lote, ambiente y confirmación explícita, con procesamiento secuencial; (4) evidencias HTML por servidor y consolidado de lote, con estados inequívocos que facilitan auditoría y diagnóstico.</a:t>
            </a:r>
          </a:p>
          <a:p/>
          <a:p>
            <a:r>
              <a:t>La automatización no significa una migración sin interrupción: cada transición real requiere reinicio, revisión de salud y una ventana de mantenimiento autorizada.</a:t>
            </a:r>
          </a:p>
          <a:p/>
          <a:p>
            <a:r>
              <a:t>“Mayor estandarización y control del proceso” destaca que cada transición se ejecuta con un procedimiento uniforme, validaciones técnicas y evidencia por servidor y por lote.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Son cuatro modos implementados: individual SP4 a SP5, individual SP5 a SP6, individual SP6 a SP7 y FULL, que encadena SP5 a SP6 y luego SP6 a SP7. FULL no realiza un salto directo de SP5 a SP7: completa la transición intermedia y exige haber aplicado el cambio, reiniciado y validado SP6 antes de continuar a SP7.</a:t>
            </a:r>
          </a:p>
          <a:p/>
          <a:p>
            <a:r>
              <a:t>¿Por qué SP4 no se incluyó dentro del FULL? Fue una decisión de simplificación: incorporar una tercera etapa haría el flujo y sus controles más complejos, mientras que aproximadamente el 90 % de los servidores se encontraría en SP5, de acuerdo con la estimación operativa comunicada para este proyecto. Los SP4 restantes son casos minoritarios, incluyendo algunos servidores de Cuba. Este porcentaje debe comunicarse como estimación, no como una medición certificada en la presentación.</a:t>
            </a:r>
          </a:p>
          <a:p/>
          <a:p>
            <a:r>
              <a:t>Si se necesita actualizar un servidor desde SP4, se ejecuta el modo individual SP4 a SP5, se verifica que terminó correctamente y posteriormente se selecciona el flujo desde SP5 que corresponda. Las migraciones se planifican de forma secuencial, sin omitir Service Packs.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AWX es la plataforma de orquestación: presenta la encuesta (Survey), dispara los cinco componentes del workflow y brinda visibilidad del estado de ejecución. Ansible ejecuta la lógica del procedimiento sobre cada servidor SLES 15 que contiene GeoPOS. Los paquetes se obtienen de Foreman/Katello, no de repositorios públicos de SUSE. El registro SUSEConnect no gobierna el éxito de este proceso.</a:t>
            </a:r>
          </a:p>
          <a:p/>
          <a:p>
            <a:r>
              <a:t>La selección del alcance se hace a partir del inventario corporativo dinámico que se lee desde un Excel compartido en SharePoint. La selección no se realiza mediante un campo manual de host independiente: AWX recibe CRQ, Lote y Ambiente, que se contrastan con ese inventario. En la ejecución por defecto se procesa un servidor a la vez.</a:t>
            </a:r>
          </a:p>
          <a:p/>
          <a:p>
            <a:r>
              <a:t>En la fase de preparación se inventarían los repositorios existentes, se deshabilitan los activos y se agregan temporalmente los repositorios adecuados de Foreman. Al finalizar una etapa satisfactoria los repositorios temporales se retiran. Los preexistentes deshabilitados no se reactivan de manera automática.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Mostrar la pantalla real del Survey del workflow. Son cinco entradas obligatorias: modo de ejecución, confirmación para ejecutar un cambio real en producción, CRQ/RFC, Lote y Ambiente. El modo de ejecución puede elegir SP4→SP5, SP5→SP6, SP6→SP7 o full, donde full cubre SP5→SP6→SP7.</a:t>
            </a:r>
          </a:p>
          <a:p/>
          <a:p>
            <a:r>
              <a:t>Los tres campos CRQ/Lote/Ambiente se comparan con los datos del inventario dinámico. Una coincidencia puede seleccionar uno o varios servidores, pero si no hay ninguna coincidencia la automatización falla antes de intervenir un host. Si el Service Pack detectado no corresponde a la ruta indicada, el precheck detiene ese servidor.</a:t>
            </a:r>
          </a:p>
          <a:p/>
          <a:p>
            <a:r>
              <a:t>La confirmación obligatoria evita aplicar un cambio real por error. El workflow procesa por defecto un servidor a la vez. Si uno de los hosts falla, los restantes del lote se continúan procesando de manera independiente y cada uno genera su evidencia.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segunda captura procede de AWX y muestra la configuración real de los cinco nodos del proyecto.</a:t>
            </a:r>
          </a:p>
          <a:p/>
          <a:p>
            <a:r>
              <a:t>1. Precheck: verifica la versión actual, los bloqueos del sistema, espacio disponible, conectividad, servicios relevantes y condiciones previas. 2. Preparar: respalda el inventario de repositorios, deshabilita los repositorios anteriores que estén activos y habilita los repositorios internos necesarios, sin migrar todavía el Service Pack. 3. Aplicar: ejecuta una simulación obligatoria inmediatamente antes del cambio real, aplica la actualización, reinicia el servidor y valida tanto el sistema operativo como GeoPOS, según la configuración del host. 4. Reporting: consolida la evidencia del lote. 5. Sincronizar SharePoint: copia opcional de reportes.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ciclo se repite para cada transición de Service Pack. Primero se revisa que el estado inicial es compatible con la migración. En esta etapa de precheck se contemplan dos excepciones técnicas idempotentes: instalar la autoridad certificadora interna si hace falta y pausar temporalmente agentes de seguridad conocidos que puedan bloquear el gestor de paquetes. No prometer que precheck jamás modifica absolutamente nada.</a:t>
            </a:r>
          </a:p>
          <a:p/>
          <a:p>
            <a:r>
              <a:t>Preparar manipula exclusivamente la configuración de repositorios, sin efectuar todavía el upgrade del Service Pack.</a:t>
            </a:r>
          </a:p>
          <a:p/>
          <a:p>
            <a:r>
              <a:t>Aplicar realiza obligatoriamente la simulación zypper dup -D con los repositorios destino, para detectar conflictos justo antes de la actualización. Solo si la validación tiene éxito ejecuta el cambio real, realiza un reinicio obligatorio y comprueba el Service Pack y los servicios.</a:t>
            </a:r>
          </a:p>
          <a:p/>
          <a:p>
            <a:r>
              <a:t>El último ciclo, comprobar, realiza validación de servicios y generación de reportes; aquí se pueden incluir validaciones de servicios de GeoPOS.</a:t>
            </a:r>
          </a:p>
          <a:p/>
          <a:p>
            <a:r>
              <a:t>NUEVO -- trazabilidad del reinicio (sección 8.6 del README): en esta etapa también se registra boot_id antes/después (evidencia de que el reinicio fue real a nivel de kernel), hora de inicio/fin, duración reportada por Ansible y tiempo de reconexión, además de una espera acotada a que systemd salga de 'starting'. Es información para diagnóstico, nunca decide el resultado de la etapa.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principales mecanismos de control son: alcance determinado por tres datos del cambio (CRQ/RFC, Lote y Ambiente) contrastados contra el inventario; selección explícita del modo de ejecución; confirmación obligatoria para la ejecución real; posibilidad de integrar un nodo de aprobación humana previo a aplicar; procesamiento por defecto secuencial con una sola máquina a la vez; bloqueo del avance ante errores críticos y comprobaciones de salud antes y después.</a:t>
            </a:r>
          </a:p>
          <a:p/>
          <a:p>
            <a:r>
              <a:t>Se usan exclusivamente repositorios corporativos de Foreman/Katello. La automatización revisa la conectividad y evita mezclar repositorios preexistentes con los de la migración. Los repositorios temporales se retiran al concluir una etapa exitosa.</a:t>
            </a:r>
          </a:p>
          <a:p/>
          <a:p>
            <a:r>
              <a:t>Para preguntas de riesgo: no existe promesa de reversión automática universal. El rollback depende de la estrategia de snapshots y capacidades del almacenamiento del servidor, por ejemplo Btrfs, y debe analizarse por plataforma. La intervención implica reinicios, por lo que requiere una ventana de mantenimiento y coordinación con las áreas de GeoPOS y seguridad.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automatización puede verificar el funcionamiento de GeoPOS en diferentes dimensiones según el servidor: unidades de servicio, procesos Java, puertos y pruebas HTTP/HTTPS opcionales. Puede haber múltiples instancias de cada componente en un host; no es una lista uniforme para todo el parque. La revisión previa establece una línea base y la revisión posterior comprueba recuperación.</a:t>
            </a:r>
          </a:p>
          <a:p/>
          <a:p>
            <a:r>
              <a:t>La comprobación funcional es parametrizable e incluso deshabilitable globalmente o por dimensión. Si no se ejecuta, se informa como NO VERIFICADO, no como OK. Un host no debe considerarse exitoso únicamente por haber alcanzado el SP si un componente definido como crítico de GeoPOS queda insalubre.</a:t>
            </a:r>
          </a:p>
          <a:p/>
          <a:p>
            <a:r>
              <a:t>Advertir con precisión el estado actual: aún no están cargados para producción los nombres reales de servicios, procesos y puertos por servidor. Este es uno de los elementos pendientes de validación y parametrización con los responsables de GeoPOS antes de la salida a producción.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cada fase se registra evidencia del resultado por host. Los reportes HTML muestran el estado real de las verificaciones y la automatización produce un consolidado por Lote que permite comparar los servidores y las fases. Un error no debe aparecer transformado en un resultado global OK.</a:t>
            </a:r>
          </a:p>
          <a:p/>
          <a:p>
            <a:r>
              <a:t>Los estados son OK, ADVERTENCIA, FALLIDO y NO VERIFICADO; esa separación es importante para no confundir una prueba omitida con una prueba superada. La última etapa del workflow puede sincronizar los archivos al repositorio compartido de SharePoint.</a:t>
            </a:r>
          </a:p>
          <a:p/>
          <a:p>
            <a:r>
              <a:t>Esta diapositiva es un esquema del flujo de información, no una captura de resultados de producción. No se incluyen métricas de mejora de productividad porque el proyecto no las ha medido todavía. La utilidad gerencial de los reportes es el seguimiento de los cambios y el cierre soportado por evidencia.</a:t>
            </a:r>
          </a:p>
          <a:p/>
          <a:p>
            <a:r>
              <a:t>NUEVO -- trazabilidad del reinicio: el reporte HTML por servidor ahora incluye también boot_id antes/después, hora de inicio/fin del reinicio, duración reportada por Ansible, tiempo de reconexión y el estado final de systemd (running/degraded/timeout), además de si journald persistente quedó habilitado antes de la migración -- ver README sección 8.6.</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OBJETIVO DE LA DIAPOSITIVA: Diferenciar las pruebas sobre la plantilla SLES 15 de las próximas validaciones en servidores reales de QA.</a:t>
            </a:r>
          </a:p>
          <a:p/>
          <a:p>
            <a:r>
              <a:t>Estado real al momento de regenerar este deck: revisar manualmente cuál de las tres pruebas (SP5→SP6, SP6→SP7, FULL) ya se completó sobre la plantilla, y marcarla. Este script siempre genera las tres filas en PENDIENTE por defecto -- regenerar NO conserva marcas manuales previas, así que vuelva a aplicarlas después de correr el script.</a:t>
            </a:r>
          </a:p>
          <a:p/>
          <a:p>
            <a:r>
              <a:t>SP5→SP6 fue la primera transición completada sobre una plantilla de SUSE Linux Enterprise 15 Service Pack 5. Esta prueba de laboratorio NO equivale a una prueba en QA ni a un despliegue en producción.</a:t>
            </a:r>
          </a:p>
          <a:p/>
          <a:p>
            <a:r>
              <a:t>SP6→SP7: ejecutar individual aprovechando la misma plantilla ya migrada a Service Pack 6, conservando la continuidad lógica del primer ensayo.</a:t>
            </a:r>
          </a:p>
          <a:p/>
          <a:p>
            <a:r>
              <a:t>FULL: encadena SP5→SP6 y SP6→SP7 en el mismo flujo, con validación de SP6 antes de continuar. Para probar FULL se necesita comenzar nuevamente en SP5 (copia/restauración de la plantilla base); no sería correcto ejecutar FULL desde el estado SP7 de la prueba anterior.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OBJETIVO DE LA DIAPOSITIVA: Completar las pruebas posteriores a las de laboratorio en un ambiente QA real y, por último, incorporar la verificación funcional GeoPOS. Todas las pruebas de esta diapositiva están pendientes.</a:t>
            </a:r>
          </a:p>
          <a:p/>
          <a:p>
            <a:r>
              <a:t>QA — Cuatro escenarios independientes a validar: (1) SP4→SP5 desde un servidor QA en SP4; (2) SP5→SP6 desde SP5; (3) SP6→SP7 desde SP6; y (4) FULL SP5→SP6→SP7, encadenando las dos fases y validando SP6 antes de SP7. Los servidores o estados base elegidos deben coincidir con la versión de origen de cada modo. No se afirma que estos ensayos se hayan realizado.</a:t>
            </a:r>
          </a:p>
          <a:p/>
          <a:p>
            <a:r>
              <a:t>ÚLTIMO CHECK DE PRUEBAS: incorporar el inventario real de servicios GeoPOS y su parametrización por host, con procesos Java, puertos y opcionalmente comprobaciones de salud HTTP/HTTPS; ejecutar las comprobaciones antes y después de las migraciones según corresponda. Evitar marcar los servicios como OK si la verificación fue deshabilitada o no se ejecutó.</a:t>
            </a:r>
          </a:p>
          <a:p/>
          <a:p>
            <a:r>
              <a:t>DESPUÉS DE LAS PRUEBAS: Definir cambio autorizado, ventana de mantenimiento, coordinación con equipos de seguridad, plataforma y responsables de GeoPOS, y criterios de aceptación. Es una fase posterior y no aparece como prueba completada.</a:t>
            </a:r>
          </a:p>
          <a:p/>
          <a:p>
            <a:r>
              <a:t>Este script siempre genera las filas de checklist en PENDIENTE; marque a mano en PowerPoint las que realmente ya se completaron después de regenerar.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2434"/>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15B5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749808"/>
            <a:ext cx="3657600" cy="274320"/>
          </a:xfrm>
          <a:prstGeom prst="rect">
            <a:avLst/>
          </a:prstGeom>
          <a:noFill/>
        </p:spPr>
        <p:txBody>
          <a:bodyPr wrap="square" anchor="t">
            <a:spAutoFit/>
          </a:bodyPr>
          <a:lstStyle/>
          <a:p>
            <a:pPr algn="l">
              <a:defRPr sz="1400" b="1">
                <a:solidFill>
                  <a:srgbClr val="8BE7D0"/>
                </a:solidFill>
                <a:latin typeface="Calibri"/>
              </a:defRPr>
            </a:pPr>
            <a:r>
              <a:t>PRESENTACIÓN EJECUTIVA</a:t>
            </a:r>
          </a:p>
        </p:txBody>
      </p:sp>
      <p:sp>
        <p:nvSpPr>
          <p:cNvPr id="4" name="TextBox 3"/>
          <p:cNvSpPr txBox="1"/>
          <p:nvPr/>
        </p:nvSpPr>
        <p:spPr>
          <a:xfrm>
            <a:off x="749808" y="1435608"/>
            <a:ext cx="7315200" cy="1554480"/>
          </a:xfrm>
          <a:prstGeom prst="rect">
            <a:avLst/>
          </a:prstGeom>
          <a:noFill/>
        </p:spPr>
        <p:txBody>
          <a:bodyPr wrap="square" anchor="t">
            <a:spAutoFit/>
          </a:bodyPr>
          <a:lstStyle/>
          <a:p>
            <a:pPr algn="l">
              <a:lnSpc>
                <a:spcPct val="105000"/>
              </a:lnSpc>
              <a:defRPr sz="3400" b="1">
                <a:solidFill>
                  <a:srgbClr val="FFFFFF"/>
                </a:solidFill>
                <a:latin typeface="Calibri"/>
              </a:defRPr>
            </a:pPr>
            <a:r>
              <a:t>Upgrade de Service Pack</a:t>
            </a:r>
          </a:p>
          <a:p>
            <a:pPr algn="l">
              <a:lnSpc>
                <a:spcPct val="105000"/>
              </a:lnSpc>
              <a:defRPr sz="3400" b="1">
                <a:solidFill>
                  <a:srgbClr val="FFFFFF"/>
                </a:solidFill>
                <a:latin typeface="Calibri"/>
              </a:defRPr>
            </a:pPr>
            <a:r>
              <a:t>SUSE Linux Enterprise 15</a:t>
            </a:r>
          </a:p>
        </p:txBody>
      </p:sp>
      <p:sp>
        <p:nvSpPr>
          <p:cNvPr id="5" name="TextBox 4"/>
          <p:cNvSpPr txBox="1"/>
          <p:nvPr/>
        </p:nvSpPr>
        <p:spPr>
          <a:xfrm>
            <a:off x="749808" y="3200400"/>
            <a:ext cx="6858000" cy="411480"/>
          </a:xfrm>
          <a:prstGeom prst="rect">
            <a:avLst/>
          </a:prstGeom>
          <a:noFill/>
        </p:spPr>
        <p:txBody>
          <a:bodyPr wrap="square" anchor="t">
            <a:spAutoFit/>
          </a:bodyPr>
          <a:lstStyle/>
          <a:p>
            <a:pPr algn="l">
              <a:defRPr sz="1600" b="0">
                <a:solidFill>
                  <a:srgbClr val="B7CFD8"/>
                </a:solidFill>
                <a:latin typeface="Calibri"/>
              </a:defRPr>
            </a:pPr>
            <a:r>
              <a:t>Modernización controlada de la plataforma GeoPOS</a:t>
            </a:r>
          </a:p>
        </p:txBody>
      </p:sp>
      <p:sp>
        <p:nvSpPr>
          <p:cNvPr id="6" name="TextBox 5"/>
          <p:cNvSpPr txBox="1"/>
          <p:nvPr/>
        </p:nvSpPr>
        <p:spPr>
          <a:xfrm>
            <a:off x="749808" y="4663440"/>
            <a:ext cx="5029200" cy="320040"/>
          </a:xfrm>
          <a:prstGeom prst="rect">
            <a:avLst/>
          </a:prstGeom>
          <a:noFill/>
        </p:spPr>
        <p:txBody>
          <a:bodyPr wrap="square" anchor="t">
            <a:spAutoFit/>
          </a:bodyPr>
          <a:lstStyle/>
          <a:p>
            <a:pPr algn="l">
              <a:defRPr sz="1200" b="1">
                <a:solidFill>
                  <a:srgbClr val="8BE7D0"/>
                </a:solidFill>
                <a:latin typeface="Calibri"/>
              </a:defRPr>
            </a:pPr>
            <a:r>
              <a:t>Automatización con AWX + Ansible</a:t>
            </a:r>
          </a:p>
        </p:txBody>
      </p:sp>
      <p:sp>
        <p:nvSpPr>
          <p:cNvPr id="7" name="TextBox 6"/>
          <p:cNvSpPr txBox="1"/>
          <p:nvPr/>
        </p:nvSpPr>
        <p:spPr>
          <a:xfrm>
            <a:off x="749808" y="5029200"/>
            <a:ext cx="5943600" cy="365760"/>
          </a:xfrm>
          <a:prstGeom prst="rect">
            <a:avLst/>
          </a:prstGeom>
          <a:noFill/>
        </p:spPr>
        <p:txBody>
          <a:bodyPr wrap="square" anchor="t">
            <a:spAutoFit/>
          </a:bodyPr>
          <a:lstStyle/>
          <a:p>
            <a:pPr algn="l">
              <a:defRPr sz="1200" b="0">
                <a:solidFill>
                  <a:srgbClr val="B7CFD8"/>
                </a:solidFill>
                <a:latin typeface="Calibri"/>
              </a:defRPr>
            </a:pPr>
            <a:r>
              <a:t>Suministro de paquetes desde Foreman / Katello</a:t>
            </a:r>
          </a:p>
        </p:txBody>
      </p:sp>
      <p:sp>
        <p:nvSpPr>
          <p:cNvPr id="8" name="Rounded Rectangle 7"/>
          <p:cNvSpPr/>
          <p:nvPr/>
        </p:nvSpPr>
        <p:spPr>
          <a:xfrm>
            <a:off x="6748272" y="4325112"/>
            <a:ext cx="859536" cy="859536"/>
          </a:xfrm>
          <a:prstGeom prst="roundRect">
            <a:avLst/>
          </a:prstGeom>
          <a:solidFill>
            <a:srgbClr val="1B3B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748272" y="4325112"/>
            <a:ext cx="859536" cy="859536"/>
          </a:xfrm>
          <a:prstGeom prst="rect">
            <a:avLst/>
          </a:prstGeom>
          <a:noFill/>
        </p:spPr>
        <p:txBody>
          <a:bodyPr wrap="square" anchor="ctr">
            <a:spAutoFit/>
          </a:bodyPr>
          <a:lstStyle/>
          <a:p>
            <a:pPr algn="ctr">
              <a:defRPr sz="1900" b="1">
                <a:solidFill>
                  <a:srgbClr val="FFFFFF"/>
                </a:solidFill>
                <a:latin typeface="Calibri"/>
              </a:defRPr>
            </a:pPr>
            <a:r>
              <a:t>SP4</a:t>
            </a:r>
          </a:p>
        </p:txBody>
      </p:sp>
      <p:sp>
        <p:nvSpPr>
          <p:cNvPr id="10" name="Rounded Rectangle 9"/>
          <p:cNvSpPr/>
          <p:nvPr/>
        </p:nvSpPr>
        <p:spPr>
          <a:xfrm>
            <a:off x="7973568" y="3401568"/>
            <a:ext cx="859536" cy="859536"/>
          </a:xfrm>
          <a:prstGeom prst="roundRect">
            <a:avLst/>
          </a:prstGeom>
          <a:solidFill>
            <a:srgbClr val="1B3B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73568" y="3401568"/>
            <a:ext cx="859536" cy="859536"/>
          </a:xfrm>
          <a:prstGeom prst="rect">
            <a:avLst/>
          </a:prstGeom>
          <a:noFill/>
        </p:spPr>
        <p:txBody>
          <a:bodyPr wrap="square" anchor="ctr">
            <a:spAutoFit/>
          </a:bodyPr>
          <a:lstStyle/>
          <a:p>
            <a:pPr algn="ctr">
              <a:defRPr sz="1900" b="1">
                <a:solidFill>
                  <a:srgbClr val="FFFFFF"/>
                </a:solidFill>
                <a:latin typeface="Calibri"/>
              </a:defRPr>
            </a:pPr>
            <a:r>
              <a:t>SP5</a:t>
            </a:r>
          </a:p>
        </p:txBody>
      </p:sp>
      <p:sp>
        <p:nvSpPr>
          <p:cNvPr id="12" name="Rounded Rectangle 11"/>
          <p:cNvSpPr/>
          <p:nvPr/>
        </p:nvSpPr>
        <p:spPr>
          <a:xfrm>
            <a:off x="9171432" y="2468880"/>
            <a:ext cx="859536" cy="859536"/>
          </a:xfrm>
          <a:prstGeom prst="roundRect">
            <a:avLst/>
          </a:prstGeom>
          <a:solidFill>
            <a:srgbClr val="1B3B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71432" y="2468880"/>
            <a:ext cx="859536" cy="859536"/>
          </a:xfrm>
          <a:prstGeom prst="rect">
            <a:avLst/>
          </a:prstGeom>
          <a:noFill/>
        </p:spPr>
        <p:txBody>
          <a:bodyPr wrap="square" anchor="ctr">
            <a:spAutoFit/>
          </a:bodyPr>
          <a:lstStyle/>
          <a:p>
            <a:pPr algn="ctr">
              <a:defRPr sz="1900" b="1">
                <a:solidFill>
                  <a:srgbClr val="FFFFFF"/>
                </a:solidFill>
                <a:latin typeface="Calibri"/>
              </a:defRPr>
            </a:pPr>
            <a:r>
              <a:t>SP6</a:t>
            </a:r>
          </a:p>
        </p:txBody>
      </p:sp>
      <p:sp>
        <p:nvSpPr>
          <p:cNvPr id="14" name="Rounded Rectangle 13"/>
          <p:cNvSpPr/>
          <p:nvPr/>
        </p:nvSpPr>
        <p:spPr>
          <a:xfrm>
            <a:off x="10360152" y="1536192"/>
            <a:ext cx="859536" cy="859536"/>
          </a:xfrm>
          <a:prstGeom prst="roundRect">
            <a:avLst/>
          </a:prstGeom>
          <a:solidFill>
            <a:srgbClr val="15B5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60152" y="1536192"/>
            <a:ext cx="859536" cy="859536"/>
          </a:xfrm>
          <a:prstGeom prst="rect">
            <a:avLst/>
          </a:prstGeom>
          <a:noFill/>
        </p:spPr>
        <p:txBody>
          <a:bodyPr wrap="square" anchor="ctr">
            <a:spAutoFit/>
          </a:bodyPr>
          <a:lstStyle/>
          <a:p>
            <a:pPr algn="ctr">
              <a:defRPr sz="1900" b="1">
                <a:solidFill>
                  <a:srgbClr val="0D2434"/>
                </a:solidFill>
                <a:latin typeface="Calibri"/>
              </a:defRPr>
            </a:pPr>
            <a:r>
              <a:t>SP7</a:t>
            </a:r>
          </a:p>
        </p:txBody>
      </p:sp>
      <p:sp>
        <p:nvSpPr>
          <p:cNvPr id="16" name="TextBox 15"/>
          <p:cNvSpPr txBox="1"/>
          <p:nvPr/>
        </p:nvSpPr>
        <p:spPr>
          <a:xfrm>
            <a:off x="7589520" y="5577840"/>
            <a:ext cx="3749039" cy="237744"/>
          </a:xfrm>
          <a:prstGeom prst="rect">
            <a:avLst/>
          </a:prstGeom>
          <a:noFill/>
        </p:spPr>
        <p:txBody>
          <a:bodyPr wrap="square" anchor="t">
            <a:spAutoFit/>
          </a:bodyPr>
          <a:lstStyle/>
          <a:p>
            <a:pPr algn="l">
              <a:defRPr sz="1050" b="1">
                <a:solidFill>
                  <a:srgbClr val="8BE7D0"/>
                </a:solidFill>
                <a:latin typeface="Calibri"/>
              </a:defRPr>
            </a:pPr>
            <a:r>
              <a:t>EVOLUCIÓN POR ETAPAS</a:t>
            </a:r>
          </a:p>
        </p:txBody>
      </p:sp>
      <p:sp>
        <p:nvSpPr>
          <p:cNvPr id="17" name="TextBox 16"/>
          <p:cNvSpPr txBox="1"/>
          <p:nvPr/>
        </p:nvSpPr>
        <p:spPr>
          <a:xfrm>
            <a:off x="749808" y="6099048"/>
            <a:ext cx="2743200" cy="237744"/>
          </a:xfrm>
          <a:prstGeom prst="rect">
            <a:avLst/>
          </a:prstGeom>
          <a:noFill/>
        </p:spPr>
        <p:txBody>
          <a:bodyPr wrap="square" anchor="t">
            <a:spAutoFit/>
          </a:bodyPr>
          <a:lstStyle/>
          <a:p>
            <a:pPr algn="l">
              <a:defRPr sz="1000" b="0">
                <a:solidFill>
                  <a:srgbClr val="9AB8C3"/>
                </a:solidFill>
                <a:latin typeface="Calibri"/>
              </a:defRPr>
            </a:pPr>
            <a:r>
              <a:t>Octubre de 2026</a:t>
            </a:r>
          </a:p>
        </p:txBody>
      </p:sp>
      <p:sp>
        <p:nvSpPr>
          <p:cNvPr id="18" name="TextBox 17"/>
          <p:cNvSpPr txBox="1"/>
          <p:nvPr/>
        </p:nvSpPr>
        <p:spPr>
          <a:xfrm>
            <a:off x="749808" y="6464808"/>
            <a:ext cx="6400800" cy="164592"/>
          </a:xfrm>
          <a:prstGeom prst="rect">
            <a:avLst/>
          </a:prstGeom>
          <a:noFill/>
        </p:spPr>
        <p:txBody>
          <a:bodyPr wrap="square" anchor="t">
            <a:spAutoFit/>
          </a:bodyPr>
          <a:lstStyle/>
          <a:p>
            <a:pPr algn="l">
              <a:defRPr sz="800" b="1">
                <a:solidFill>
                  <a:srgbClr val="9AB8C3"/>
                </a:solidFill>
                <a:latin typeface="Calibri"/>
              </a:defRPr>
            </a:pPr>
            <a:r>
              <a:t>G E O P O S   /   I N F R A E S T R U C T U R A   L I N U X</a:t>
            </a:r>
          </a:p>
        </p:txBody>
      </p:sp>
      <p:sp>
        <p:nvSpPr>
          <p:cNvPr id="19" name="TextBox 18"/>
          <p:cNvSpPr txBox="1"/>
          <p:nvPr/>
        </p:nvSpPr>
        <p:spPr>
          <a:xfrm>
            <a:off x="10820095" y="6455664"/>
            <a:ext cx="822960" cy="182880"/>
          </a:xfrm>
          <a:prstGeom prst="rect">
            <a:avLst/>
          </a:prstGeom>
          <a:noFill/>
        </p:spPr>
        <p:txBody>
          <a:bodyPr wrap="square" anchor="t">
            <a:spAutoFit/>
          </a:bodyPr>
          <a:lstStyle/>
          <a:p>
            <a:pPr algn="r">
              <a:defRPr sz="900" b="1">
                <a:solidFill>
                  <a:srgbClr val="B7CFD8"/>
                </a:solidFill>
                <a:latin typeface="Calibri"/>
              </a:defRPr>
            </a:pPr>
            <a:r>
              <a:t>01  /  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15B5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402336"/>
            <a:ext cx="9144000" cy="274320"/>
          </a:xfrm>
          <a:prstGeom prst="rect">
            <a:avLst/>
          </a:prstGeom>
          <a:noFill/>
        </p:spPr>
        <p:txBody>
          <a:bodyPr wrap="square" anchor="t">
            <a:spAutoFit/>
          </a:bodyPr>
          <a:lstStyle/>
          <a:p>
            <a:pPr algn="l">
              <a:defRPr sz="1400" b="1">
                <a:solidFill>
                  <a:srgbClr val="15B589"/>
                </a:solidFill>
                <a:latin typeface="Calibri"/>
              </a:defRPr>
            </a:pPr>
            <a:r>
              <a:t>01 / VISIÓN EJECUTIVA</a:t>
            </a:r>
          </a:p>
        </p:txBody>
      </p:sp>
      <p:sp>
        <p:nvSpPr>
          <p:cNvPr id="4" name="TextBox 3"/>
          <p:cNvSpPr txBox="1"/>
          <p:nvPr/>
        </p:nvSpPr>
        <p:spPr>
          <a:xfrm>
            <a:off x="749808" y="822960"/>
            <a:ext cx="10881360" cy="603504"/>
          </a:xfrm>
          <a:prstGeom prst="rect">
            <a:avLst/>
          </a:prstGeom>
          <a:noFill/>
        </p:spPr>
        <p:txBody>
          <a:bodyPr wrap="square" anchor="t">
            <a:spAutoFit/>
          </a:bodyPr>
          <a:lstStyle/>
          <a:p>
            <a:pPr algn="l">
              <a:defRPr sz="3000" b="1">
                <a:solidFill>
                  <a:srgbClr val="102C3C"/>
                </a:solidFill>
                <a:latin typeface="Calibri"/>
              </a:defRPr>
            </a:pPr>
            <a:r>
              <a:t>Automatizar desde el diseño: control y trazabilidad</a:t>
            </a:r>
          </a:p>
        </p:txBody>
      </p:sp>
      <p:sp>
        <p:nvSpPr>
          <p:cNvPr id="5" name="TextBox 4"/>
          <p:cNvSpPr txBox="1"/>
          <p:nvPr/>
        </p:nvSpPr>
        <p:spPr>
          <a:xfrm>
            <a:off x="749808" y="1481328"/>
            <a:ext cx="10607040" cy="411480"/>
          </a:xfrm>
          <a:prstGeom prst="rect">
            <a:avLst/>
          </a:prstGeom>
          <a:noFill/>
        </p:spPr>
        <p:txBody>
          <a:bodyPr wrap="square" anchor="t">
            <a:spAutoFit/>
          </a:bodyPr>
          <a:lstStyle/>
          <a:p>
            <a:pPr algn="l">
              <a:defRPr sz="1500" b="0">
                <a:solidFill>
                  <a:srgbClr val="5A7281"/>
                </a:solidFill>
                <a:latin typeface="Calibri"/>
              </a:defRPr>
            </a:pPr>
            <a:r>
              <a:t>La solución se concibió automatizada desde el inicio; no reemplaza un procedimiento manual vigente.</a:t>
            </a:r>
          </a:p>
        </p:txBody>
      </p:sp>
      <p:sp>
        <p:nvSpPr>
          <p:cNvPr id="6" name="TextBox 5"/>
          <p:cNvSpPr txBox="1"/>
          <p:nvPr/>
        </p:nvSpPr>
        <p:spPr>
          <a:xfrm>
            <a:off x="749808" y="1965960"/>
            <a:ext cx="10058400" cy="237744"/>
          </a:xfrm>
          <a:prstGeom prst="rect">
            <a:avLst/>
          </a:prstGeom>
          <a:noFill/>
        </p:spPr>
        <p:txBody>
          <a:bodyPr wrap="square" anchor="t">
            <a:spAutoFit/>
          </a:bodyPr>
          <a:lstStyle/>
          <a:p>
            <a:pPr algn="l">
              <a:defRPr sz="1100" b="1">
                <a:solidFill>
                  <a:srgbClr val="5A7281"/>
                </a:solidFill>
                <a:latin typeface="Calibri"/>
              </a:defRPr>
            </a:pPr>
            <a:r>
              <a:t>DECISIÓN DE DISEÑO: ESTANDARIZAR LA MIGRACIÓN ANTES DE ESCALARLA</a:t>
            </a:r>
          </a:p>
        </p:txBody>
      </p:sp>
      <p:sp>
        <p:nvSpPr>
          <p:cNvPr id="7" name="Rounded Rectangle 6"/>
          <p:cNvSpPr/>
          <p:nvPr/>
        </p:nvSpPr>
        <p:spPr>
          <a:xfrm>
            <a:off x="749808" y="2331720"/>
            <a:ext cx="5222595" cy="128016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950976" y="2532888"/>
            <a:ext cx="384048" cy="384048"/>
          </a:xfrm>
          <a:prstGeom prst="roundRect">
            <a:avLst/>
          </a:prstGeom>
          <a:solidFill>
            <a:srgbClr val="E8E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2532888"/>
            <a:ext cx="384048" cy="384048"/>
          </a:xfrm>
          <a:prstGeom prst="rect">
            <a:avLst/>
          </a:prstGeom>
          <a:noFill/>
        </p:spPr>
        <p:txBody>
          <a:bodyPr wrap="square" anchor="ctr">
            <a:spAutoFit/>
          </a:bodyPr>
          <a:lstStyle/>
          <a:p>
            <a:pPr algn="ctr">
              <a:defRPr sz="1300" b="1">
                <a:solidFill>
                  <a:srgbClr val="15B589"/>
                </a:solidFill>
                <a:latin typeface="Calibri"/>
              </a:defRPr>
            </a:pPr>
            <a:r>
              <a:t>01</a:t>
            </a:r>
          </a:p>
        </p:txBody>
      </p:sp>
      <p:sp>
        <p:nvSpPr>
          <p:cNvPr id="10" name="TextBox 9"/>
          <p:cNvSpPr txBox="1"/>
          <p:nvPr/>
        </p:nvSpPr>
        <p:spPr>
          <a:xfrm>
            <a:off x="1499616" y="2514600"/>
            <a:ext cx="4271619" cy="347472"/>
          </a:xfrm>
          <a:prstGeom prst="rect">
            <a:avLst/>
          </a:prstGeom>
          <a:noFill/>
        </p:spPr>
        <p:txBody>
          <a:bodyPr wrap="square" anchor="t">
            <a:spAutoFit/>
          </a:bodyPr>
          <a:lstStyle/>
          <a:p>
            <a:pPr algn="l">
              <a:defRPr sz="1600" b="1">
                <a:solidFill>
                  <a:srgbClr val="102C3C"/>
                </a:solidFill>
                <a:latin typeface="Calibri"/>
              </a:defRPr>
            </a:pPr>
            <a:r>
              <a:t>Prerrequisitos verificados</a:t>
            </a:r>
          </a:p>
        </p:txBody>
      </p:sp>
      <p:sp>
        <p:nvSpPr>
          <p:cNvPr id="11" name="TextBox 10"/>
          <p:cNvSpPr txBox="1"/>
          <p:nvPr/>
        </p:nvSpPr>
        <p:spPr>
          <a:xfrm>
            <a:off x="1499616" y="2862072"/>
            <a:ext cx="4271619" cy="548640"/>
          </a:xfrm>
          <a:prstGeom prst="rect">
            <a:avLst/>
          </a:prstGeom>
          <a:noFill/>
        </p:spPr>
        <p:txBody>
          <a:bodyPr wrap="square" anchor="t">
            <a:spAutoFit/>
          </a:bodyPr>
          <a:lstStyle/>
          <a:p>
            <a:pPr algn="l">
              <a:defRPr sz="1200" b="0">
                <a:solidFill>
                  <a:srgbClr val="5A7281"/>
                </a:solidFill>
                <a:latin typeface="Calibri"/>
              </a:defRPr>
            </a:pPr>
            <a:r>
              <a:t>Versión, espacio, conectividad y acceso a repositorios</a:t>
            </a:r>
          </a:p>
        </p:txBody>
      </p:sp>
      <p:sp>
        <p:nvSpPr>
          <p:cNvPr id="12" name="Rounded Rectangle 11"/>
          <p:cNvSpPr/>
          <p:nvPr/>
        </p:nvSpPr>
        <p:spPr>
          <a:xfrm>
            <a:off x="6219291" y="2331720"/>
            <a:ext cx="5222595" cy="128016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420459" y="2532888"/>
            <a:ext cx="384048" cy="384048"/>
          </a:xfrm>
          <a:prstGeom prst="roundRect">
            <a:avLst/>
          </a:prstGeom>
          <a:solidFill>
            <a:srgbClr val="E8E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0459" y="2532888"/>
            <a:ext cx="384048" cy="384048"/>
          </a:xfrm>
          <a:prstGeom prst="rect">
            <a:avLst/>
          </a:prstGeom>
          <a:noFill/>
        </p:spPr>
        <p:txBody>
          <a:bodyPr wrap="square" anchor="ctr">
            <a:spAutoFit/>
          </a:bodyPr>
          <a:lstStyle/>
          <a:p>
            <a:pPr algn="ctr">
              <a:defRPr sz="1300" b="1">
                <a:solidFill>
                  <a:srgbClr val="15B589"/>
                </a:solidFill>
                <a:latin typeface="Calibri"/>
              </a:defRPr>
            </a:pPr>
            <a:r>
              <a:t>02</a:t>
            </a:r>
          </a:p>
        </p:txBody>
      </p:sp>
      <p:sp>
        <p:nvSpPr>
          <p:cNvPr id="15" name="TextBox 14"/>
          <p:cNvSpPr txBox="1"/>
          <p:nvPr/>
        </p:nvSpPr>
        <p:spPr>
          <a:xfrm>
            <a:off x="6969099" y="2514600"/>
            <a:ext cx="4271619" cy="347472"/>
          </a:xfrm>
          <a:prstGeom prst="rect">
            <a:avLst/>
          </a:prstGeom>
          <a:noFill/>
        </p:spPr>
        <p:txBody>
          <a:bodyPr wrap="square" anchor="t">
            <a:spAutoFit/>
          </a:bodyPr>
          <a:lstStyle/>
          <a:p>
            <a:pPr algn="l">
              <a:defRPr sz="1600" b="1">
                <a:solidFill>
                  <a:srgbClr val="102C3C"/>
                </a:solidFill>
                <a:latin typeface="Calibri"/>
              </a:defRPr>
            </a:pPr>
            <a:r>
              <a:t>Validaciones preventivas</a:t>
            </a:r>
          </a:p>
        </p:txBody>
      </p:sp>
      <p:sp>
        <p:nvSpPr>
          <p:cNvPr id="16" name="TextBox 15"/>
          <p:cNvSpPr txBox="1"/>
          <p:nvPr/>
        </p:nvSpPr>
        <p:spPr>
          <a:xfrm>
            <a:off x="6969099" y="2862072"/>
            <a:ext cx="4271619" cy="548640"/>
          </a:xfrm>
          <a:prstGeom prst="rect">
            <a:avLst/>
          </a:prstGeom>
          <a:noFill/>
        </p:spPr>
        <p:txBody>
          <a:bodyPr wrap="square" anchor="t">
            <a:spAutoFit/>
          </a:bodyPr>
          <a:lstStyle/>
          <a:p>
            <a:pPr algn="l">
              <a:defRPr sz="1200" b="0">
                <a:solidFill>
                  <a:srgbClr val="5A7281"/>
                </a:solidFill>
                <a:latin typeface="Calibri"/>
              </a:defRPr>
            </a:pPr>
            <a:r>
              <a:t>Comprobaciones iniciales y simulación previa al cambio</a:t>
            </a:r>
          </a:p>
        </p:txBody>
      </p:sp>
      <p:sp>
        <p:nvSpPr>
          <p:cNvPr id="17" name="Rounded Rectangle 16"/>
          <p:cNvSpPr/>
          <p:nvPr/>
        </p:nvSpPr>
        <p:spPr>
          <a:xfrm>
            <a:off x="749808" y="3840480"/>
            <a:ext cx="5222595" cy="128016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50976" y="4041648"/>
            <a:ext cx="384048" cy="384048"/>
          </a:xfrm>
          <a:prstGeom prst="roundRect">
            <a:avLst/>
          </a:prstGeom>
          <a:solidFill>
            <a:srgbClr val="DAF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50976" y="4041648"/>
            <a:ext cx="384048" cy="384048"/>
          </a:xfrm>
          <a:prstGeom prst="rect">
            <a:avLst/>
          </a:prstGeom>
          <a:noFill/>
        </p:spPr>
        <p:txBody>
          <a:bodyPr wrap="square" anchor="ctr">
            <a:spAutoFit/>
          </a:bodyPr>
          <a:lstStyle/>
          <a:p>
            <a:pPr algn="ctr">
              <a:defRPr sz="1300" b="1">
                <a:solidFill>
                  <a:srgbClr val="15B589"/>
                </a:solidFill>
                <a:latin typeface="Calibri"/>
              </a:defRPr>
            </a:pPr>
            <a:r>
              <a:t>03</a:t>
            </a:r>
          </a:p>
        </p:txBody>
      </p:sp>
      <p:sp>
        <p:nvSpPr>
          <p:cNvPr id="20" name="TextBox 19"/>
          <p:cNvSpPr txBox="1"/>
          <p:nvPr/>
        </p:nvSpPr>
        <p:spPr>
          <a:xfrm>
            <a:off x="1499616" y="4023360"/>
            <a:ext cx="4271619" cy="347472"/>
          </a:xfrm>
          <a:prstGeom prst="rect">
            <a:avLst/>
          </a:prstGeom>
          <a:noFill/>
        </p:spPr>
        <p:txBody>
          <a:bodyPr wrap="square" anchor="t">
            <a:spAutoFit/>
          </a:bodyPr>
          <a:lstStyle/>
          <a:p>
            <a:pPr algn="l">
              <a:defRPr sz="1600" b="1">
                <a:solidFill>
                  <a:srgbClr val="102C3C"/>
                </a:solidFill>
                <a:latin typeface="Calibri"/>
              </a:defRPr>
            </a:pPr>
            <a:r>
              <a:t>Ejecución gobernada</a:t>
            </a:r>
          </a:p>
        </p:txBody>
      </p:sp>
      <p:sp>
        <p:nvSpPr>
          <p:cNvPr id="21" name="TextBox 20"/>
          <p:cNvSpPr txBox="1"/>
          <p:nvPr/>
        </p:nvSpPr>
        <p:spPr>
          <a:xfrm>
            <a:off x="1499616" y="4370832"/>
            <a:ext cx="4271619" cy="548640"/>
          </a:xfrm>
          <a:prstGeom prst="rect">
            <a:avLst/>
          </a:prstGeom>
          <a:noFill/>
        </p:spPr>
        <p:txBody>
          <a:bodyPr wrap="square" anchor="t">
            <a:spAutoFit/>
          </a:bodyPr>
          <a:lstStyle/>
          <a:p>
            <a:pPr algn="l">
              <a:defRPr sz="1200" b="0">
                <a:solidFill>
                  <a:srgbClr val="5A7281"/>
                </a:solidFill>
                <a:latin typeface="Calibri"/>
              </a:defRPr>
            </a:pPr>
            <a:r>
              <a:t>CRQ, lote, ambiente, confirmación y avance secuencial</a:t>
            </a:r>
          </a:p>
        </p:txBody>
      </p:sp>
      <p:sp>
        <p:nvSpPr>
          <p:cNvPr id="22" name="Rounded Rectangle 21"/>
          <p:cNvSpPr/>
          <p:nvPr/>
        </p:nvSpPr>
        <p:spPr>
          <a:xfrm>
            <a:off x="6219291" y="3840480"/>
            <a:ext cx="5222595" cy="128016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420459" y="4041648"/>
            <a:ext cx="384048" cy="384048"/>
          </a:xfrm>
          <a:prstGeom prst="roundRect">
            <a:avLst/>
          </a:prstGeom>
          <a:solidFill>
            <a:srgbClr val="DAF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20459" y="4041648"/>
            <a:ext cx="384048" cy="384048"/>
          </a:xfrm>
          <a:prstGeom prst="rect">
            <a:avLst/>
          </a:prstGeom>
          <a:noFill/>
        </p:spPr>
        <p:txBody>
          <a:bodyPr wrap="square" anchor="ctr">
            <a:spAutoFit/>
          </a:bodyPr>
          <a:lstStyle/>
          <a:p>
            <a:pPr algn="ctr">
              <a:defRPr sz="1300" b="1">
                <a:solidFill>
                  <a:srgbClr val="15B589"/>
                </a:solidFill>
                <a:latin typeface="Calibri"/>
              </a:defRPr>
            </a:pPr>
            <a:r>
              <a:t>04</a:t>
            </a:r>
          </a:p>
        </p:txBody>
      </p:sp>
      <p:sp>
        <p:nvSpPr>
          <p:cNvPr id="25" name="TextBox 24"/>
          <p:cNvSpPr txBox="1"/>
          <p:nvPr/>
        </p:nvSpPr>
        <p:spPr>
          <a:xfrm>
            <a:off x="6969099" y="4023360"/>
            <a:ext cx="4271619" cy="347472"/>
          </a:xfrm>
          <a:prstGeom prst="rect">
            <a:avLst/>
          </a:prstGeom>
          <a:noFill/>
        </p:spPr>
        <p:txBody>
          <a:bodyPr wrap="square" anchor="t">
            <a:spAutoFit/>
          </a:bodyPr>
          <a:lstStyle/>
          <a:p>
            <a:pPr algn="l">
              <a:defRPr sz="1600" b="1">
                <a:solidFill>
                  <a:srgbClr val="102C3C"/>
                </a:solidFill>
                <a:latin typeface="Calibri"/>
              </a:defRPr>
            </a:pPr>
            <a:r>
              <a:t>Evidencia y seguimiento</a:t>
            </a:r>
          </a:p>
        </p:txBody>
      </p:sp>
      <p:sp>
        <p:nvSpPr>
          <p:cNvPr id="26" name="TextBox 25"/>
          <p:cNvSpPr txBox="1"/>
          <p:nvPr/>
        </p:nvSpPr>
        <p:spPr>
          <a:xfrm>
            <a:off x="6969099" y="4370832"/>
            <a:ext cx="4271619" cy="548640"/>
          </a:xfrm>
          <a:prstGeom prst="rect">
            <a:avLst/>
          </a:prstGeom>
          <a:noFill/>
        </p:spPr>
        <p:txBody>
          <a:bodyPr wrap="square" anchor="t">
            <a:spAutoFit/>
          </a:bodyPr>
          <a:lstStyle/>
          <a:p>
            <a:pPr algn="l">
              <a:defRPr sz="1200" b="0">
                <a:solidFill>
                  <a:srgbClr val="5A7281"/>
                </a:solidFill>
                <a:latin typeface="Calibri"/>
              </a:defRPr>
            </a:pPr>
            <a:r>
              <a:t>Resultados por servidor, etapa y lote para auditoría</a:t>
            </a:r>
          </a:p>
        </p:txBody>
      </p:sp>
      <p:sp>
        <p:nvSpPr>
          <p:cNvPr id="27" name="Rectangle 26"/>
          <p:cNvSpPr/>
          <p:nvPr/>
        </p:nvSpPr>
        <p:spPr>
          <a:xfrm>
            <a:off x="749808" y="5486400"/>
            <a:ext cx="10661904" cy="566928"/>
          </a:xfrm>
          <a:prstGeom prst="rect">
            <a:avLst/>
          </a:prstGeom>
          <a:solidFill>
            <a:srgbClr val="0D24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60120" y="5486400"/>
            <a:ext cx="10241280" cy="566928"/>
          </a:xfrm>
          <a:prstGeom prst="rect">
            <a:avLst/>
          </a:prstGeom>
          <a:noFill/>
        </p:spPr>
        <p:txBody>
          <a:bodyPr wrap="square" anchor="ctr">
            <a:spAutoFit/>
          </a:bodyPr>
          <a:lstStyle/>
          <a:p>
            <a:pPr algn="l">
              <a:defRPr sz="1350" b="1">
                <a:solidFill>
                  <a:srgbClr val="FFFFFF"/>
                </a:solidFill>
                <a:latin typeface="Calibri"/>
              </a:defRPr>
            </a:pPr>
            <a:r>
              <a:t>Mayor estandarización y control del proceso  ·  Validaciones previas  ·  Evidencia disponible</a:t>
            </a:r>
          </a:p>
        </p:txBody>
      </p:sp>
      <p:sp>
        <p:nvSpPr>
          <p:cNvPr id="29" name="Rectangle 28"/>
          <p:cNvSpPr/>
          <p:nvPr/>
        </p:nvSpPr>
        <p:spPr>
          <a:xfrm>
            <a:off x="749808" y="6437376"/>
            <a:ext cx="10692079" cy="1"/>
          </a:xfrm>
          <a:prstGeom prst="rect">
            <a:avLst/>
          </a:prstGeom>
          <a:solidFill>
            <a:srgbClr val="9AB8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9808" y="6464808"/>
            <a:ext cx="6400800" cy="182880"/>
          </a:xfrm>
          <a:prstGeom prst="rect">
            <a:avLst/>
          </a:prstGeom>
          <a:noFill/>
        </p:spPr>
        <p:txBody>
          <a:bodyPr wrap="square" anchor="t">
            <a:spAutoFit/>
          </a:bodyPr>
          <a:lstStyle/>
          <a:p>
            <a:pPr algn="l">
              <a:defRPr sz="800" b="1">
                <a:solidFill>
                  <a:srgbClr val="5A7281"/>
                </a:solidFill>
                <a:latin typeface="Calibri"/>
              </a:defRPr>
            </a:pPr>
            <a:r>
              <a:t>G E O P O S   /   I N F R A E S T R U C T U R A   L I N U X</a:t>
            </a:r>
          </a:p>
        </p:txBody>
      </p:sp>
      <p:sp>
        <p:nvSpPr>
          <p:cNvPr id="31" name="TextBox 30"/>
          <p:cNvSpPr txBox="1"/>
          <p:nvPr/>
        </p:nvSpPr>
        <p:spPr>
          <a:xfrm>
            <a:off x="10820095" y="6455664"/>
            <a:ext cx="822960" cy="182880"/>
          </a:xfrm>
          <a:prstGeom prst="rect">
            <a:avLst/>
          </a:prstGeom>
          <a:noFill/>
        </p:spPr>
        <p:txBody>
          <a:bodyPr wrap="square" anchor="t">
            <a:spAutoFit/>
          </a:bodyPr>
          <a:lstStyle/>
          <a:p>
            <a:pPr algn="r">
              <a:defRPr sz="900" b="1">
                <a:solidFill>
                  <a:srgbClr val="5A7281"/>
                </a:solidFill>
                <a:latin typeface="Calibri"/>
              </a:defRPr>
            </a:pPr>
            <a:r>
              <a:t>02  /  12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15B5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402336"/>
            <a:ext cx="9144000" cy="274320"/>
          </a:xfrm>
          <a:prstGeom prst="rect">
            <a:avLst/>
          </a:prstGeom>
          <a:noFill/>
        </p:spPr>
        <p:txBody>
          <a:bodyPr wrap="square" anchor="t">
            <a:spAutoFit/>
          </a:bodyPr>
          <a:lstStyle/>
          <a:p>
            <a:pPr algn="l">
              <a:defRPr sz="1400" b="1">
                <a:solidFill>
                  <a:srgbClr val="15B589"/>
                </a:solidFill>
                <a:latin typeface="Calibri"/>
              </a:defRPr>
            </a:pPr>
            <a:r>
              <a:t>02 / ESTRATEGIA DE UPGRADE</a:t>
            </a:r>
          </a:p>
        </p:txBody>
      </p:sp>
      <p:sp>
        <p:nvSpPr>
          <p:cNvPr id="4" name="TextBox 3"/>
          <p:cNvSpPr txBox="1"/>
          <p:nvPr/>
        </p:nvSpPr>
        <p:spPr>
          <a:xfrm>
            <a:off x="749808" y="822960"/>
            <a:ext cx="10881360" cy="603504"/>
          </a:xfrm>
          <a:prstGeom prst="rect">
            <a:avLst/>
          </a:prstGeom>
          <a:noFill/>
        </p:spPr>
        <p:txBody>
          <a:bodyPr wrap="square" anchor="t">
            <a:spAutoFit/>
          </a:bodyPr>
          <a:lstStyle/>
          <a:p>
            <a:pPr algn="l">
              <a:defRPr sz="3000" b="1">
                <a:solidFill>
                  <a:srgbClr val="102C3C"/>
                </a:solidFill>
                <a:latin typeface="Calibri"/>
              </a:defRPr>
            </a:pPr>
            <a:r>
              <a:t>Cuatro modos de upgrade, sin omitir Service Packs</a:t>
            </a:r>
          </a:p>
        </p:txBody>
      </p:sp>
      <p:sp>
        <p:nvSpPr>
          <p:cNvPr id="5" name="TextBox 4"/>
          <p:cNvSpPr txBox="1"/>
          <p:nvPr/>
        </p:nvSpPr>
        <p:spPr>
          <a:xfrm>
            <a:off x="749808" y="1481328"/>
            <a:ext cx="10607040" cy="411480"/>
          </a:xfrm>
          <a:prstGeom prst="rect">
            <a:avLst/>
          </a:prstGeom>
          <a:noFill/>
        </p:spPr>
        <p:txBody>
          <a:bodyPr wrap="square" anchor="t">
            <a:spAutoFit/>
          </a:bodyPr>
          <a:lstStyle/>
          <a:p>
            <a:pPr algn="l">
              <a:defRPr sz="1500" b="0">
                <a:solidFill>
                  <a:srgbClr val="5A7281"/>
                </a:solidFill>
                <a:latin typeface="Calibri"/>
              </a:defRPr>
            </a:pPr>
            <a:r>
              <a:t>Tres rutas individuales y una ejecución FULL que une dos transiciones consecutivas.</a:t>
            </a:r>
          </a:p>
        </p:txBody>
      </p:sp>
      <p:sp>
        <p:nvSpPr>
          <p:cNvPr id="6" name="TextBox 5"/>
          <p:cNvSpPr txBox="1"/>
          <p:nvPr/>
        </p:nvSpPr>
        <p:spPr>
          <a:xfrm>
            <a:off x="749808" y="1965960"/>
            <a:ext cx="4572000" cy="237744"/>
          </a:xfrm>
          <a:prstGeom prst="rect">
            <a:avLst/>
          </a:prstGeom>
          <a:noFill/>
        </p:spPr>
        <p:txBody>
          <a:bodyPr wrap="square" anchor="t">
            <a:spAutoFit/>
          </a:bodyPr>
          <a:lstStyle/>
          <a:p>
            <a:pPr algn="l">
              <a:defRPr sz="1100" b="1">
                <a:solidFill>
                  <a:srgbClr val="5A7281"/>
                </a:solidFill>
                <a:latin typeface="Calibri"/>
              </a:defRPr>
            </a:pPr>
            <a:r>
              <a:t>MODOS INDIVIDUALES</a:t>
            </a:r>
          </a:p>
        </p:txBody>
      </p:sp>
      <p:sp>
        <p:nvSpPr>
          <p:cNvPr id="7" name="Rounded Rectangle 6"/>
          <p:cNvSpPr/>
          <p:nvPr/>
        </p:nvSpPr>
        <p:spPr>
          <a:xfrm>
            <a:off x="749808" y="2286000"/>
            <a:ext cx="3399434" cy="100584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950976" y="2487168"/>
            <a:ext cx="384048" cy="384048"/>
          </a:xfrm>
          <a:prstGeom prst="roundRect">
            <a:avLst/>
          </a:prstGeom>
          <a:solidFill>
            <a:srgbClr val="E8E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2487168"/>
            <a:ext cx="384048" cy="384048"/>
          </a:xfrm>
          <a:prstGeom prst="rect">
            <a:avLst/>
          </a:prstGeom>
          <a:noFill/>
        </p:spPr>
        <p:txBody>
          <a:bodyPr wrap="square" anchor="ctr">
            <a:spAutoFit/>
          </a:bodyPr>
          <a:lstStyle/>
          <a:p>
            <a:pPr algn="ctr">
              <a:defRPr sz="1300" b="1">
                <a:solidFill>
                  <a:srgbClr val="15B589"/>
                </a:solidFill>
                <a:latin typeface="Calibri"/>
              </a:defRPr>
            </a:pPr>
            <a:r>
              <a:t>1</a:t>
            </a:r>
          </a:p>
        </p:txBody>
      </p:sp>
      <p:sp>
        <p:nvSpPr>
          <p:cNvPr id="10" name="TextBox 9"/>
          <p:cNvSpPr txBox="1"/>
          <p:nvPr/>
        </p:nvSpPr>
        <p:spPr>
          <a:xfrm>
            <a:off x="1499616" y="2468880"/>
            <a:ext cx="2448458" cy="347472"/>
          </a:xfrm>
          <a:prstGeom prst="rect">
            <a:avLst/>
          </a:prstGeom>
          <a:noFill/>
        </p:spPr>
        <p:txBody>
          <a:bodyPr wrap="square" anchor="t">
            <a:spAutoFit/>
          </a:bodyPr>
          <a:lstStyle/>
          <a:p>
            <a:pPr algn="l">
              <a:defRPr sz="1800" b="1">
                <a:solidFill>
                  <a:srgbClr val="102C3C"/>
                </a:solidFill>
                <a:latin typeface="Calibri"/>
              </a:defRPr>
            </a:pPr>
            <a:r>
              <a:t>SP4  →  SP5</a:t>
            </a:r>
          </a:p>
        </p:txBody>
      </p:sp>
      <p:sp>
        <p:nvSpPr>
          <p:cNvPr id="11" name="TextBox 10"/>
          <p:cNvSpPr txBox="1"/>
          <p:nvPr/>
        </p:nvSpPr>
        <p:spPr>
          <a:xfrm>
            <a:off x="1499616" y="2816352"/>
            <a:ext cx="2448458" cy="274320"/>
          </a:xfrm>
          <a:prstGeom prst="rect">
            <a:avLst/>
          </a:prstGeom>
          <a:noFill/>
        </p:spPr>
        <p:txBody>
          <a:bodyPr wrap="square" anchor="t">
            <a:spAutoFit/>
          </a:bodyPr>
          <a:lstStyle/>
          <a:p>
            <a:pPr algn="l">
              <a:defRPr sz="1200" b="0">
                <a:solidFill>
                  <a:srgbClr val="5A7281"/>
                </a:solidFill>
                <a:latin typeface="Calibri"/>
              </a:defRPr>
            </a:pPr>
            <a:r>
              <a:t>Primer salto</a:t>
            </a:r>
          </a:p>
        </p:txBody>
      </p:sp>
      <p:sp>
        <p:nvSpPr>
          <p:cNvPr id="12" name="Rounded Rectangle 11"/>
          <p:cNvSpPr/>
          <p:nvPr/>
        </p:nvSpPr>
        <p:spPr>
          <a:xfrm>
            <a:off x="4396130" y="2286000"/>
            <a:ext cx="3399434" cy="100584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597298" y="2487168"/>
            <a:ext cx="384048" cy="384048"/>
          </a:xfrm>
          <a:prstGeom prst="roundRect">
            <a:avLst/>
          </a:prstGeom>
          <a:solidFill>
            <a:srgbClr val="E8E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97298" y="2487168"/>
            <a:ext cx="384048" cy="384048"/>
          </a:xfrm>
          <a:prstGeom prst="rect">
            <a:avLst/>
          </a:prstGeom>
          <a:noFill/>
        </p:spPr>
        <p:txBody>
          <a:bodyPr wrap="square" anchor="ctr">
            <a:spAutoFit/>
          </a:bodyPr>
          <a:lstStyle/>
          <a:p>
            <a:pPr algn="ctr">
              <a:defRPr sz="1300" b="1">
                <a:solidFill>
                  <a:srgbClr val="15B589"/>
                </a:solidFill>
                <a:latin typeface="Calibri"/>
              </a:defRPr>
            </a:pPr>
            <a:r>
              <a:t>2</a:t>
            </a:r>
          </a:p>
        </p:txBody>
      </p:sp>
      <p:sp>
        <p:nvSpPr>
          <p:cNvPr id="15" name="TextBox 14"/>
          <p:cNvSpPr txBox="1"/>
          <p:nvPr/>
        </p:nvSpPr>
        <p:spPr>
          <a:xfrm>
            <a:off x="5145938" y="2468880"/>
            <a:ext cx="2448458" cy="347472"/>
          </a:xfrm>
          <a:prstGeom prst="rect">
            <a:avLst/>
          </a:prstGeom>
          <a:noFill/>
        </p:spPr>
        <p:txBody>
          <a:bodyPr wrap="square" anchor="t">
            <a:spAutoFit/>
          </a:bodyPr>
          <a:lstStyle/>
          <a:p>
            <a:pPr algn="l">
              <a:defRPr sz="1800" b="1">
                <a:solidFill>
                  <a:srgbClr val="102C3C"/>
                </a:solidFill>
                <a:latin typeface="Calibri"/>
              </a:defRPr>
            </a:pPr>
            <a:r>
              <a:t>SP5  →  SP6</a:t>
            </a:r>
          </a:p>
        </p:txBody>
      </p:sp>
      <p:sp>
        <p:nvSpPr>
          <p:cNvPr id="16" name="TextBox 15"/>
          <p:cNvSpPr txBox="1"/>
          <p:nvPr/>
        </p:nvSpPr>
        <p:spPr>
          <a:xfrm>
            <a:off x="5145938" y="2816352"/>
            <a:ext cx="2448458" cy="274320"/>
          </a:xfrm>
          <a:prstGeom prst="rect">
            <a:avLst/>
          </a:prstGeom>
          <a:noFill/>
        </p:spPr>
        <p:txBody>
          <a:bodyPr wrap="square" anchor="t">
            <a:spAutoFit/>
          </a:bodyPr>
          <a:lstStyle/>
          <a:p>
            <a:pPr algn="l">
              <a:defRPr sz="1200" b="0">
                <a:solidFill>
                  <a:srgbClr val="5A7281"/>
                </a:solidFill>
                <a:latin typeface="Calibri"/>
              </a:defRPr>
            </a:pPr>
            <a:r>
              <a:t>Segundo salto</a:t>
            </a:r>
          </a:p>
        </p:txBody>
      </p:sp>
      <p:sp>
        <p:nvSpPr>
          <p:cNvPr id="17" name="Rounded Rectangle 16"/>
          <p:cNvSpPr/>
          <p:nvPr/>
        </p:nvSpPr>
        <p:spPr>
          <a:xfrm>
            <a:off x="8042452" y="2286000"/>
            <a:ext cx="3399434" cy="100584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43620" y="2487168"/>
            <a:ext cx="384048" cy="384048"/>
          </a:xfrm>
          <a:prstGeom prst="roundRect">
            <a:avLst/>
          </a:prstGeom>
          <a:solidFill>
            <a:srgbClr val="E8E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43620" y="2487168"/>
            <a:ext cx="384048" cy="384048"/>
          </a:xfrm>
          <a:prstGeom prst="rect">
            <a:avLst/>
          </a:prstGeom>
          <a:noFill/>
        </p:spPr>
        <p:txBody>
          <a:bodyPr wrap="square" anchor="ctr">
            <a:spAutoFit/>
          </a:bodyPr>
          <a:lstStyle/>
          <a:p>
            <a:pPr algn="ctr">
              <a:defRPr sz="1300" b="1">
                <a:solidFill>
                  <a:srgbClr val="15B589"/>
                </a:solidFill>
                <a:latin typeface="Calibri"/>
              </a:defRPr>
            </a:pPr>
            <a:r>
              <a:t>3</a:t>
            </a:r>
          </a:p>
        </p:txBody>
      </p:sp>
      <p:sp>
        <p:nvSpPr>
          <p:cNvPr id="20" name="TextBox 19"/>
          <p:cNvSpPr txBox="1"/>
          <p:nvPr/>
        </p:nvSpPr>
        <p:spPr>
          <a:xfrm>
            <a:off x="8792260" y="2468880"/>
            <a:ext cx="2448458" cy="347472"/>
          </a:xfrm>
          <a:prstGeom prst="rect">
            <a:avLst/>
          </a:prstGeom>
          <a:noFill/>
        </p:spPr>
        <p:txBody>
          <a:bodyPr wrap="square" anchor="t">
            <a:spAutoFit/>
          </a:bodyPr>
          <a:lstStyle/>
          <a:p>
            <a:pPr algn="l">
              <a:defRPr sz="1800" b="1">
                <a:solidFill>
                  <a:srgbClr val="102C3C"/>
                </a:solidFill>
                <a:latin typeface="Calibri"/>
              </a:defRPr>
            </a:pPr>
            <a:r>
              <a:t>SP6  →  SP7</a:t>
            </a:r>
          </a:p>
        </p:txBody>
      </p:sp>
      <p:sp>
        <p:nvSpPr>
          <p:cNvPr id="21" name="TextBox 20"/>
          <p:cNvSpPr txBox="1"/>
          <p:nvPr/>
        </p:nvSpPr>
        <p:spPr>
          <a:xfrm>
            <a:off x="8792260" y="2816352"/>
            <a:ext cx="2448458" cy="274320"/>
          </a:xfrm>
          <a:prstGeom prst="rect">
            <a:avLst/>
          </a:prstGeom>
          <a:noFill/>
        </p:spPr>
        <p:txBody>
          <a:bodyPr wrap="square" anchor="t">
            <a:spAutoFit/>
          </a:bodyPr>
          <a:lstStyle/>
          <a:p>
            <a:pPr algn="l">
              <a:defRPr sz="1200" b="0">
                <a:solidFill>
                  <a:srgbClr val="5A7281"/>
                </a:solidFill>
                <a:latin typeface="Calibri"/>
              </a:defRPr>
            </a:pPr>
            <a:r>
              <a:t>Tercer salto</a:t>
            </a:r>
          </a:p>
        </p:txBody>
      </p:sp>
      <p:sp>
        <p:nvSpPr>
          <p:cNvPr id="22" name="Rectangle 21"/>
          <p:cNvSpPr/>
          <p:nvPr/>
        </p:nvSpPr>
        <p:spPr>
          <a:xfrm>
            <a:off x="749808" y="3657600"/>
            <a:ext cx="10680192" cy="1051560"/>
          </a:xfrm>
          <a:prstGeom prst="rect">
            <a:avLst/>
          </a:prstGeom>
          <a:solidFill>
            <a:srgbClr val="184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60120" y="3895344"/>
            <a:ext cx="914400" cy="292608"/>
          </a:xfrm>
          <a:prstGeom prst="roundRect">
            <a:avLst/>
          </a:prstGeom>
          <a:solidFill>
            <a:srgbClr val="1B3B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0120" y="3895344"/>
            <a:ext cx="914400" cy="292608"/>
          </a:xfrm>
          <a:prstGeom prst="rect">
            <a:avLst/>
          </a:prstGeom>
          <a:noFill/>
        </p:spPr>
        <p:txBody>
          <a:bodyPr wrap="square" anchor="ctr">
            <a:spAutoFit/>
          </a:bodyPr>
          <a:lstStyle/>
          <a:p>
            <a:pPr algn="ctr">
              <a:defRPr sz="1100" b="1">
                <a:solidFill>
                  <a:srgbClr val="8BE7D0"/>
                </a:solidFill>
                <a:latin typeface="Calibri"/>
              </a:defRPr>
            </a:pPr>
            <a:r>
              <a:t>FULL</a:t>
            </a:r>
          </a:p>
        </p:txBody>
      </p:sp>
      <p:sp>
        <p:nvSpPr>
          <p:cNvPr id="25" name="TextBox 24"/>
          <p:cNvSpPr txBox="1"/>
          <p:nvPr/>
        </p:nvSpPr>
        <p:spPr>
          <a:xfrm>
            <a:off x="2240280" y="3913632"/>
            <a:ext cx="914400" cy="365760"/>
          </a:xfrm>
          <a:prstGeom prst="rect">
            <a:avLst/>
          </a:prstGeom>
          <a:noFill/>
        </p:spPr>
        <p:txBody>
          <a:bodyPr wrap="square" anchor="t">
            <a:spAutoFit/>
          </a:bodyPr>
          <a:lstStyle/>
          <a:p>
            <a:pPr algn="l">
              <a:defRPr sz="2200" b="1">
                <a:solidFill>
                  <a:srgbClr val="FFFFFF"/>
                </a:solidFill>
                <a:latin typeface="Calibri"/>
              </a:defRPr>
            </a:pPr>
            <a:r>
              <a:t>SP5</a:t>
            </a:r>
          </a:p>
        </p:txBody>
      </p:sp>
      <p:sp>
        <p:nvSpPr>
          <p:cNvPr id="26" name="TextBox 25"/>
          <p:cNvSpPr txBox="1"/>
          <p:nvPr/>
        </p:nvSpPr>
        <p:spPr>
          <a:xfrm>
            <a:off x="3246120" y="3895344"/>
            <a:ext cx="365760" cy="402336"/>
          </a:xfrm>
          <a:prstGeom prst="rect">
            <a:avLst/>
          </a:prstGeom>
          <a:noFill/>
        </p:spPr>
        <p:txBody>
          <a:bodyPr wrap="square" anchor="t">
            <a:spAutoFit/>
          </a:bodyPr>
          <a:lstStyle/>
          <a:p>
            <a:pPr algn="ctr">
              <a:defRPr sz="2200" b="1">
                <a:solidFill>
                  <a:srgbClr val="8BE7D0"/>
                </a:solidFill>
                <a:latin typeface="Calibri"/>
              </a:defRPr>
            </a:pPr>
            <a:r>
              <a:t>→</a:t>
            </a:r>
          </a:p>
        </p:txBody>
      </p:sp>
      <p:sp>
        <p:nvSpPr>
          <p:cNvPr id="27" name="TextBox 26"/>
          <p:cNvSpPr txBox="1"/>
          <p:nvPr/>
        </p:nvSpPr>
        <p:spPr>
          <a:xfrm>
            <a:off x="3703320" y="3913632"/>
            <a:ext cx="914400" cy="365760"/>
          </a:xfrm>
          <a:prstGeom prst="rect">
            <a:avLst/>
          </a:prstGeom>
          <a:noFill/>
        </p:spPr>
        <p:txBody>
          <a:bodyPr wrap="square" anchor="t">
            <a:spAutoFit/>
          </a:bodyPr>
          <a:lstStyle/>
          <a:p>
            <a:pPr algn="l">
              <a:defRPr sz="2200" b="1">
                <a:solidFill>
                  <a:srgbClr val="FFFFFF"/>
                </a:solidFill>
                <a:latin typeface="Calibri"/>
              </a:defRPr>
            </a:pPr>
            <a:r>
              <a:t>SP6</a:t>
            </a:r>
          </a:p>
        </p:txBody>
      </p:sp>
      <p:sp>
        <p:nvSpPr>
          <p:cNvPr id="28" name="TextBox 27"/>
          <p:cNvSpPr txBox="1"/>
          <p:nvPr/>
        </p:nvSpPr>
        <p:spPr>
          <a:xfrm>
            <a:off x="4709160" y="3895344"/>
            <a:ext cx="365760" cy="402336"/>
          </a:xfrm>
          <a:prstGeom prst="rect">
            <a:avLst/>
          </a:prstGeom>
          <a:noFill/>
        </p:spPr>
        <p:txBody>
          <a:bodyPr wrap="square" anchor="t">
            <a:spAutoFit/>
          </a:bodyPr>
          <a:lstStyle/>
          <a:p>
            <a:pPr algn="ctr">
              <a:defRPr sz="2200" b="1">
                <a:solidFill>
                  <a:srgbClr val="8BE7D0"/>
                </a:solidFill>
                <a:latin typeface="Calibri"/>
              </a:defRPr>
            </a:pPr>
            <a:r>
              <a:t>→</a:t>
            </a:r>
          </a:p>
        </p:txBody>
      </p:sp>
      <p:sp>
        <p:nvSpPr>
          <p:cNvPr id="29" name="TextBox 28"/>
          <p:cNvSpPr txBox="1"/>
          <p:nvPr/>
        </p:nvSpPr>
        <p:spPr>
          <a:xfrm>
            <a:off x="5166360" y="3913632"/>
            <a:ext cx="914400" cy="365760"/>
          </a:xfrm>
          <a:prstGeom prst="rect">
            <a:avLst/>
          </a:prstGeom>
          <a:noFill/>
        </p:spPr>
        <p:txBody>
          <a:bodyPr wrap="square" anchor="t">
            <a:spAutoFit/>
          </a:bodyPr>
          <a:lstStyle/>
          <a:p>
            <a:pPr algn="l">
              <a:defRPr sz="2200" b="1">
                <a:solidFill>
                  <a:srgbClr val="FFFFFF"/>
                </a:solidFill>
                <a:latin typeface="Calibri"/>
              </a:defRPr>
            </a:pPr>
            <a:r>
              <a:t>SP7</a:t>
            </a:r>
          </a:p>
        </p:txBody>
      </p:sp>
      <p:sp>
        <p:nvSpPr>
          <p:cNvPr id="30" name="TextBox 29"/>
          <p:cNvSpPr txBox="1"/>
          <p:nvPr/>
        </p:nvSpPr>
        <p:spPr>
          <a:xfrm>
            <a:off x="6492240" y="3977639"/>
            <a:ext cx="4754880" cy="457200"/>
          </a:xfrm>
          <a:prstGeom prst="rect">
            <a:avLst/>
          </a:prstGeom>
          <a:noFill/>
        </p:spPr>
        <p:txBody>
          <a:bodyPr wrap="square" anchor="t">
            <a:spAutoFit/>
          </a:bodyPr>
          <a:lstStyle/>
          <a:p>
            <a:pPr algn="l">
              <a:defRPr sz="1300" b="1">
                <a:solidFill>
                  <a:srgbClr val="D2F7E8"/>
                </a:solidFill>
                <a:latin typeface="Calibri"/>
              </a:defRPr>
            </a:pPr>
            <a:r>
              <a:t>Validación obligatoria de SP6 antes de continuar</a:t>
            </a:r>
          </a:p>
        </p:txBody>
      </p:sp>
      <p:sp>
        <p:nvSpPr>
          <p:cNvPr id="31" name="TextBox 30"/>
          <p:cNvSpPr txBox="1"/>
          <p:nvPr/>
        </p:nvSpPr>
        <p:spPr>
          <a:xfrm>
            <a:off x="749808" y="5074920"/>
            <a:ext cx="10424160" cy="457200"/>
          </a:xfrm>
          <a:prstGeom prst="rect">
            <a:avLst/>
          </a:prstGeom>
          <a:noFill/>
        </p:spPr>
        <p:txBody>
          <a:bodyPr wrap="square" anchor="t">
            <a:spAutoFit/>
          </a:bodyPr>
          <a:lstStyle/>
          <a:p>
            <a:pPr algn="l">
              <a:defRPr sz="1300" b="0">
                <a:solidFill>
                  <a:srgbClr val="5A7281"/>
                </a:solidFill>
                <a:latin typeface="Calibri"/>
              </a:defRPr>
            </a:pPr>
            <a:r>
              <a:t>≈90 %  del parque se encuentra en SP5 (estimación). SP4 se mantiene separado para simplificar el flujo.</a:t>
            </a:r>
          </a:p>
        </p:txBody>
      </p:sp>
      <p:sp>
        <p:nvSpPr>
          <p:cNvPr id="32" name="Rectangle 31"/>
          <p:cNvSpPr/>
          <p:nvPr/>
        </p:nvSpPr>
        <p:spPr>
          <a:xfrm>
            <a:off x="749808" y="6437376"/>
            <a:ext cx="10692079" cy="1"/>
          </a:xfrm>
          <a:prstGeom prst="rect">
            <a:avLst/>
          </a:prstGeom>
          <a:solidFill>
            <a:srgbClr val="9AB8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49808" y="6464808"/>
            <a:ext cx="6400800" cy="182880"/>
          </a:xfrm>
          <a:prstGeom prst="rect">
            <a:avLst/>
          </a:prstGeom>
          <a:noFill/>
        </p:spPr>
        <p:txBody>
          <a:bodyPr wrap="square" anchor="t">
            <a:spAutoFit/>
          </a:bodyPr>
          <a:lstStyle/>
          <a:p>
            <a:pPr algn="l">
              <a:defRPr sz="800" b="1">
                <a:solidFill>
                  <a:srgbClr val="5A7281"/>
                </a:solidFill>
                <a:latin typeface="Calibri"/>
              </a:defRPr>
            </a:pPr>
            <a:r>
              <a:t>G E O P O S   /   I N F R A E S T R U C T U R A   L I N U X</a:t>
            </a:r>
          </a:p>
        </p:txBody>
      </p:sp>
      <p:sp>
        <p:nvSpPr>
          <p:cNvPr id="34" name="TextBox 33"/>
          <p:cNvSpPr txBox="1"/>
          <p:nvPr/>
        </p:nvSpPr>
        <p:spPr>
          <a:xfrm>
            <a:off x="10820095" y="6455664"/>
            <a:ext cx="822960" cy="182880"/>
          </a:xfrm>
          <a:prstGeom prst="rect">
            <a:avLst/>
          </a:prstGeom>
          <a:noFill/>
        </p:spPr>
        <p:txBody>
          <a:bodyPr wrap="square" anchor="t">
            <a:spAutoFit/>
          </a:bodyPr>
          <a:lstStyle/>
          <a:p>
            <a:pPr algn="r">
              <a:defRPr sz="900" b="1">
                <a:solidFill>
                  <a:srgbClr val="5A7281"/>
                </a:solidFill>
                <a:latin typeface="Calibri"/>
              </a:defRPr>
            </a:pPr>
            <a:r>
              <a:t>03  /  12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15B5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402336"/>
            <a:ext cx="9144000" cy="274320"/>
          </a:xfrm>
          <a:prstGeom prst="rect">
            <a:avLst/>
          </a:prstGeom>
          <a:noFill/>
        </p:spPr>
        <p:txBody>
          <a:bodyPr wrap="square" anchor="t">
            <a:spAutoFit/>
          </a:bodyPr>
          <a:lstStyle/>
          <a:p>
            <a:pPr algn="l">
              <a:defRPr sz="1400" b="1">
                <a:solidFill>
                  <a:srgbClr val="15B589"/>
                </a:solidFill>
                <a:latin typeface="Calibri"/>
              </a:defRPr>
            </a:pPr>
            <a:r>
              <a:t>03 / MODELO OPERATIVO</a:t>
            </a:r>
          </a:p>
        </p:txBody>
      </p:sp>
      <p:sp>
        <p:nvSpPr>
          <p:cNvPr id="4" name="TextBox 3"/>
          <p:cNvSpPr txBox="1"/>
          <p:nvPr/>
        </p:nvSpPr>
        <p:spPr>
          <a:xfrm>
            <a:off x="749808" y="822960"/>
            <a:ext cx="10881360" cy="603504"/>
          </a:xfrm>
          <a:prstGeom prst="rect">
            <a:avLst/>
          </a:prstGeom>
          <a:noFill/>
        </p:spPr>
        <p:txBody>
          <a:bodyPr wrap="square" anchor="t">
            <a:spAutoFit/>
          </a:bodyPr>
          <a:lstStyle/>
          <a:p>
            <a:pPr algn="l">
              <a:defRPr sz="3000" b="1">
                <a:solidFill>
                  <a:srgbClr val="102C3C"/>
                </a:solidFill>
                <a:latin typeface="Calibri"/>
              </a:defRPr>
            </a:pPr>
            <a:r>
              <a:t>Una arquitectura simple, integrada a las plataformas actuales</a:t>
            </a:r>
          </a:p>
        </p:txBody>
      </p:sp>
      <p:sp>
        <p:nvSpPr>
          <p:cNvPr id="5" name="TextBox 4"/>
          <p:cNvSpPr txBox="1"/>
          <p:nvPr/>
        </p:nvSpPr>
        <p:spPr>
          <a:xfrm>
            <a:off x="749808" y="1481328"/>
            <a:ext cx="10607040" cy="411480"/>
          </a:xfrm>
          <a:prstGeom prst="rect">
            <a:avLst/>
          </a:prstGeom>
          <a:noFill/>
        </p:spPr>
        <p:txBody>
          <a:bodyPr wrap="square" anchor="t">
            <a:spAutoFit/>
          </a:bodyPr>
          <a:lstStyle/>
          <a:p>
            <a:pPr algn="l">
              <a:defRPr sz="1500" b="0">
                <a:solidFill>
                  <a:srgbClr val="5A7281"/>
                </a:solidFill>
                <a:latin typeface="Calibri"/>
              </a:defRPr>
            </a:pPr>
            <a:r>
              <a:t>AWX coordina, Ansible ejecuta y Foreman / Katello suministra contenido interno.</a:t>
            </a:r>
          </a:p>
        </p:txBody>
      </p:sp>
      <p:sp>
        <p:nvSpPr>
          <p:cNvPr id="6" name="Rounded Rectangle 5"/>
          <p:cNvSpPr/>
          <p:nvPr/>
        </p:nvSpPr>
        <p:spPr>
          <a:xfrm>
            <a:off x="749808" y="2103120"/>
            <a:ext cx="3399434" cy="13716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50976" y="2304288"/>
            <a:ext cx="384048" cy="384048"/>
          </a:xfrm>
          <a:prstGeom prst="roundRect">
            <a:avLst/>
          </a:prstGeom>
          <a:solidFill>
            <a:srgbClr val="E8E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50976" y="2304288"/>
            <a:ext cx="384048" cy="384048"/>
          </a:xfrm>
          <a:prstGeom prst="rect">
            <a:avLst/>
          </a:prstGeom>
          <a:noFill/>
        </p:spPr>
        <p:txBody>
          <a:bodyPr wrap="square" anchor="ctr">
            <a:spAutoFit/>
          </a:bodyPr>
          <a:lstStyle/>
          <a:p>
            <a:pPr algn="ctr">
              <a:defRPr sz="1300" b="1">
                <a:solidFill>
                  <a:srgbClr val="15B589"/>
                </a:solidFill>
                <a:latin typeface="Calibri"/>
              </a:defRPr>
            </a:pPr>
            <a:r>
              <a:t>01</a:t>
            </a:r>
          </a:p>
        </p:txBody>
      </p:sp>
      <p:sp>
        <p:nvSpPr>
          <p:cNvPr id="9" name="TextBox 8"/>
          <p:cNvSpPr txBox="1"/>
          <p:nvPr/>
        </p:nvSpPr>
        <p:spPr>
          <a:xfrm>
            <a:off x="1499616" y="2286000"/>
            <a:ext cx="2448458" cy="347472"/>
          </a:xfrm>
          <a:prstGeom prst="rect">
            <a:avLst/>
          </a:prstGeom>
          <a:noFill/>
        </p:spPr>
        <p:txBody>
          <a:bodyPr wrap="square" anchor="t">
            <a:spAutoFit/>
          </a:bodyPr>
          <a:lstStyle/>
          <a:p>
            <a:pPr algn="l">
              <a:defRPr sz="1800" b="1">
                <a:solidFill>
                  <a:srgbClr val="102C3C"/>
                </a:solidFill>
                <a:latin typeface="Calibri"/>
              </a:defRPr>
            </a:pPr>
            <a:r>
              <a:t>AWX</a:t>
            </a:r>
          </a:p>
        </p:txBody>
      </p:sp>
      <p:sp>
        <p:nvSpPr>
          <p:cNvPr id="10" name="TextBox 9"/>
          <p:cNvSpPr txBox="1"/>
          <p:nvPr/>
        </p:nvSpPr>
        <p:spPr>
          <a:xfrm>
            <a:off x="1499616" y="2633472"/>
            <a:ext cx="2448458" cy="640080"/>
          </a:xfrm>
          <a:prstGeom prst="rect">
            <a:avLst/>
          </a:prstGeom>
          <a:noFill/>
        </p:spPr>
        <p:txBody>
          <a:bodyPr wrap="square" anchor="t">
            <a:spAutoFit/>
          </a:bodyPr>
          <a:lstStyle/>
          <a:p>
            <a:pPr algn="l">
              <a:defRPr sz="1300" b="0">
                <a:solidFill>
                  <a:srgbClr val="5A7281"/>
                </a:solidFill>
                <a:latin typeface="Calibri"/>
              </a:defRPr>
            </a:pPr>
            <a:r>
              <a:t>Control y selección de lote</a:t>
            </a:r>
          </a:p>
        </p:txBody>
      </p:sp>
      <p:sp>
        <p:nvSpPr>
          <p:cNvPr id="11" name="Rounded Rectangle 10"/>
          <p:cNvSpPr/>
          <p:nvPr/>
        </p:nvSpPr>
        <p:spPr>
          <a:xfrm>
            <a:off x="4396130" y="2103120"/>
            <a:ext cx="3399434" cy="13716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597298" y="2304288"/>
            <a:ext cx="384048" cy="384048"/>
          </a:xfrm>
          <a:prstGeom prst="roundRect">
            <a:avLst/>
          </a:prstGeom>
          <a:solidFill>
            <a:srgbClr val="E8E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2304288"/>
            <a:ext cx="384048" cy="384048"/>
          </a:xfrm>
          <a:prstGeom prst="rect">
            <a:avLst/>
          </a:prstGeom>
          <a:noFill/>
        </p:spPr>
        <p:txBody>
          <a:bodyPr wrap="square" anchor="ctr">
            <a:spAutoFit/>
          </a:bodyPr>
          <a:lstStyle/>
          <a:p>
            <a:pPr algn="ctr">
              <a:defRPr sz="1300" b="1">
                <a:solidFill>
                  <a:srgbClr val="15B589"/>
                </a:solidFill>
                <a:latin typeface="Calibri"/>
              </a:defRPr>
            </a:pPr>
            <a:r>
              <a:t>02</a:t>
            </a:r>
          </a:p>
        </p:txBody>
      </p:sp>
      <p:sp>
        <p:nvSpPr>
          <p:cNvPr id="14" name="TextBox 13"/>
          <p:cNvSpPr txBox="1"/>
          <p:nvPr/>
        </p:nvSpPr>
        <p:spPr>
          <a:xfrm>
            <a:off x="5145938" y="2286000"/>
            <a:ext cx="2448458" cy="347472"/>
          </a:xfrm>
          <a:prstGeom prst="rect">
            <a:avLst/>
          </a:prstGeom>
          <a:noFill/>
        </p:spPr>
        <p:txBody>
          <a:bodyPr wrap="square" anchor="t">
            <a:spAutoFit/>
          </a:bodyPr>
          <a:lstStyle/>
          <a:p>
            <a:pPr algn="l">
              <a:defRPr sz="1800" b="1">
                <a:solidFill>
                  <a:srgbClr val="102C3C"/>
                </a:solidFill>
                <a:latin typeface="Calibri"/>
              </a:defRPr>
            </a:pPr>
            <a:r>
              <a:t>Ansible</a:t>
            </a:r>
          </a:p>
        </p:txBody>
      </p:sp>
      <p:sp>
        <p:nvSpPr>
          <p:cNvPr id="15" name="TextBox 14"/>
          <p:cNvSpPr txBox="1"/>
          <p:nvPr/>
        </p:nvSpPr>
        <p:spPr>
          <a:xfrm>
            <a:off x="5145938" y="2633472"/>
            <a:ext cx="2448458" cy="640080"/>
          </a:xfrm>
          <a:prstGeom prst="rect">
            <a:avLst/>
          </a:prstGeom>
          <a:noFill/>
        </p:spPr>
        <p:txBody>
          <a:bodyPr wrap="square" anchor="t">
            <a:spAutoFit/>
          </a:bodyPr>
          <a:lstStyle/>
          <a:p>
            <a:pPr algn="l">
              <a:defRPr sz="1300" b="0">
                <a:solidFill>
                  <a:srgbClr val="5A7281"/>
                </a:solidFill>
                <a:latin typeface="Calibri"/>
              </a:defRPr>
            </a:pPr>
            <a:r>
              <a:t>Secuencia automatizada</a:t>
            </a:r>
          </a:p>
        </p:txBody>
      </p:sp>
      <p:sp>
        <p:nvSpPr>
          <p:cNvPr id="16" name="Rounded Rectangle 15"/>
          <p:cNvSpPr/>
          <p:nvPr/>
        </p:nvSpPr>
        <p:spPr>
          <a:xfrm>
            <a:off x="8042452" y="2103120"/>
            <a:ext cx="3399434" cy="13716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243620" y="2304288"/>
            <a:ext cx="384048" cy="384048"/>
          </a:xfrm>
          <a:prstGeom prst="roundRect">
            <a:avLst/>
          </a:prstGeom>
          <a:solidFill>
            <a:srgbClr val="E8E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43620" y="2304288"/>
            <a:ext cx="384048" cy="384048"/>
          </a:xfrm>
          <a:prstGeom prst="rect">
            <a:avLst/>
          </a:prstGeom>
          <a:noFill/>
        </p:spPr>
        <p:txBody>
          <a:bodyPr wrap="square" anchor="ctr">
            <a:spAutoFit/>
          </a:bodyPr>
          <a:lstStyle/>
          <a:p>
            <a:pPr algn="ctr">
              <a:defRPr sz="1300" b="1">
                <a:solidFill>
                  <a:srgbClr val="15B589"/>
                </a:solidFill>
                <a:latin typeface="Calibri"/>
              </a:defRPr>
            </a:pPr>
            <a:r>
              <a:t>03</a:t>
            </a:r>
          </a:p>
        </p:txBody>
      </p:sp>
      <p:sp>
        <p:nvSpPr>
          <p:cNvPr id="19" name="TextBox 18"/>
          <p:cNvSpPr txBox="1"/>
          <p:nvPr/>
        </p:nvSpPr>
        <p:spPr>
          <a:xfrm>
            <a:off x="8792260" y="2286000"/>
            <a:ext cx="2448458" cy="347472"/>
          </a:xfrm>
          <a:prstGeom prst="rect">
            <a:avLst/>
          </a:prstGeom>
          <a:noFill/>
        </p:spPr>
        <p:txBody>
          <a:bodyPr wrap="square" anchor="t">
            <a:spAutoFit/>
          </a:bodyPr>
          <a:lstStyle/>
          <a:p>
            <a:pPr algn="l">
              <a:defRPr sz="1800" b="1">
                <a:solidFill>
                  <a:srgbClr val="102C3C"/>
                </a:solidFill>
                <a:latin typeface="Calibri"/>
              </a:defRPr>
            </a:pPr>
            <a:r>
              <a:t>SLES 15 + GeoPOS</a:t>
            </a:r>
          </a:p>
        </p:txBody>
      </p:sp>
      <p:sp>
        <p:nvSpPr>
          <p:cNvPr id="20" name="TextBox 19"/>
          <p:cNvSpPr txBox="1"/>
          <p:nvPr/>
        </p:nvSpPr>
        <p:spPr>
          <a:xfrm>
            <a:off x="8792260" y="2633472"/>
            <a:ext cx="2448458" cy="640080"/>
          </a:xfrm>
          <a:prstGeom prst="rect">
            <a:avLst/>
          </a:prstGeom>
          <a:noFill/>
        </p:spPr>
        <p:txBody>
          <a:bodyPr wrap="square" anchor="t">
            <a:spAutoFit/>
          </a:bodyPr>
          <a:lstStyle/>
          <a:p>
            <a:pPr algn="l">
              <a:defRPr sz="1300" b="0">
                <a:solidFill>
                  <a:srgbClr val="5A7281"/>
                </a:solidFill>
                <a:latin typeface="Calibri"/>
              </a:defRPr>
            </a:pPr>
            <a:r>
              <a:t>Servidores objetivo</a:t>
            </a:r>
          </a:p>
        </p:txBody>
      </p:sp>
      <p:sp>
        <p:nvSpPr>
          <p:cNvPr id="21" name="Rounded Rectangle 20"/>
          <p:cNvSpPr/>
          <p:nvPr/>
        </p:nvSpPr>
        <p:spPr>
          <a:xfrm>
            <a:off x="749808" y="3749039"/>
            <a:ext cx="10680192" cy="173736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50976" y="3931919"/>
            <a:ext cx="10277856" cy="347472"/>
          </a:xfrm>
          <a:prstGeom prst="rect">
            <a:avLst/>
          </a:prstGeom>
          <a:noFill/>
        </p:spPr>
        <p:txBody>
          <a:bodyPr wrap="square" anchor="t">
            <a:spAutoFit/>
          </a:bodyPr>
          <a:lstStyle/>
          <a:p>
            <a:pPr algn="l">
              <a:defRPr sz="2000" b="1">
                <a:solidFill>
                  <a:srgbClr val="102C3C"/>
                </a:solidFill>
                <a:latin typeface="Calibri"/>
              </a:defRPr>
            </a:pPr>
            <a:r>
              <a:t>Foreman / Katello</a:t>
            </a:r>
          </a:p>
        </p:txBody>
      </p:sp>
      <p:sp>
        <p:nvSpPr>
          <p:cNvPr id="23" name="TextBox 22"/>
          <p:cNvSpPr txBox="1"/>
          <p:nvPr/>
        </p:nvSpPr>
        <p:spPr>
          <a:xfrm>
            <a:off x="950976" y="4279391"/>
            <a:ext cx="10277856" cy="1005840"/>
          </a:xfrm>
          <a:prstGeom prst="rect">
            <a:avLst/>
          </a:prstGeom>
          <a:noFill/>
        </p:spPr>
        <p:txBody>
          <a:bodyPr wrap="square" anchor="t">
            <a:spAutoFit/>
          </a:bodyPr>
          <a:lstStyle/>
          <a:p>
            <a:pPr algn="l">
              <a:defRPr sz="1300" b="0">
                <a:solidFill>
                  <a:srgbClr val="5A7281"/>
                </a:solidFill>
                <a:latin typeface="Calibri"/>
              </a:defRPr>
            </a:pPr>
            <a:r>
              <a:t>Repositorios corporativos de cada SP</a:t>
            </a:r>
          </a:p>
        </p:txBody>
      </p:sp>
      <p:sp>
        <p:nvSpPr>
          <p:cNvPr id="24" name="TextBox 23"/>
          <p:cNvSpPr txBox="1"/>
          <p:nvPr/>
        </p:nvSpPr>
        <p:spPr>
          <a:xfrm>
            <a:off x="1005840" y="4526280"/>
            <a:ext cx="5486400" cy="274320"/>
          </a:xfrm>
          <a:prstGeom prst="rect">
            <a:avLst/>
          </a:prstGeom>
          <a:noFill/>
        </p:spPr>
        <p:txBody>
          <a:bodyPr wrap="square" anchor="t">
            <a:spAutoFit/>
          </a:bodyPr>
          <a:lstStyle/>
          <a:p>
            <a:pPr algn="l">
              <a:defRPr sz="1300" b="0">
                <a:solidFill>
                  <a:srgbClr val="5A7281"/>
                </a:solidFill>
                <a:latin typeface="Calibri"/>
              </a:defRPr>
            </a:pPr>
            <a:r>
              <a:t>•  Inventario: Excel compartido en SharePoint</a:t>
            </a:r>
          </a:p>
        </p:txBody>
      </p:sp>
      <p:sp>
        <p:nvSpPr>
          <p:cNvPr id="25" name="TextBox 24"/>
          <p:cNvSpPr txBox="1"/>
          <p:nvPr/>
        </p:nvSpPr>
        <p:spPr>
          <a:xfrm>
            <a:off x="1005840" y="4846320"/>
            <a:ext cx="7315200" cy="274320"/>
          </a:xfrm>
          <a:prstGeom prst="rect">
            <a:avLst/>
          </a:prstGeom>
          <a:noFill/>
        </p:spPr>
        <p:txBody>
          <a:bodyPr wrap="square" anchor="t">
            <a:spAutoFit/>
          </a:bodyPr>
          <a:lstStyle/>
          <a:p>
            <a:pPr algn="l">
              <a:defRPr sz="1300" b="0">
                <a:solidFill>
                  <a:srgbClr val="5A7281"/>
                </a:solidFill>
                <a:latin typeface="Calibri"/>
              </a:defRPr>
            </a:pPr>
            <a:r>
              <a:t>•  Sin repositorios públicos durante la migración</a:t>
            </a:r>
          </a:p>
        </p:txBody>
      </p:sp>
      <p:sp>
        <p:nvSpPr>
          <p:cNvPr id="26" name="Rectangle 25"/>
          <p:cNvSpPr/>
          <p:nvPr/>
        </p:nvSpPr>
        <p:spPr>
          <a:xfrm>
            <a:off x="749808" y="6437376"/>
            <a:ext cx="10692079" cy="1"/>
          </a:xfrm>
          <a:prstGeom prst="rect">
            <a:avLst/>
          </a:prstGeom>
          <a:solidFill>
            <a:srgbClr val="9AB8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6464808"/>
            <a:ext cx="6400800" cy="182880"/>
          </a:xfrm>
          <a:prstGeom prst="rect">
            <a:avLst/>
          </a:prstGeom>
          <a:noFill/>
        </p:spPr>
        <p:txBody>
          <a:bodyPr wrap="square" anchor="t">
            <a:spAutoFit/>
          </a:bodyPr>
          <a:lstStyle/>
          <a:p>
            <a:pPr algn="l">
              <a:defRPr sz="800" b="1">
                <a:solidFill>
                  <a:srgbClr val="5A7281"/>
                </a:solidFill>
                <a:latin typeface="Calibri"/>
              </a:defRPr>
            </a:pPr>
            <a:r>
              <a:t>G E O P O S   /   I N F R A E S T R U C T U R A   L I N U X</a:t>
            </a:r>
          </a:p>
        </p:txBody>
      </p:sp>
      <p:sp>
        <p:nvSpPr>
          <p:cNvPr id="28" name="TextBox 27"/>
          <p:cNvSpPr txBox="1"/>
          <p:nvPr/>
        </p:nvSpPr>
        <p:spPr>
          <a:xfrm>
            <a:off x="10820095" y="6455664"/>
            <a:ext cx="822960" cy="182880"/>
          </a:xfrm>
          <a:prstGeom prst="rect">
            <a:avLst/>
          </a:prstGeom>
          <a:noFill/>
        </p:spPr>
        <p:txBody>
          <a:bodyPr wrap="square" anchor="t">
            <a:spAutoFit/>
          </a:bodyPr>
          <a:lstStyle/>
          <a:p>
            <a:pPr algn="r">
              <a:defRPr sz="900" b="1">
                <a:solidFill>
                  <a:srgbClr val="5A7281"/>
                </a:solidFill>
                <a:latin typeface="Calibri"/>
              </a:defRPr>
            </a:pPr>
            <a:r>
              <a:t>04  /  12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15B5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402336"/>
            <a:ext cx="9144000" cy="274320"/>
          </a:xfrm>
          <a:prstGeom prst="rect">
            <a:avLst/>
          </a:prstGeom>
          <a:noFill/>
        </p:spPr>
        <p:txBody>
          <a:bodyPr wrap="square" anchor="t">
            <a:spAutoFit/>
          </a:bodyPr>
          <a:lstStyle/>
          <a:p>
            <a:pPr algn="l">
              <a:defRPr sz="1400" b="1">
                <a:solidFill>
                  <a:srgbClr val="15B589"/>
                </a:solidFill>
                <a:latin typeface="Calibri"/>
              </a:defRPr>
            </a:pPr>
            <a:r>
              <a:t>04 / LANZAMIENTO DEL CAMBIO</a:t>
            </a:r>
          </a:p>
        </p:txBody>
      </p:sp>
      <p:sp>
        <p:nvSpPr>
          <p:cNvPr id="4" name="TextBox 3"/>
          <p:cNvSpPr txBox="1"/>
          <p:nvPr/>
        </p:nvSpPr>
        <p:spPr>
          <a:xfrm>
            <a:off x="749808" y="822960"/>
            <a:ext cx="10881360" cy="603504"/>
          </a:xfrm>
          <a:prstGeom prst="rect">
            <a:avLst/>
          </a:prstGeom>
          <a:noFill/>
        </p:spPr>
        <p:txBody>
          <a:bodyPr wrap="square" anchor="t">
            <a:spAutoFit/>
          </a:bodyPr>
          <a:lstStyle/>
          <a:p>
            <a:pPr algn="l">
              <a:defRPr sz="3000" b="1">
                <a:solidFill>
                  <a:srgbClr val="102C3C"/>
                </a:solidFill>
                <a:latin typeface="Calibri"/>
              </a:defRPr>
            </a:pPr>
            <a:r>
              <a:t>Un formulario define qué se ejecuta y sobre qué lote</a:t>
            </a:r>
          </a:p>
        </p:txBody>
      </p:sp>
      <p:sp>
        <p:nvSpPr>
          <p:cNvPr id="5" name="TextBox 4"/>
          <p:cNvSpPr txBox="1"/>
          <p:nvPr/>
        </p:nvSpPr>
        <p:spPr>
          <a:xfrm>
            <a:off x="749808" y="1481328"/>
            <a:ext cx="10607040" cy="411480"/>
          </a:xfrm>
          <a:prstGeom prst="rect">
            <a:avLst/>
          </a:prstGeom>
          <a:noFill/>
        </p:spPr>
        <p:txBody>
          <a:bodyPr wrap="square" anchor="t">
            <a:spAutoFit/>
          </a:bodyPr>
          <a:lstStyle/>
          <a:p>
            <a:pPr algn="l">
              <a:defRPr sz="1500" b="0">
                <a:solidFill>
                  <a:srgbClr val="5A7281"/>
                </a:solidFill>
                <a:latin typeface="Calibri"/>
              </a:defRPr>
            </a:pPr>
            <a:r>
              <a:t>La operación se inicia con datos de cambio obligatorios y una confirmación expresa.</a:t>
            </a:r>
          </a:p>
        </p:txBody>
      </p:sp>
      <p:sp>
        <p:nvSpPr>
          <p:cNvPr id="6" name="Rounded Rectangle 5"/>
          <p:cNvSpPr/>
          <p:nvPr/>
        </p:nvSpPr>
        <p:spPr>
          <a:xfrm>
            <a:off x="749808" y="2148840"/>
            <a:ext cx="3399434" cy="146304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50976" y="2350008"/>
            <a:ext cx="384048" cy="384048"/>
          </a:xfrm>
          <a:prstGeom prst="roundRect">
            <a:avLst/>
          </a:prstGeom>
          <a:solidFill>
            <a:srgbClr val="E8E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50976" y="2350008"/>
            <a:ext cx="384048" cy="384048"/>
          </a:xfrm>
          <a:prstGeom prst="rect">
            <a:avLst/>
          </a:prstGeom>
          <a:noFill/>
        </p:spPr>
        <p:txBody>
          <a:bodyPr wrap="square" anchor="ctr">
            <a:spAutoFit/>
          </a:bodyPr>
          <a:lstStyle/>
          <a:p>
            <a:pPr algn="ctr">
              <a:defRPr sz="1300" b="1">
                <a:solidFill>
                  <a:srgbClr val="15B589"/>
                </a:solidFill>
                <a:latin typeface="Calibri"/>
              </a:defRPr>
            </a:pPr>
            <a:r>
              <a:t>01</a:t>
            </a:r>
          </a:p>
        </p:txBody>
      </p:sp>
      <p:sp>
        <p:nvSpPr>
          <p:cNvPr id="9" name="TextBox 8"/>
          <p:cNvSpPr txBox="1"/>
          <p:nvPr/>
        </p:nvSpPr>
        <p:spPr>
          <a:xfrm>
            <a:off x="1499616" y="2331720"/>
            <a:ext cx="2448458" cy="347472"/>
          </a:xfrm>
          <a:prstGeom prst="rect">
            <a:avLst/>
          </a:prstGeom>
          <a:noFill/>
        </p:spPr>
        <p:txBody>
          <a:bodyPr wrap="square" anchor="t">
            <a:spAutoFit/>
          </a:bodyPr>
          <a:lstStyle/>
          <a:p>
            <a:pPr algn="l">
              <a:defRPr sz="1700" b="1">
                <a:solidFill>
                  <a:srgbClr val="102C3C"/>
                </a:solidFill>
                <a:latin typeface="Calibri"/>
              </a:defRPr>
            </a:pPr>
            <a:r>
              <a:t>Ruta de migración</a:t>
            </a:r>
          </a:p>
        </p:txBody>
      </p:sp>
      <p:sp>
        <p:nvSpPr>
          <p:cNvPr id="10" name="TextBox 9"/>
          <p:cNvSpPr txBox="1"/>
          <p:nvPr/>
        </p:nvSpPr>
        <p:spPr>
          <a:xfrm>
            <a:off x="1499616" y="2679192"/>
            <a:ext cx="2448458" cy="731520"/>
          </a:xfrm>
          <a:prstGeom prst="rect">
            <a:avLst/>
          </a:prstGeom>
          <a:noFill/>
        </p:spPr>
        <p:txBody>
          <a:bodyPr wrap="square" anchor="t">
            <a:spAutoFit/>
          </a:bodyPr>
          <a:lstStyle/>
          <a:p>
            <a:pPr algn="l">
              <a:defRPr sz="1300" b="0">
                <a:solidFill>
                  <a:srgbClr val="5A7281"/>
                </a:solidFill>
                <a:latin typeface="Calibri"/>
              </a:defRPr>
            </a:pPr>
            <a:r>
              <a:t>Selecciona el tramo autorizado</a:t>
            </a:r>
          </a:p>
        </p:txBody>
      </p:sp>
      <p:sp>
        <p:nvSpPr>
          <p:cNvPr id="11" name="Rounded Rectangle 10"/>
          <p:cNvSpPr/>
          <p:nvPr/>
        </p:nvSpPr>
        <p:spPr>
          <a:xfrm>
            <a:off x="4396130" y="2148840"/>
            <a:ext cx="3399434" cy="146304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597298" y="2350008"/>
            <a:ext cx="384048" cy="384048"/>
          </a:xfrm>
          <a:prstGeom prst="roundRect">
            <a:avLst/>
          </a:prstGeom>
          <a:solidFill>
            <a:srgbClr val="E8E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2350008"/>
            <a:ext cx="384048" cy="384048"/>
          </a:xfrm>
          <a:prstGeom prst="rect">
            <a:avLst/>
          </a:prstGeom>
          <a:noFill/>
        </p:spPr>
        <p:txBody>
          <a:bodyPr wrap="square" anchor="ctr">
            <a:spAutoFit/>
          </a:bodyPr>
          <a:lstStyle/>
          <a:p>
            <a:pPr algn="ctr">
              <a:defRPr sz="1300" b="1">
                <a:solidFill>
                  <a:srgbClr val="15B589"/>
                </a:solidFill>
                <a:latin typeface="Calibri"/>
              </a:defRPr>
            </a:pPr>
            <a:r>
              <a:t>02</a:t>
            </a:r>
          </a:p>
        </p:txBody>
      </p:sp>
      <p:sp>
        <p:nvSpPr>
          <p:cNvPr id="14" name="TextBox 13"/>
          <p:cNvSpPr txBox="1"/>
          <p:nvPr/>
        </p:nvSpPr>
        <p:spPr>
          <a:xfrm>
            <a:off x="5145938" y="2331720"/>
            <a:ext cx="2448458" cy="347472"/>
          </a:xfrm>
          <a:prstGeom prst="rect">
            <a:avLst/>
          </a:prstGeom>
          <a:noFill/>
        </p:spPr>
        <p:txBody>
          <a:bodyPr wrap="square" anchor="t">
            <a:spAutoFit/>
          </a:bodyPr>
          <a:lstStyle/>
          <a:p>
            <a:pPr algn="l">
              <a:defRPr sz="1700" b="1">
                <a:solidFill>
                  <a:srgbClr val="102C3C"/>
                </a:solidFill>
                <a:latin typeface="Calibri"/>
              </a:defRPr>
            </a:pPr>
            <a:r>
              <a:t>Confirmación de cambio</a:t>
            </a:r>
          </a:p>
        </p:txBody>
      </p:sp>
      <p:sp>
        <p:nvSpPr>
          <p:cNvPr id="15" name="TextBox 14"/>
          <p:cNvSpPr txBox="1"/>
          <p:nvPr/>
        </p:nvSpPr>
        <p:spPr>
          <a:xfrm>
            <a:off x="5145938" y="2679192"/>
            <a:ext cx="2448458" cy="731520"/>
          </a:xfrm>
          <a:prstGeom prst="rect">
            <a:avLst/>
          </a:prstGeom>
          <a:noFill/>
        </p:spPr>
        <p:txBody>
          <a:bodyPr wrap="square" anchor="t">
            <a:spAutoFit/>
          </a:bodyPr>
          <a:lstStyle/>
          <a:p>
            <a:pPr algn="l">
              <a:defRPr sz="1300" b="0">
                <a:solidFill>
                  <a:srgbClr val="5A7281"/>
                </a:solidFill>
                <a:latin typeface="Calibri"/>
              </a:defRPr>
            </a:pPr>
            <a:r>
              <a:t>Evita ejecuciones reales accidentales</a:t>
            </a:r>
          </a:p>
        </p:txBody>
      </p:sp>
      <p:sp>
        <p:nvSpPr>
          <p:cNvPr id="16" name="Rounded Rectangle 15"/>
          <p:cNvSpPr/>
          <p:nvPr/>
        </p:nvSpPr>
        <p:spPr>
          <a:xfrm>
            <a:off x="8042452" y="2148840"/>
            <a:ext cx="3399434" cy="146304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243620" y="2350008"/>
            <a:ext cx="384048" cy="384048"/>
          </a:xfrm>
          <a:prstGeom prst="roundRect">
            <a:avLst/>
          </a:prstGeom>
          <a:solidFill>
            <a:srgbClr val="E8E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43620" y="2350008"/>
            <a:ext cx="384048" cy="384048"/>
          </a:xfrm>
          <a:prstGeom prst="rect">
            <a:avLst/>
          </a:prstGeom>
          <a:noFill/>
        </p:spPr>
        <p:txBody>
          <a:bodyPr wrap="square" anchor="ctr">
            <a:spAutoFit/>
          </a:bodyPr>
          <a:lstStyle/>
          <a:p>
            <a:pPr algn="ctr">
              <a:defRPr sz="1300" b="1">
                <a:solidFill>
                  <a:srgbClr val="15B589"/>
                </a:solidFill>
                <a:latin typeface="Calibri"/>
              </a:defRPr>
            </a:pPr>
            <a:r>
              <a:t>03</a:t>
            </a:r>
          </a:p>
        </p:txBody>
      </p:sp>
      <p:sp>
        <p:nvSpPr>
          <p:cNvPr id="19" name="TextBox 18"/>
          <p:cNvSpPr txBox="1"/>
          <p:nvPr/>
        </p:nvSpPr>
        <p:spPr>
          <a:xfrm>
            <a:off x="8792260" y="2331720"/>
            <a:ext cx="2448458" cy="347472"/>
          </a:xfrm>
          <a:prstGeom prst="rect">
            <a:avLst/>
          </a:prstGeom>
          <a:noFill/>
        </p:spPr>
        <p:txBody>
          <a:bodyPr wrap="square" anchor="t">
            <a:spAutoFit/>
          </a:bodyPr>
          <a:lstStyle/>
          <a:p>
            <a:pPr algn="l">
              <a:defRPr sz="1700" b="1">
                <a:solidFill>
                  <a:srgbClr val="102C3C"/>
                </a:solidFill>
                <a:latin typeface="Calibri"/>
              </a:defRPr>
            </a:pPr>
            <a:r>
              <a:t>CRQ · Lote · Ambiente</a:t>
            </a:r>
          </a:p>
        </p:txBody>
      </p:sp>
      <p:sp>
        <p:nvSpPr>
          <p:cNvPr id="20" name="TextBox 19"/>
          <p:cNvSpPr txBox="1"/>
          <p:nvPr/>
        </p:nvSpPr>
        <p:spPr>
          <a:xfrm>
            <a:off x="8792260" y="2679192"/>
            <a:ext cx="2448458" cy="731520"/>
          </a:xfrm>
          <a:prstGeom prst="rect">
            <a:avLst/>
          </a:prstGeom>
          <a:noFill/>
        </p:spPr>
        <p:txBody>
          <a:bodyPr wrap="square" anchor="t">
            <a:spAutoFit/>
          </a:bodyPr>
          <a:lstStyle/>
          <a:p>
            <a:pPr algn="l">
              <a:defRPr sz="1300" b="0">
                <a:solidFill>
                  <a:srgbClr val="5A7281"/>
                </a:solidFill>
                <a:latin typeface="Calibri"/>
              </a:defRPr>
            </a:pPr>
            <a:r>
              <a:t>Identifica servidores desde inventario</a:t>
            </a:r>
          </a:p>
        </p:txBody>
      </p:sp>
      <p:sp>
        <p:nvSpPr>
          <p:cNvPr id="21" name="TextBox 20"/>
          <p:cNvSpPr txBox="1"/>
          <p:nvPr/>
        </p:nvSpPr>
        <p:spPr>
          <a:xfrm>
            <a:off x="749808" y="3886200"/>
            <a:ext cx="5486400" cy="274320"/>
          </a:xfrm>
          <a:prstGeom prst="rect">
            <a:avLst/>
          </a:prstGeom>
          <a:noFill/>
        </p:spPr>
        <p:txBody>
          <a:bodyPr wrap="square" anchor="t">
            <a:spAutoFit/>
          </a:bodyPr>
          <a:lstStyle/>
          <a:p>
            <a:pPr algn="l">
              <a:defRPr sz="1200" b="1">
                <a:solidFill>
                  <a:srgbClr val="5A7281"/>
                </a:solidFill>
                <a:latin typeface="Calibri"/>
              </a:defRPr>
            </a:pPr>
            <a:r>
              <a:t>Captura real del Survey de AWX</a:t>
            </a:r>
          </a:p>
        </p:txBody>
      </p:sp>
      <p:sp>
        <p:nvSpPr>
          <p:cNvPr id="22" name="Rounded Rectangle 21"/>
          <p:cNvSpPr/>
          <p:nvPr/>
        </p:nvSpPr>
        <p:spPr>
          <a:xfrm>
            <a:off x="749808" y="4251960"/>
            <a:ext cx="10680192" cy="1828800"/>
          </a:xfrm>
          <a:prstGeom prst="roundRect">
            <a:avLst/>
          </a:prstGeom>
          <a:solidFill>
            <a:srgbClr val="E8E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05840" y="4251960"/>
            <a:ext cx="10149840" cy="1828800"/>
          </a:xfrm>
          <a:prstGeom prst="rect">
            <a:avLst/>
          </a:prstGeom>
          <a:noFill/>
        </p:spPr>
        <p:txBody>
          <a:bodyPr wrap="square" anchor="ctr">
            <a:spAutoFit/>
          </a:bodyPr>
          <a:lstStyle/>
          <a:p>
            <a:pPr algn="ctr">
              <a:defRPr sz="1600" b="1">
                <a:solidFill>
                  <a:srgbClr val="1B3B4C"/>
                </a:solidFill>
                <a:latin typeface="Calibri"/>
              </a:defRPr>
            </a:pPr>
            <a:r>
              <a:t>upgrade_mode · confirmar_cambio_real · upgrade_crq · upgrade_lote · upgrade_ambiente</a:t>
            </a:r>
          </a:p>
        </p:txBody>
      </p:sp>
      <p:sp>
        <p:nvSpPr>
          <p:cNvPr id="24" name="Rectangle 23"/>
          <p:cNvSpPr/>
          <p:nvPr/>
        </p:nvSpPr>
        <p:spPr>
          <a:xfrm>
            <a:off x="749808" y="6437376"/>
            <a:ext cx="10692079" cy="1"/>
          </a:xfrm>
          <a:prstGeom prst="rect">
            <a:avLst/>
          </a:prstGeom>
          <a:solidFill>
            <a:srgbClr val="9AB8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9808" y="6464808"/>
            <a:ext cx="6400800" cy="182880"/>
          </a:xfrm>
          <a:prstGeom prst="rect">
            <a:avLst/>
          </a:prstGeom>
          <a:noFill/>
        </p:spPr>
        <p:txBody>
          <a:bodyPr wrap="square" anchor="t">
            <a:spAutoFit/>
          </a:bodyPr>
          <a:lstStyle/>
          <a:p>
            <a:pPr algn="l">
              <a:defRPr sz="800" b="1">
                <a:solidFill>
                  <a:srgbClr val="5A7281"/>
                </a:solidFill>
                <a:latin typeface="Calibri"/>
              </a:defRPr>
            </a:pPr>
            <a:r>
              <a:t>G E O P O S   /   I N F R A E S T R U C T U R A   L I N U X</a:t>
            </a:r>
          </a:p>
        </p:txBody>
      </p:sp>
      <p:sp>
        <p:nvSpPr>
          <p:cNvPr id="26" name="TextBox 25"/>
          <p:cNvSpPr txBox="1"/>
          <p:nvPr/>
        </p:nvSpPr>
        <p:spPr>
          <a:xfrm>
            <a:off x="10820095" y="6455664"/>
            <a:ext cx="822960" cy="182880"/>
          </a:xfrm>
          <a:prstGeom prst="rect">
            <a:avLst/>
          </a:prstGeom>
          <a:noFill/>
        </p:spPr>
        <p:txBody>
          <a:bodyPr wrap="square" anchor="t">
            <a:spAutoFit/>
          </a:bodyPr>
          <a:lstStyle/>
          <a:p>
            <a:pPr algn="r">
              <a:defRPr sz="900" b="1">
                <a:solidFill>
                  <a:srgbClr val="5A7281"/>
                </a:solidFill>
                <a:latin typeface="Calibri"/>
              </a:defRPr>
            </a:pPr>
            <a:r>
              <a:t>05  /  12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15B5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402336"/>
            <a:ext cx="9144000" cy="274320"/>
          </a:xfrm>
          <a:prstGeom prst="rect">
            <a:avLst/>
          </a:prstGeom>
          <a:noFill/>
        </p:spPr>
        <p:txBody>
          <a:bodyPr wrap="square" anchor="t">
            <a:spAutoFit/>
          </a:bodyPr>
          <a:lstStyle/>
          <a:p>
            <a:pPr algn="l">
              <a:defRPr sz="1400" b="1">
                <a:solidFill>
                  <a:srgbClr val="15B589"/>
                </a:solidFill>
                <a:latin typeface="Calibri"/>
              </a:defRPr>
            </a:pPr>
            <a:r>
              <a:t>05 / ORQUESTACIÓN AWX</a:t>
            </a:r>
          </a:p>
        </p:txBody>
      </p:sp>
      <p:sp>
        <p:nvSpPr>
          <p:cNvPr id="4" name="TextBox 3"/>
          <p:cNvSpPr txBox="1"/>
          <p:nvPr/>
        </p:nvSpPr>
        <p:spPr>
          <a:xfrm>
            <a:off x="749808" y="822960"/>
            <a:ext cx="10881360" cy="603504"/>
          </a:xfrm>
          <a:prstGeom prst="rect">
            <a:avLst/>
          </a:prstGeom>
          <a:noFill/>
        </p:spPr>
        <p:txBody>
          <a:bodyPr wrap="square" anchor="t">
            <a:spAutoFit/>
          </a:bodyPr>
          <a:lstStyle/>
          <a:p>
            <a:pPr algn="l">
              <a:defRPr sz="3000" b="1">
                <a:solidFill>
                  <a:srgbClr val="102C3C"/>
                </a:solidFill>
                <a:latin typeface="Calibri"/>
              </a:defRPr>
            </a:pPr>
            <a:r>
              <a:t>Un workflow de cinco etapas hace visible el proceso</a:t>
            </a:r>
          </a:p>
        </p:txBody>
      </p:sp>
      <p:sp>
        <p:nvSpPr>
          <p:cNvPr id="5" name="TextBox 4"/>
          <p:cNvSpPr txBox="1"/>
          <p:nvPr/>
        </p:nvSpPr>
        <p:spPr>
          <a:xfrm>
            <a:off x="749808" y="1481328"/>
            <a:ext cx="10607040" cy="411480"/>
          </a:xfrm>
          <a:prstGeom prst="rect">
            <a:avLst/>
          </a:prstGeom>
          <a:noFill/>
        </p:spPr>
        <p:txBody>
          <a:bodyPr wrap="square" anchor="t">
            <a:spAutoFit/>
          </a:bodyPr>
          <a:lstStyle/>
          <a:p>
            <a:pPr algn="l">
              <a:defRPr sz="1500" b="0">
                <a:solidFill>
                  <a:srgbClr val="5A7281"/>
                </a:solidFill>
                <a:latin typeface="Calibri"/>
              </a:defRPr>
            </a:pPr>
            <a:r>
              <a:t>Separar preparación y aplicación permite ubicar un control de aprobación antes del cambio.</a:t>
            </a:r>
          </a:p>
        </p:txBody>
      </p:sp>
      <p:sp>
        <p:nvSpPr>
          <p:cNvPr id="6" name="Rounded Rectangle 5"/>
          <p:cNvSpPr/>
          <p:nvPr/>
        </p:nvSpPr>
        <p:spPr>
          <a:xfrm>
            <a:off x="749808" y="2194560"/>
            <a:ext cx="1984248" cy="1371600"/>
          </a:xfrm>
          <a:prstGeom prst="roundRect">
            <a:avLst/>
          </a:prstGeom>
          <a:solidFill>
            <a:srgbClr val="E8E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14400" y="2359152"/>
            <a:ext cx="365760" cy="365760"/>
          </a:xfrm>
          <a:prstGeom prst="roundRect">
            <a:avLst/>
          </a:prstGeom>
          <a:solidFill>
            <a:srgbClr val="1B3B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359152"/>
            <a:ext cx="365760" cy="365760"/>
          </a:xfrm>
          <a:prstGeom prst="rect">
            <a:avLst/>
          </a:prstGeom>
          <a:noFill/>
        </p:spPr>
        <p:txBody>
          <a:bodyPr wrap="square" anchor="ctr">
            <a:spAutoFit/>
          </a:bodyPr>
          <a:lstStyle/>
          <a:p>
            <a:pPr algn="ctr">
              <a:defRPr sz="1400" b="1">
                <a:solidFill>
                  <a:srgbClr val="FFFFFF"/>
                </a:solidFill>
                <a:latin typeface="Calibri"/>
              </a:defRPr>
            </a:pPr>
            <a:r>
              <a:t>1</a:t>
            </a:r>
          </a:p>
        </p:txBody>
      </p:sp>
      <p:sp>
        <p:nvSpPr>
          <p:cNvPr id="9" name="TextBox 8"/>
          <p:cNvSpPr txBox="1"/>
          <p:nvPr/>
        </p:nvSpPr>
        <p:spPr>
          <a:xfrm>
            <a:off x="914400" y="2834640"/>
            <a:ext cx="1655064" cy="274320"/>
          </a:xfrm>
          <a:prstGeom prst="rect">
            <a:avLst/>
          </a:prstGeom>
          <a:noFill/>
        </p:spPr>
        <p:txBody>
          <a:bodyPr wrap="square" anchor="t">
            <a:spAutoFit/>
          </a:bodyPr>
          <a:lstStyle/>
          <a:p>
            <a:pPr algn="l">
              <a:defRPr sz="1300" b="1">
                <a:solidFill>
                  <a:srgbClr val="102C3C"/>
                </a:solidFill>
                <a:latin typeface="Calibri"/>
              </a:defRPr>
            </a:pPr>
            <a:r>
              <a:t>PRECHECK</a:t>
            </a:r>
          </a:p>
        </p:txBody>
      </p:sp>
      <p:sp>
        <p:nvSpPr>
          <p:cNvPr id="10" name="TextBox 9"/>
          <p:cNvSpPr txBox="1"/>
          <p:nvPr/>
        </p:nvSpPr>
        <p:spPr>
          <a:xfrm>
            <a:off x="914400" y="3127248"/>
            <a:ext cx="1655064" cy="402336"/>
          </a:xfrm>
          <a:prstGeom prst="rect">
            <a:avLst/>
          </a:prstGeom>
          <a:noFill/>
        </p:spPr>
        <p:txBody>
          <a:bodyPr wrap="square" anchor="t">
            <a:spAutoFit/>
          </a:bodyPr>
          <a:lstStyle/>
          <a:p>
            <a:pPr algn="l">
              <a:defRPr sz="1050" b="0">
                <a:solidFill>
                  <a:srgbClr val="5A7281"/>
                </a:solidFill>
                <a:latin typeface="Calibri"/>
              </a:defRPr>
            </a:pPr>
            <a:r>
              <a:t>Condiciones iniciales</a:t>
            </a:r>
          </a:p>
        </p:txBody>
      </p:sp>
      <p:sp>
        <p:nvSpPr>
          <p:cNvPr id="11" name="Rounded Rectangle 10"/>
          <p:cNvSpPr/>
          <p:nvPr/>
        </p:nvSpPr>
        <p:spPr>
          <a:xfrm>
            <a:off x="2889504" y="2194560"/>
            <a:ext cx="1984248" cy="1371600"/>
          </a:xfrm>
          <a:prstGeom prst="roundRect">
            <a:avLst/>
          </a:prstGeom>
          <a:solidFill>
            <a:srgbClr val="E8E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054096" y="2359152"/>
            <a:ext cx="365760" cy="365760"/>
          </a:xfrm>
          <a:prstGeom prst="roundRect">
            <a:avLst/>
          </a:prstGeom>
          <a:solidFill>
            <a:srgbClr val="1B3B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054096" y="2359152"/>
            <a:ext cx="365760" cy="365760"/>
          </a:xfrm>
          <a:prstGeom prst="rect">
            <a:avLst/>
          </a:prstGeom>
          <a:noFill/>
        </p:spPr>
        <p:txBody>
          <a:bodyPr wrap="square" anchor="ctr">
            <a:spAutoFit/>
          </a:bodyPr>
          <a:lstStyle/>
          <a:p>
            <a:pPr algn="ctr">
              <a:defRPr sz="1400" b="1">
                <a:solidFill>
                  <a:srgbClr val="FFFFFF"/>
                </a:solidFill>
                <a:latin typeface="Calibri"/>
              </a:defRPr>
            </a:pPr>
            <a:r>
              <a:t>2</a:t>
            </a:r>
          </a:p>
        </p:txBody>
      </p:sp>
      <p:sp>
        <p:nvSpPr>
          <p:cNvPr id="14" name="TextBox 13"/>
          <p:cNvSpPr txBox="1"/>
          <p:nvPr/>
        </p:nvSpPr>
        <p:spPr>
          <a:xfrm>
            <a:off x="3054096" y="2834640"/>
            <a:ext cx="1655064" cy="274320"/>
          </a:xfrm>
          <a:prstGeom prst="rect">
            <a:avLst/>
          </a:prstGeom>
          <a:noFill/>
        </p:spPr>
        <p:txBody>
          <a:bodyPr wrap="square" anchor="t">
            <a:spAutoFit/>
          </a:bodyPr>
          <a:lstStyle/>
          <a:p>
            <a:pPr algn="l">
              <a:defRPr sz="1300" b="1">
                <a:solidFill>
                  <a:srgbClr val="102C3C"/>
                </a:solidFill>
                <a:latin typeface="Calibri"/>
              </a:defRPr>
            </a:pPr>
            <a:r>
              <a:t>PREPARAR</a:t>
            </a:r>
          </a:p>
        </p:txBody>
      </p:sp>
      <p:sp>
        <p:nvSpPr>
          <p:cNvPr id="15" name="TextBox 14"/>
          <p:cNvSpPr txBox="1"/>
          <p:nvPr/>
        </p:nvSpPr>
        <p:spPr>
          <a:xfrm>
            <a:off x="3054096" y="3127248"/>
            <a:ext cx="1655064" cy="402336"/>
          </a:xfrm>
          <a:prstGeom prst="rect">
            <a:avLst/>
          </a:prstGeom>
          <a:noFill/>
        </p:spPr>
        <p:txBody>
          <a:bodyPr wrap="square" anchor="t">
            <a:spAutoFit/>
          </a:bodyPr>
          <a:lstStyle/>
          <a:p>
            <a:pPr algn="l">
              <a:defRPr sz="1050" b="0">
                <a:solidFill>
                  <a:srgbClr val="5A7281"/>
                </a:solidFill>
                <a:latin typeface="Calibri"/>
              </a:defRPr>
            </a:pPr>
            <a:r>
              <a:t>Repositorios internos</a:t>
            </a:r>
          </a:p>
        </p:txBody>
      </p:sp>
      <p:sp>
        <p:nvSpPr>
          <p:cNvPr id="16" name="Rounded Rectangle 15"/>
          <p:cNvSpPr/>
          <p:nvPr/>
        </p:nvSpPr>
        <p:spPr>
          <a:xfrm>
            <a:off x="5029200" y="2194560"/>
            <a:ext cx="1984248" cy="1371600"/>
          </a:xfrm>
          <a:prstGeom prst="roundRect">
            <a:avLst/>
          </a:prstGeom>
          <a:solidFill>
            <a:srgbClr val="DAF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193792" y="2359152"/>
            <a:ext cx="365760" cy="365760"/>
          </a:xfrm>
          <a:prstGeom prst="roundRect">
            <a:avLst/>
          </a:prstGeom>
          <a:solidFill>
            <a:srgbClr val="1B3B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93792" y="2359152"/>
            <a:ext cx="365760" cy="365760"/>
          </a:xfrm>
          <a:prstGeom prst="rect">
            <a:avLst/>
          </a:prstGeom>
          <a:noFill/>
        </p:spPr>
        <p:txBody>
          <a:bodyPr wrap="square" anchor="ctr">
            <a:spAutoFit/>
          </a:bodyPr>
          <a:lstStyle/>
          <a:p>
            <a:pPr algn="ctr">
              <a:defRPr sz="1400" b="1">
                <a:solidFill>
                  <a:srgbClr val="FFFFFF"/>
                </a:solidFill>
                <a:latin typeface="Calibri"/>
              </a:defRPr>
            </a:pPr>
            <a:r>
              <a:t>3</a:t>
            </a:r>
          </a:p>
        </p:txBody>
      </p:sp>
      <p:sp>
        <p:nvSpPr>
          <p:cNvPr id="19" name="TextBox 18"/>
          <p:cNvSpPr txBox="1"/>
          <p:nvPr/>
        </p:nvSpPr>
        <p:spPr>
          <a:xfrm>
            <a:off x="5193792" y="2834640"/>
            <a:ext cx="1655064" cy="274320"/>
          </a:xfrm>
          <a:prstGeom prst="rect">
            <a:avLst/>
          </a:prstGeom>
          <a:noFill/>
        </p:spPr>
        <p:txBody>
          <a:bodyPr wrap="square" anchor="t">
            <a:spAutoFit/>
          </a:bodyPr>
          <a:lstStyle/>
          <a:p>
            <a:pPr algn="l">
              <a:defRPr sz="1300" b="1">
                <a:solidFill>
                  <a:srgbClr val="102C3C"/>
                </a:solidFill>
                <a:latin typeface="Calibri"/>
              </a:defRPr>
            </a:pPr>
            <a:r>
              <a:t>APLICAR</a:t>
            </a:r>
          </a:p>
        </p:txBody>
      </p:sp>
      <p:sp>
        <p:nvSpPr>
          <p:cNvPr id="20" name="TextBox 19"/>
          <p:cNvSpPr txBox="1"/>
          <p:nvPr/>
        </p:nvSpPr>
        <p:spPr>
          <a:xfrm>
            <a:off x="5193792" y="3127248"/>
            <a:ext cx="1655064" cy="402336"/>
          </a:xfrm>
          <a:prstGeom prst="rect">
            <a:avLst/>
          </a:prstGeom>
          <a:noFill/>
        </p:spPr>
        <p:txBody>
          <a:bodyPr wrap="square" anchor="t">
            <a:spAutoFit/>
          </a:bodyPr>
          <a:lstStyle/>
          <a:p>
            <a:pPr algn="l">
              <a:defRPr sz="1050" b="0">
                <a:solidFill>
                  <a:srgbClr val="5A7281"/>
                </a:solidFill>
                <a:latin typeface="Calibri"/>
              </a:defRPr>
            </a:pPr>
            <a:r>
              <a:t>Migración + reinicio</a:t>
            </a:r>
          </a:p>
        </p:txBody>
      </p:sp>
      <p:sp>
        <p:nvSpPr>
          <p:cNvPr id="21" name="Rounded Rectangle 20"/>
          <p:cNvSpPr/>
          <p:nvPr/>
        </p:nvSpPr>
        <p:spPr>
          <a:xfrm>
            <a:off x="7168896" y="2194560"/>
            <a:ext cx="1984248" cy="1371600"/>
          </a:xfrm>
          <a:prstGeom prst="roundRect">
            <a:avLst/>
          </a:prstGeom>
          <a:solidFill>
            <a:srgbClr val="E8E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333488" y="2359152"/>
            <a:ext cx="365760" cy="365760"/>
          </a:xfrm>
          <a:prstGeom prst="roundRect">
            <a:avLst/>
          </a:prstGeom>
          <a:solidFill>
            <a:srgbClr val="1B3B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33488" y="2359152"/>
            <a:ext cx="365760" cy="365760"/>
          </a:xfrm>
          <a:prstGeom prst="rect">
            <a:avLst/>
          </a:prstGeom>
          <a:noFill/>
        </p:spPr>
        <p:txBody>
          <a:bodyPr wrap="square" anchor="ctr">
            <a:spAutoFit/>
          </a:bodyPr>
          <a:lstStyle/>
          <a:p>
            <a:pPr algn="ctr">
              <a:defRPr sz="1400" b="1">
                <a:solidFill>
                  <a:srgbClr val="FFFFFF"/>
                </a:solidFill>
                <a:latin typeface="Calibri"/>
              </a:defRPr>
            </a:pPr>
            <a:r>
              <a:t>4</a:t>
            </a:r>
          </a:p>
        </p:txBody>
      </p:sp>
      <p:sp>
        <p:nvSpPr>
          <p:cNvPr id="24" name="TextBox 23"/>
          <p:cNvSpPr txBox="1"/>
          <p:nvPr/>
        </p:nvSpPr>
        <p:spPr>
          <a:xfrm>
            <a:off x="7333488" y="2834640"/>
            <a:ext cx="1655064" cy="274320"/>
          </a:xfrm>
          <a:prstGeom prst="rect">
            <a:avLst/>
          </a:prstGeom>
          <a:noFill/>
        </p:spPr>
        <p:txBody>
          <a:bodyPr wrap="square" anchor="t">
            <a:spAutoFit/>
          </a:bodyPr>
          <a:lstStyle/>
          <a:p>
            <a:pPr algn="l">
              <a:defRPr sz="1300" b="1">
                <a:solidFill>
                  <a:srgbClr val="102C3C"/>
                </a:solidFill>
                <a:latin typeface="Calibri"/>
              </a:defRPr>
            </a:pPr>
            <a:r>
              <a:t>REPORTAR</a:t>
            </a:r>
          </a:p>
        </p:txBody>
      </p:sp>
      <p:sp>
        <p:nvSpPr>
          <p:cNvPr id="25" name="TextBox 24"/>
          <p:cNvSpPr txBox="1"/>
          <p:nvPr/>
        </p:nvSpPr>
        <p:spPr>
          <a:xfrm>
            <a:off x="7333488" y="3127248"/>
            <a:ext cx="1655064" cy="402336"/>
          </a:xfrm>
          <a:prstGeom prst="rect">
            <a:avLst/>
          </a:prstGeom>
          <a:noFill/>
        </p:spPr>
        <p:txBody>
          <a:bodyPr wrap="square" anchor="t">
            <a:spAutoFit/>
          </a:bodyPr>
          <a:lstStyle/>
          <a:p>
            <a:pPr algn="l">
              <a:defRPr sz="1050" b="0">
                <a:solidFill>
                  <a:srgbClr val="5A7281"/>
                </a:solidFill>
                <a:latin typeface="Calibri"/>
              </a:defRPr>
            </a:pPr>
            <a:r>
              <a:t>Resultado del lote</a:t>
            </a:r>
          </a:p>
        </p:txBody>
      </p:sp>
      <p:sp>
        <p:nvSpPr>
          <p:cNvPr id="26" name="Rounded Rectangle 25"/>
          <p:cNvSpPr/>
          <p:nvPr/>
        </p:nvSpPr>
        <p:spPr>
          <a:xfrm>
            <a:off x="9308592" y="2194560"/>
            <a:ext cx="1984248" cy="1371600"/>
          </a:xfrm>
          <a:prstGeom prst="roundRect">
            <a:avLst/>
          </a:prstGeom>
          <a:solidFill>
            <a:srgbClr val="E8E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473184" y="2359152"/>
            <a:ext cx="365760" cy="365760"/>
          </a:xfrm>
          <a:prstGeom prst="roundRect">
            <a:avLst/>
          </a:prstGeom>
          <a:solidFill>
            <a:srgbClr val="1B3B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473184" y="2359152"/>
            <a:ext cx="365760" cy="365760"/>
          </a:xfrm>
          <a:prstGeom prst="rect">
            <a:avLst/>
          </a:prstGeom>
          <a:noFill/>
        </p:spPr>
        <p:txBody>
          <a:bodyPr wrap="square" anchor="ctr">
            <a:spAutoFit/>
          </a:bodyPr>
          <a:lstStyle/>
          <a:p>
            <a:pPr algn="ctr">
              <a:defRPr sz="1400" b="1">
                <a:solidFill>
                  <a:srgbClr val="FFFFFF"/>
                </a:solidFill>
                <a:latin typeface="Calibri"/>
              </a:defRPr>
            </a:pPr>
            <a:r>
              <a:t>5</a:t>
            </a:r>
          </a:p>
        </p:txBody>
      </p:sp>
      <p:sp>
        <p:nvSpPr>
          <p:cNvPr id="29" name="TextBox 28"/>
          <p:cNvSpPr txBox="1"/>
          <p:nvPr/>
        </p:nvSpPr>
        <p:spPr>
          <a:xfrm>
            <a:off x="9473184" y="2834640"/>
            <a:ext cx="1655064" cy="274320"/>
          </a:xfrm>
          <a:prstGeom prst="rect">
            <a:avLst/>
          </a:prstGeom>
          <a:noFill/>
        </p:spPr>
        <p:txBody>
          <a:bodyPr wrap="square" anchor="t">
            <a:spAutoFit/>
          </a:bodyPr>
          <a:lstStyle/>
          <a:p>
            <a:pPr algn="l">
              <a:defRPr sz="1300" b="1">
                <a:solidFill>
                  <a:srgbClr val="102C3C"/>
                </a:solidFill>
                <a:latin typeface="Calibri"/>
              </a:defRPr>
            </a:pPr>
            <a:r>
              <a:t>SINCRONIZAR</a:t>
            </a:r>
          </a:p>
        </p:txBody>
      </p:sp>
      <p:sp>
        <p:nvSpPr>
          <p:cNvPr id="30" name="TextBox 29"/>
          <p:cNvSpPr txBox="1"/>
          <p:nvPr/>
        </p:nvSpPr>
        <p:spPr>
          <a:xfrm>
            <a:off x="9473184" y="3127248"/>
            <a:ext cx="1655064" cy="402336"/>
          </a:xfrm>
          <a:prstGeom prst="rect">
            <a:avLst/>
          </a:prstGeom>
          <a:noFill/>
        </p:spPr>
        <p:txBody>
          <a:bodyPr wrap="square" anchor="t">
            <a:spAutoFit/>
          </a:bodyPr>
          <a:lstStyle/>
          <a:p>
            <a:pPr algn="l">
              <a:defRPr sz="1050" b="0">
                <a:solidFill>
                  <a:srgbClr val="5A7281"/>
                </a:solidFill>
                <a:latin typeface="Calibri"/>
              </a:defRPr>
            </a:pPr>
            <a:r>
              <a:t>Copia a SharePoint</a:t>
            </a:r>
          </a:p>
        </p:txBody>
      </p:sp>
      <p:sp>
        <p:nvSpPr>
          <p:cNvPr id="31" name="TextBox 30"/>
          <p:cNvSpPr txBox="1"/>
          <p:nvPr/>
        </p:nvSpPr>
        <p:spPr>
          <a:xfrm>
            <a:off x="749808" y="3886200"/>
            <a:ext cx="10515600" cy="274320"/>
          </a:xfrm>
          <a:prstGeom prst="rect">
            <a:avLst/>
          </a:prstGeom>
          <a:noFill/>
        </p:spPr>
        <p:txBody>
          <a:bodyPr wrap="square" anchor="t">
            <a:spAutoFit/>
          </a:bodyPr>
          <a:lstStyle/>
          <a:p>
            <a:pPr algn="l">
              <a:defRPr sz="1300" b="1">
                <a:solidFill>
                  <a:srgbClr val="15B589"/>
                </a:solidFill>
                <a:latin typeface="Calibri"/>
              </a:defRPr>
            </a:pPr>
            <a:r>
              <a:t>Aprobación humana opcional entre “Preparar” y “Aplicar”</a:t>
            </a:r>
          </a:p>
        </p:txBody>
      </p:sp>
      <p:sp>
        <p:nvSpPr>
          <p:cNvPr id="32" name="TextBox 31"/>
          <p:cNvSpPr txBox="1"/>
          <p:nvPr/>
        </p:nvSpPr>
        <p:spPr>
          <a:xfrm>
            <a:off x="749808" y="4251960"/>
            <a:ext cx="7315200" cy="274320"/>
          </a:xfrm>
          <a:prstGeom prst="rect">
            <a:avLst/>
          </a:prstGeom>
          <a:noFill/>
        </p:spPr>
        <p:txBody>
          <a:bodyPr wrap="square" anchor="t">
            <a:spAutoFit/>
          </a:bodyPr>
          <a:lstStyle/>
          <a:p>
            <a:pPr algn="l">
              <a:defRPr sz="1100" b="0">
                <a:solidFill>
                  <a:srgbClr val="5A7281"/>
                </a:solidFill>
                <a:latin typeface="Calibri"/>
              </a:defRPr>
            </a:pPr>
            <a:r>
              <a:t>Captura real del workflow configurado en AWX</a:t>
            </a:r>
          </a:p>
        </p:txBody>
      </p:sp>
      <p:sp>
        <p:nvSpPr>
          <p:cNvPr id="33" name="Rounded Rectangle 32"/>
          <p:cNvSpPr/>
          <p:nvPr/>
        </p:nvSpPr>
        <p:spPr>
          <a:xfrm>
            <a:off x="749808" y="4572000"/>
            <a:ext cx="10680192" cy="1463040"/>
          </a:xfrm>
          <a:prstGeom prst="roundRect">
            <a:avLst/>
          </a:prstGeom>
          <a:solidFill>
            <a:srgbClr val="E8E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49808" y="6437376"/>
            <a:ext cx="10692079" cy="1"/>
          </a:xfrm>
          <a:prstGeom prst="rect">
            <a:avLst/>
          </a:prstGeom>
          <a:solidFill>
            <a:srgbClr val="9AB8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49808" y="6464808"/>
            <a:ext cx="6400800" cy="182880"/>
          </a:xfrm>
          <a:prstGeom prst="rect">
            <a:avLst/>
          </a:prstGeom>
          <a:noFill/>
        </p:spPr>
        <p:txBody>
          <a:bodyPr wrap="square" anchor="t">
            <a:spAutoFit/>
          </a:bodyPr>
          <a:lstStyle/>
          <a:p>
            <a:pPr algn="l">
              <a:defRPr sz="800" b="1">
                <a:solidFill>
                  <a:srgbClr val="5A7281"/>
                </a:solidFill>
                <a:latin typeface="Calibri"/>
              </a:defRPr>
            </a:pPr>
            <a:r>
              <a:t>G E O P O S   /   I N F R A E S T R U C T U R A   L I N U X</a:t>
            </a:r>
          </a:p>
        </p:txBody>
      </p:sp>
      <p:sp>
        <p:nvSpPr>
          <p:cNvPr id="36" name="TextBox 35"/>
          <p:cNvSpPr txBox="1"/>
          <p:nvPr/>
        </p:nvSpPr>
        <p:spPr>
          <a:xfrm>
            <a:off x="10820095" y="6455664"/>
            <a:ext cx="822960" cy="182880"/>
          </a:xfrm>
          <a:prstGeom prst="rect">
            <a:avLst/>
          </a:prstGeom>
          <a:noFill/>
        </p:spPr>
        <p:txBody>
          <a:bodyPr wrap="square" anchor="t">
            <a:spAutoFit/>
          </a:bodyPr>
          <a:lstStyle/>
          <a:p>
            <a:pPr algn="r">
              <a:defRPr sz="900" b="1">
                <a:solidFill>
                  <a:srgbClr val="5A7281"/>
                </a:solidFill>
                <a:latin typeface="Calibri"/>
              </a:defRPr>
            </a:pPr>
            <a:r>
              <a:t>06  /  12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15B5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402336"/>
            <a:ext cx="9144000" cy="274320"/>
          </a:xfrm>
          <a:prstGeom prst="rect">
            <a:avLst/>
          </a:prstGeom>
          <a:noFill/>
        </p:spPr>
        <p:txBody>
          <a:bodyPr wrap="square" anchor="t">
            <a:spAutoFit/>
          </a:bodyPr>
          <a:lstStyle/>
          <a:p>
            <a:pPr algn="l">
              <a:defRPr sz="1400" b="1">
                <a:solidFill>
                  <a:srgbClr val="15B589"/>
                </a:solidFill>
                <a:latin typeface="Calibri"/>
              </a:defRPr>
            </a:pPr>
            <a:r>
              <a:t>06 / EJECUCIÓN CONTROLADA</a:t>
            </a:r>
          </a:p>
        </p:txBody>
      </p:sp>
      <p:sp>
        <p:nvSpPr>
          <p:cNvPr id="4" name="TextBox 3"/>
          <p:cNvSpPr txBox="1"/>
          <p:nvPr/>
        </p:nvSpPr>
        <p:spPr>
          <a:xfrm>
            <a:off x="749808" y="822960"/>
            <a:ext cx="10881360" cy="603504"/>
          </a:xfrm>
          <a:prstGeom prst="rect">
            <a:avLst/>
          </a:prstGeom>
          <a:noFill/>
        </p:spPr>
        <p:txBody>
          <a:bodyPr wrap="square" anchor="t">
            <a:spAutoFit/>
          </a:bodyPr>
          <a:lstStyle/>
          <a:p>
            <a:pPr algn="l">
              <a:defRPr sz="3000" b="1">
                <a:solidFill>
                  <a:srgbClr val="102C3C"/>
                </a:solidFill>
                <a:latin typeface="Calibri"/>
              </a:defRPr>
            </a:pPr>
            <a:r>
              <a:t>Cada servidor recorre el mismo ciclo de validación</a:t>
            </a:r>
          </a:p>
        </p:txBody>
      </p:sp>
      <p:sp>
        <p:nvSpPr>
          <p:cNvPr id="5" name="TextBox 4"/>
          <p:cNvSpPr txBox="1"/>
          <p:nvPr/>
        </p:nvSpPr>
        <p:spPr>
          <a:xfrm>
            <a:off x="749808" y="1481328"/>
            <a:ext cx="10607040" cy="411480"/>
          </a:xfrm>
          <a:prstGeom prst="rect">
            <a:avLst/>
          </a:prstGeom>
          <a:noFill/>
        </p:spPr>
        <p:txBody>
          <a:bodyPr wrap="square" anchor="t">
            <a:spAutoFit/>
          </a:bodyPr>
          <a:lstStyle/>
          <a:p>
            <a:pPr algn="l">
              <a:defRPr sz="1500" b="0">
                <a:solidFill>
                  <a:srgbClr val="5A7281"/>
                </a:solidFill>
                <a:latin typeface="Calibri"/>
              </a:defRPr>
            </a:pPr>
            <a:r>
              <a:t>El proceso avanza sólo cuando se cumplen las condiciones de la etapa actual.</a:t>
            </a:r>
          </a:p>
        </p:txBody>
      </p:sp>
      <p:sp>
        <p:nvSpPr>
          <p:cNvPr id="6" name="Rounded Rectangle 5"/>
          <p:cNvSpPr/>
          <p:nvPr/>
        </p:nvSpPr>
        <p:spPr>
          <a:xfrm>
            <a:off x="749808" y="2103120"/>
            <a:ext cx="2487853" cy="16459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50976" y="2304288"/>
            <a:ext cx="384048" cy="384048"/>
          </a:xfrm>
          <a:prstGeom prst="roundRect">
            <a:avLst/>
          </a:prstGeom>
          <a:solidFill>
            <a:srgbClr val="E8E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50976" y="2304288"/>
            <a:ext cx="384048" cy="384048"/>
          </a:xfrm>
          <a:prstGeom prst="rect">
            <a:avLst/>
          </a:prstGeom>
          <a:noFill/>
        </p:spPr>
        <p:txBody>
          <a:bodyPr wrap="square" anchor="ctr">
            <a:spAutoFit/>
          </a:bodyPr>
          <a:lstStyle/>
          <a:p>
            <a:pPr algn="ctr">
              <a:defRPr sz="1300" b="1">
                <a:solidFill>
                  <a:srgbClr val="15B589"/>
                </a:solidFill>
                <a:latin typeface="Calibri"/>
              </a:defRPr>
            </a:pPr>
            <a:r>
              <a:t>1</a:t>
            </a:r>
          </a:p>
        </p:txBody>
      </p:sp>
      <p:sp>
        <p:nvSpPr>
          <p:cNvPr id="9" name="TextBox 8"/>
          <p:cNvSpPr txBox="1"/>
          <p:nvPr/>
        </p:nvSpPr>
        <p:spPr>
          <a:xfrm>
            <a:off x="1499616" y="2286000"/>
            <a:ext cx="1536877" cy="347472"/>
          </a:xfrm>
          <a:prstGeom prst="rect">
            <a:avLst/>
          </a:prstGeom>
          <a:noFill/>
        </p:spPr>
        <p:txBody>
          <a:bodyPr wrap="square" anchor="t">
            <a:spAutoFit/>
          </a:bodyPr>
          <a:lstStyle/>
          <a:p>
            <a:pPr algn="l">
              <a:defRPr sz="1700" b="1">
                <a:solidFill>
                  <a:srgbClr val="102C3C"/>
                </a:solidFill>
                <a:latin typeface="Calibri"/>
              </a:defRPr>
            </a:pPr>
            <a:r>
              <a:t>Revisar</a:t>
            </a:r>
          </a:p>
        </p:txBody>
      </p:sp>
      <p:sp>
        <p:nvSpPr>
          <p:cNvPr id="10" name="TextBox 9"/>
          <p:cNvSpPr txBox="1"/>
          <p:nvPr/>
        </p:nvSpPr>
        <p:spPr>
          <a:xfrm>
            <a:off x="1499616" y="2633472"/>
            <a:ext cx="1536877" cy="914400"/>
          </a:xfrm>
          <a:prstGeom prst="rect">
            <a:avLst/>
          </a:prstGeom>
          <a:noFill/>
        </p:spPr>
        <p:txBody>
          <a:bodyPr wrap="square" anchor="t">
            <a:spAutoFit/>
          </a:bodyPr>
          <a:lstStyle/>
          <a:p>
            <a:pPr algn="l">
              <a:defRPr sz="1200" b="0">
                <a:solidFill>
                  <a:srgbClr val="5A7281"/>
                </a:solidFill>
                <a:latin typeface="Calibri"/>
              </a:defRPr>
            </a:pPr>
            <a:r>
              <a:t>Versión, espacio, servicios y conectividad</a:t>
            </a:r>
          </a:p>
        </p:txBody>
      </p:sp>
      <p:sp>
        <p:nvSpPr>
          <p:cNvPr id="11" name="Rounded Rectangle 10"/>
          <p:cNvSpPr/>
          <p:nvPr/>
        </p:nvSpPr>
        <p:spPr>
          <a:xfrm>
            <a:off x="3484549" y="2103120"/>
            <a:ext cx="2487853" cy="16459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685717" y="2304288"/>
            <a:ext cx="384048" cy="384048"/>
          </a:xfrm>
          <a:prstGeom prst="roundRect">
            <a:avLst/>
          </a:prstGeom>
          <a:solidFill>
            <a:srgbClr val="E8E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85717" y="2304288"/>
            <a:ext cx="384048" cy="384048"/>
          </a:xfrm>
          <a:prstGeom prst="rect">
            <a:avLst/>
          </a:prstGeom>
          <a:noFill/>
        </p:spPr>
        <p:txBody>
          <a:bodyPr wrap="square" anchor="ctr">
            <a:spAutoFit/>
          </a:bodyPr>
          <a:lstStyle/>
          <a:p>
            <a:pPr algn="ctr">
              <a:defRPr sz="1300" b="1">
                <a:solidFill>
                  <a:srgbClr val="15B589"/>
                </a:solidFill>
                <a:latin typeface="Calibri"/>
              </a:defRPr>
            </a:pPr>
            <a:r>
              <a:t>2</a:t>
            </a:r>
          </a:p>
        </p:txBody>
      </p:sp>
      <p:sp>
        <p:nvSpPr>
          <p:cNvPr id="14" name="TextBox 13"/>
          <p:cNvSpPr txBox="1"/>
          <p:nvPr/>
        </p:nvSpPr>
        <p:spPr>
          <a:xfrm>
            <a:off x="4234357" y="2286000"/>
            <a:ext cx="1536877" cy="347472"/>
          </a:xfrm>
          <a:prstGeom prst="rect">
            <a:avLst/>
          </a:prstGeom>
          <a:noFill/>
        </p:spPr>
        <p:txBody>
          <a:bodyPr wrap="square" anchor="t">
            <a:spAutoFit/>
          </a:bodyPr>
          <a:lstStyle/>
          <a:p>
            <a:pPr algn="l">
              <a:defRPr sz="1700" b="1">
                <a:solidFill>
                  <a:srgbClr val="102C3C"/>
                </a:solidFill>
                <a:latin typeface="Calibri"/>
              </a:defRPr>
            </a:pPr>
            <a:r>
              <a:t>Preparar</a:t>
            </a:r>
          </a:p>
        </p:txBody>
      </p:sp>
      <p:sp>
        <p:nvSpPr>
          <p:cNvPr id="15" name="TextBox 14"/>
          <p:cNvSpPr txBox="1"/>
          <p:nvPr/>
        </p:nvSpPr>
        <p:spPr>
          <a:xfrm>
            <a:off x="4234357" y="2633472"/>
            <a:ext cx="1536877" cy="914400"/>
          </a:xfrm>
          <a:prstGeom prst="rect">
            <a:avLst/>
          </a:prstGeom>
          <a:noFill/>
        </p:spPr>
        <p:txBody>
          <a:bodyPr wrap="square" anchor="t">
            <a:spAutoFit/>
          </a:bodyPr>
          <a:lstStyle/>
          <a:p>
            <a:pPr algn="l">
              <a:defRPr sz="1200" b="0">
                <a:solidFill>
                  <a:srgbClr val="5A7281"/>
                </a:solidFill>
                <a:latin typeface="Calibri"/>
              </a:defRPr>
            </a:pPr>
            <a:r>
              <a:t>Repositorios internos de origen y destino</a:t>
            </a:r>
          </a:p>
        </p:txBody>
      </p:sp>
      <p:sp>
        <p:nvSpPr>
          <p:cNvPr id="16" name="Rounded Rectangle 15"/>
          <p:cNvSpPr/>
          <p:nvPr/>
        </p:nvSpPr>
        <p:spPr>
          <a:xfrm>
            <a:off x="6219291" y="2103120"/>
            <a:ext cx="2487853" cy="16459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420459" y="2304288"/>
            <a:ext cx="384048" cy="384048"/>
          </a:xfrm>
          <a:prstGeom prst="roundRect">
            <a:avLst/>
          </a:prstGeom>
          <a:solidFill>
            <a:srgbClr val="E8E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20459" y="2304288"/>
            <a:ext cx="384048" cy="384048"/>
          </a:xfrm>
          <a:prstGeom prst="rect">
            <a:avLst/>
          </a:prstGeom>
          <a:noFill/>
        </p:spPr>
        <p:txBody>
          <a:bodyPr wrap="square" anchor="ctr">
            <a:spAutoFit/>
          </a:bodyPr>
          <a:lstStyle/>
          <a:p>
            <a:pPr algn="ctr">
              <a:defRPr sz="1300" b="1">
                <a:solidFill>
                  <a:srgbClr val="15B589"/>
                </a:solidFill>
                <a:latin typeface="Calibri"/>
              </a:defRPr>
            </a:pPr>
            <a:r>
              <a:t>3</a:t>
            </a:r>
          </a:p>
        </p:txBody>
      </p:sp>
      <p:sp>
        <p:nvSpPr>
          <p:cNvPr id="19" name="TextBox 18"/>
          <p:cNvSpPr txBox="1"/>
          <p:nvPr/>
        </p:nvSpPr>
        <p:spPr>
          <a:xfrm>
            <a:off x="6969099" y="2286000"/>
            <a:ext cx="1536877" cy="347472"/>
          </a:xfrm>
          <a:prstGeom prst="rect">
            <a:avLst/>
          </a:prstGeom>
          <a:noFill/>
        </p:spPr>
        <p:txBody>
          <a:bodyPr wrap="square" anchor="t">
            <a:spAutoFit/>
          </a:bodyPr>
          <a:lstStyle/>
          <a:p>
            <a:pPr algn="l">
              <a:defRPr sz="1700" b="1">
                <a:solidFill>
                  <a:srgbClr val="102C3C"/>
                </a:solidFill>
                <a:latin typeface="Calibri"/>
              </a:defRPr>
            </a:pPr>
            <a:r>
              <a:t>Actualizar</a:t>
            </a:r>
          </a:p>
        </p:txBody>
      </p:sp>
      <p:sp>
        <p:nvSpPr>
          <p:cNvPr id="20" name="TextBox 19"/>
          <p:cNvSpPr txBox="1"/>
          <p:nvPr/>
        </p:nvSpPr>
        <p:spPr>
          <a:xfrm>
            <a:off x="6969099" y="2633472"/>
            <a:ext cx="1536877" cy="914400"/>
          </a:xfrm>
          <a:prstGeom prst="rect">
            <a:avLst/>
          </a:prstGeom>
          <a:noFill/>
        </p:spPr>
        <p:txBody>
          <a:bodyPr wrap="square" anchor="t">
            <a:spAutoFit/>
          </a:bodyPr>
          <a:lstStyle/>
          <a:p>
            <a:pPr algn="l">
              <a:defRPr sz="1200" b="0">
                <a:solidFill>
                  <a:srgbClr val="5A7281"/>
                </a:solidFill>
                <a:latin typeface="Calibri"/>
              </a:defRPr>
            </a:pPr>
            <a:r>
              <a:t>Ensayo, cambio real y reinicio obligatorio</a:t>
            </a:r>
          </a:p>
        </p:txBody>
      </p:sp>
      <p:sp>
        <p:nvSpPr>
          <p:cNvPr id="21" name="Rounded Rectangle 20"/>
          <p:cNvSpPr/>
          <p:nvPr/>
        </p:nvSpPr>
        <p:spPr>
          <a:xfrm>
            <a:off x="8954033" y="2103120"/>
            <a:ext cx="2487853" cy="16459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155201" y="2304288"/>
            <a:ext cx="384048" cy="384048"/>
          </a:xfrm>
          <a:prstGeom prst="roundRect">
            <a:avLst/>
          </a:prstGeom>
          <a:solidFill>
            <a:srgbClr val="E8E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55201" y="2304288"/>
            <a:ext cx="384048" cy="384048"/>
          </a:xfrm>
          <a:prstGeom prst="rect">
            <a:avLst/>
          </a:prstGeom>
          <a:noFill/>
        </p:spPr>
        <p:txBody>
          <a:bodyPr wrap="square" anchor="ctr">
            <a:spAutoFit/>
          </a:bodyPr>
          <a:lstStyle/>
          <a:p>
            <a:pPr algn="ctr">
              <a:defRPr sz="1300" b="1">
                <a:solidFill>
                  <a:srgbClr val="15B589"/>
                </a:solidFill>
                <a:latin typeface="Calibri"/>
              </a:defRPr>
            </a:pPr>
            <a:r>
              <a:t>4</a:t>
            </a:r>
          </a:p>
        </p:txBody>
      </p:sp>
      <p:sp>
        <p:nvSpPr>
          <p:cNvPr id="24" name="TextBox 23"/>
          <p:cNvSpPr txBox="1"/>
          <p:nvPr/>
        </p:nvSpPr>
        <p:spPr>
          <a:xfrm>
            <a:off x="9703841" y="2286000"/>
            <a:ext cx="1536877" cy="347472"/>
          </a:xfrm>
          <a:prstGeom prst="rect">
            <a:avLst/>
          </a:prstGeom>
          <a:noFill/>
        </p:spPr>
        <p:txBody>
          <a:bodyPr wrap="square" anchor="t">
            <a:spAutoFit/>
          </a:bodyPr>
          <a:lstStyle/>
          <a:p>
            <a:pPr algn="l">
              <a:defRPr sz="1700" b="1">
                <a:solidFill>
                  <a:srgbClr val="102C3C"/>
                </a:solidFill>
                <a:latin typeface="Calibri"/>
              </a:defRPr>
            </a:pPr>
            <a:r>
              <a:t>Comprobar</a:t>
            </a:r>
          </a:p>
        </p:txBody>
      </p:sp>
      <p:sp>
        <p:nvSpPr>
          <p:cNvPr id="25" name="TextBox 24"/>
          <p:cNvSpPr txBox="1"/>
          <p:nvPr/>
        </p:nvSpPr>
        <p:spPr>
          <a:xfrm>
            <a:off x="9703841" y="2633472"/>
            <a:ext cx="1536877" cy="914400"/>
          </a:xfrm>
          <a:prstGeom prst="rect">
            <a:avLst/>
          </a:prstGeom>
          <a:noFill/>
        </p:spPr>
        <p:txBody>
          <a:bodyPr wrap="square" anchor="t">
            <a:spAutoFit/>
          </a:bodyPr>
          <a:lstStyle/>
          <a:p>
            <a:pPr algn="l">
              <a:defRPr sz="1200" b="0">
                <a:solidFill>
                  <a:srgbClr val="5A7281"/>
                </a:solidFill>
                <a:latin typeface="Calibri"/>
              </a:defRPr>
            </a:pPr>
            <a:r>
              <a:t>SLES, GeoPOS y reporte de resultado</a:t>
            </a:r>
          </a:p>
        </p:txBody>
      </p:sp>
      <p:sp>
        <p:nvSpPr>
          <p:cNvPr id="26" name="Rectangle 25"/>
          <p:cNvSpPr/>
          <p:nvPr/>
        </p:nvSpPr>
        <p:spPr>
          <a:xfrm>
            <a:off x="749808" y="4069080"/>
            <a:ext cx="10680192" cy="566928"/>
          </a:xfrm>
          <a:prstGeom prst="rect">
            <a:avLst/>
          </a:prstGeom>
          <a:solidFill>
            <a:srgbClr val="FBF0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0120" y="4069080"/>
            <a:ext cx="10241280" cy="566928"/>
          </a:xfrm>
          <a:prstGeom prst="rect">
            <a:avLst/>
          </a:prstGeom>
          <a:noFill/>
        </p:spPr>
        <p:txBody>
          <a:bodyPr wrap="square" anchor="ctr">
            <a:spAutoFit/>
          </a:bodyPr>
          <a:lstStyle/>
          <a:p>
            <a:pPr algn="l">
              <a:defRPr sz="1350" b="1">
                <a:solidFill>
                  <a:srgbClr val="B8860B"/>
                </a:solidFill>
                <a:latin typeface="Calibri"/>
              </a:defRPr>
            </a:pPr>
            <a:r>
              <a:t>⚠  Si una verificación crítica falla, no se avanza al siguiente Service Pack en ese servidor.</a:t>
            </a:r>
          </a:p>
        </p:txBody>
      </p:sp>
      <p:sp>
        <p:nvSpPr>
          <p:cNvPr id="28" name="TextBox 27"/>
          <p:cNvSpPr txBox="1"/>
          <p:nvPr/>
        </p:nvSpPr>
        <p:spPr>
          <a:xfrm>
            <a:off x="749808" y="4846320"/>
            <a:ext cx="5486400" cy="274320"/>
          </a:xfrm>
          <a:prstGeom prst="rect">
            <a:avLst/>
          </a:prstGeom>
          <a:noFill/>
        </p:spPr>
        <p:txBody>
          <a:bodyPr wrap="square" anchor="t">
            <a:spAutoFit/>
          </a:bodyPr>
          <a:lstStyle/>
          <a:p>
            <a:pPr algn="l">
              <a:defRPr sz="1200" b="1">
                <a:solidFill>
                  <a:srgbClr val="5A7281"/>
                </a:solidFill>
                <a:latin typeface="Calibri"/>
              </a:defRPr>
            </a:pPr>
            <a:r>
              <a:t>Repetible por cada transición</a:t>
            </a:r>
          </a:p>
        </p:txBody>
      </p:sp>
      <p:sp>
        <p:nvSpPr>
          <p:cNvPr id="29" name="Rectangle 28"/>
          <p:cNvSpPr/>
          <p:nvPr/>
        </p:nvSpPr>
        <p:spPr>
          <a:xfrm>
            <a:off x="749808" y="6437376"/>
            <a:ext cx="10692079" cy="1"/>
          </a:xfrm>
          <a:prstGeom prst="rect">
            <a:avLst/>
          </a:prstGeom>
          <a:solidFill>
            <a:srgbClr val="9AB8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9808" y="6464808"/>
            <a:ext cx="6400800" cy="182880"/>
          </a:xfrm>
          <a:prstGeom prst="rect">
            <a:avLst/>
          </a:prstGeom>
          <a:noFill/>
        </p:spPr>
        <p:txBody>
          <a:bodyPr wrap="square" anchor="t">
            <a:spAutoFit/>
          </a:bodyPr>
          <a:lstStyle/>
          <a:p>
            <a:pPr algn="l">
              <a:defRPr sz="800" b="1">
                <a:solidFill>
                  <a:srgbClr val="5A7281"/>
                </a:solidFill>
                <a:latin typeface="Calibri"/>
              </a:defRPr>
            </a:pPr>
            <a:r>
              <a:t>G E O P O S   /   I N F R A E S T R U C T U R A   L I N U X</a:t>
            </a:r>
          </a:p>
        </p:txBody>
      </p:sp>
      <p:sp>
        <p:nvSpPr>
          <p:cNvPr id="31" name="TextBox 30"/>
          <p:cNvSpPr txBox="1"/>
          <p:nvPr/>
        </p:nvSpPr>
        <p:spPr>
          <a:xfrm>
            <a:off x="10820095" y="6455664"/>
            <a:ext cx="822960" cy="182880"/>
          </a:xfrm>
          <a:prstGeom prst="rect">
            <a:avLst/>
          </a:prstGeom>
          <a:noFill/>
        </p:spPr>
        <p:txBody>
          <a:bodyPr wrap="square" anchor="t">
            <a:spAutoFit/>
          </a:bodyPr>
          <a:lstStyle/>
          <a:p>
            <a:pPr algn="r">
              <a:defRPr sz="900" b="1">
                <a:solidFill>
                  <a:srgbClr val="5A7281"/>
                </a:solidFill>
                <a:latin typeface="Calibri"/>
              </a:defRPr>
            </a:pPr>
            <a:r>
              <a:t>07  /  12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15B5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402336"/>
            <a:ext cx="9144000" cy="274320"/>
          </a:xfrm>
          <a:prstGeom prst="rect">
            <a:avLst/>
          </a:prstGeom>
          <a:noFill/>
        </p:spPr>
        <p:txBody>
          <a:bodyPr wrap="square" anchor="t">
            <a:spAutoFit/>
          </a:bodyPr>
          <a:lstStyle/>
          <a:p>
            <a:pPr algn="l">
              <a:defRPr sz="1400" b="1">
                <a:solidFill>
                  <a:srgbClr val="15B589"/>
                </a:solidFill>
                <a:latin typeface="Calibri"/>
              </a:defRPr>
            </a:pPr>
            <a:r>
              <a:t>07 / GOBIERNO Y SEGURIDAD</a:t>
            </a:r>
          </a:p>
        </p:txBody>
      </p:sp>
      <p:sp>
        <p:nvSpPr>
          <p:cNvPr id="4" name="TextBox 3"/>
          <p:cNvSpPr txBox="1"/>
          <p:nvPr/>
        </p:nvSpPr>
        <p:spPr>
          <a:xfrm>
            <a:off x="749808" y="822960"/>
            <a:ext cx="10881360" cy="603504"/>
          </a:xfrm>
          <a:prstGeom prst="rect">
            <a:avLst/>
          </a:prstGeom>
          <a:noFill/>
        </p:spPr>
        <p:txBody>
          <a:bodyPr wrap="square" anchor="t">
            <a:spAutoFit/>
          </a:bodyPr>
          <a:lstStyle/>
          <a:p>
            <a:pPr algn="l">
              <a:defRPr sz="3000" b="1">
                <a:solidFill>
                  <a:srgbClr val="102C3C"/>
                </a:solidFill>
                <a:latin typeface="Calibri"/>
              </a:defRPr>
            </a:pPr>
            <a:r>
              <a:t>Salvaguardas diseñadas para el cambio en producción</a:t>
            </a:r>
          </a:p>
        </p:txBody>
      </p:sp>
      <p:sp>
        <p:nvSpPr>
          <p:cNvPr id="5" name="TextBox 4"/>
          <p:cNvSpPr txBox="1"/>
          <p:nvPr/>
        </p:nvSpPr>
        <p:spPr>
          <a:xfrm>
            <a:off x="749808" y="1481328"/>
            <a:ext cx="10607040" cy="411480"/>
          </a:xfrm>
          <a:prstGeom prst="rect">
            <a:avLst/>
          </a:prstGeom>
          <a:noFill/>
        </p:spPr>
        <p:txBody>
          <a:bodyPr wrap="square" anchor="t">
            <a:spAutoFit/>
          </a:bodyPr>
          <a:lstStyle/>
          <a:p>
            <a:pPr algn="l">
              <a:defRPr sz="1500" b="0">
                <a:solidFill>
                  <a:srgbClr val="5A7281"/>
                </a:solidFill>
                <a:latin typeface="Calibri"/>
              </a:defRPr>
            </a:pPr>
            <a:r>
              <a:t>Los controles forman parte del flujo; no dependen sólo de la memoria del operador.</a:t>
            </a:r>
          </a:p>
        </p:txBody>
      </p:sp>
      <p:sp>
        <p:nvSpPr>
          <p:cNvPr id="6" name="Rounded Rectangle 5"/>
          <p:cNvSpPr/>
          <p:nvPr/>
        </p:nvSpPr>
        <p:spPr>
          <a:xfrm>
            <a:off x="749808" y="2103120"/>
            <a:ext cx="5222595" cy="128016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50976" y="2304288"/>
            <a:ext cx="384048" cy="384048"/>
          </a:xfrm>
          <a:prstGeom prst="roundRect">
            <a:avLst/>
          </a:prstGeom>
          <a:solidFill>
            <a:srgbClr val="E8E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50976" y="2304288"/>
            <a:ext cx="384048" cy="384048"/>
          </a:xfrm>
          <a:prstGeom prst="rect">
            <a:avLst/>
          </a:prstGeom>
          <a:noFill/>
        </p:spPr>
        <p:txBody>
          <a:bodyPr wrap="square" anchor="ctr">
            <a:spAutoFit/>
          </a:bodyPr>
          <a:lstStyle/>
          <a:p>
            <a:pPr algn="ctr">
              <a:defRPr sz="1300" b="1">
                <a:solidFill>
                  <a:srgbClr val="15B589"/>
                </a:solidFill>
                <a:latin typeface="Calibri"/>
              </a:defRPr>
            </a:pPr>
            <a:r>
              <a:t>01</a:t>
            </a:r>
          </a:p>
        </p:txBody>
      </p:sp>
      <p:sp>
        <p:nvSpPr>
          <p:cNvPr id="9" name="TextBox 8"/>
          <p:cNvSpPr txBox="1"/>
          <p:nvPr/>
        </p:nvSpPr>
        <p:spPr>
          <a:xfrm>
            <a:off x="1499616" y="2286000"/>
            <a:ext cx="4271619" cy="347472"/>
          </a:xfrm>
          <a:prstGeom prst="rect">
            <a:avLst/>
          </a:prstGeom>
          <a:noFill/>
        </p:spPr>
        <p:txBody>
          <a:bodyPr wrap="square" anchor="t">
            <a:spAutoFit/>
          </a:bodyPr>
          <a:lstStyle/>
          <a:p>
            <a:pPr algn="l">
              <a:defRPr sz="1600" b="1">
                <a:solidFill>
                  <a:srgbClr val="102C3C"/>
                </a:solidFill>
                <a:latin typeface="Calibri"/>
              </a:defRPr>
            </a:pPr>
            <a:r>
              <a:t>Alcance delimitado</a:t>
            </a:r>
          </a:p>
        </p:txBody>
      </p:sp>
      <p:sp>
        <p:nvSpPr>
          <p:cNvPr id="10" name="TextBox 9"/>
          <p:cNvSpPr txBox="1"/>
          <p:nvPr/>
        </p:nvSpPr>
        <p:spPr>
          <a:xfrm>
            <a:off x="1499616" y="2633472"/>
            <a:ext cx="4271619" cy="548640"/>
          </a:xfrm>
          <a:prstGeom prst="rect">
            <a:avLst/>
          </a:prstGeom>
          <a:noFill/>
        </p:spPr>
        <p:txBody>
          <a:bodyPr wrap="square" anchor="t">
            <a:spAutoFit/>
          </a:bodyPr>
          <a:lstStyle/>
          <a:p>
            <a:pPr algn="l">
              <a:defRPr sz="1200" b="0">
                <a:solidFill>
                  <a:srgbClr val="5A7281"/>
                </a:solidFill>
                <a:latin typeface="Calibri"/>
              </a:defRPr>
            </a:pPr>
            <a:r>
              <a:t>CRQ, lote y ambiente validados contra inventario</a:t>
            </a:r>
          </a:p>
        </p:txBody>
      </p:sp>
      <p:sp>
        <p:nvSpPr>
          <p:cNvPr id="11" name="Rounded Rectangle 10"/>
          <p:cNvSpPr/>
          <p:nvPr/>
        </p:nvSpPr>
        <p:spPr>
          <a:xfrm>
            <a:off x="6219291" y="2103120"/>
            <a:ext cx="5222595" cy="128016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420459" y="2304288"/>
            <a:ext cx="384048" cy="384048"/>
          </a:xfrm>
          <a:prstGeom prst="roundRect">
            <a:avLst/>
          </a:prstGeom>
          <a:solidFill>
            <a:srgbClr val="E8E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0459" y="2304288"/>
            <a:ext cx="384048" cy="384048"/>
          </a:xfrm>
          <a:prstGeom prst="rect">
            <a:avLst/>
          </a:prstGeom>
          <a:noFill/>
        </p:spPr>
        <p:txBody>
          <a:bodyPr wrap="square" anchor="ctr">
            <a:spAutoFit/>
          </a:bodyPr>
          <a:lstStyle/>
          <a:p>
            <a:pPr algn="ctr">
              <a:defRPr sz="1300" b="1">
                <a:solidFill>
                  <a:srgbClr val="15B589"/>
                </a:solidFill>
                <a:latin typeface="Calibri"/>
              </a:defRPr>
            </a:pPr>
            <a:r>
              <a:t>02</a:t>
            </a:r>
          </a:p>
        </p:txBody>
      </p:sp>
      <p:sp>
        <p:nvSpPr>
          <p:cNvPr id="14" name="TextBox 13"/>
          <p:cNvSpPr txBox="1"/>
          <p:nvPr/>
        </p:nvSpPr>
        <p:spPr>
          <a:xfrm>
            <a:off x="6969099" y="2286000"/>
            <a:ext cx="4271619" cy="347472"/>
          </a:xfrm>
          <a:prstGeom prst="rect">
            <a:avLst/>
          </a:prstGeom>
          <a:noFill/>
        </p:spPr>
        <p:txBody>
          <a:bodyPr wrap="square" anchor="t">
            <a:spAutoFit/>
          </a:bodyPr>
          <a:lstStyle/>
          <a:p>
            <a:pPr algn="l">
              <a:defRPr sz="1600" b="1">
                <a:solidFill>
                  <a:srgbClr val="102C3C"/>
                </a:solidFill>
                <a:latin typeface="Calibri"/>
              </a:defRPr>
            </a:pPr>
            <a:r>
              <a:t>Autorización expresa</a:t>
            </a:r>
          </a:p>
        </p:txBody>
      </p:sp>
      <p:sp>
        <p:nvSpPr>
          <p:cNvPr id="15" name="TextBox 14"/>
          <p:cNvSpPr txBox="1"/>
          <p:nvPr/>
        </p:nvSpPr>
        <p:spPr>
          <a:xfrm>
            <a:off x="6969099" y="2633472"/>
            <a:ext cx="4271619" cy="548640"/>
          </a:xfrm>
          <a:prstGeom prst="rect">
            <a:avLst/>
          </a:prstGeom>
          <a:noFill/>
        </p:spPr>
        <p:txBody>
          <a:bodyPr wrap="square" anchor="t">
            <a:spAutoFit/>
          </a:bodyPr>
          <a:lstStyle/>
          <a:p>
            <a:pPr algn="l">
              <a:defRPr sz="1200" b="0">
                <a:solidFill>
                  <a:srgbClr val="5A7281"/>
                </a:solidFill>
                <a:latin typeface="Calibri"/>
              </a:defRPr>
            </a:pPr>
            <a:r>
              <a:t>Confirmación obligatoria y aprobación opcional</a:t>
            </a:r>
          </a:p>
        </p:txBody>
      </p:sp>
      <p:sp>
        <p:nvSpPr>
          <p:cNvPr id="16" name="Rounded Rectangle 15"/>
          <p:cNvSpPr/>
          <p:nvPr/>
        </p:nvSpPr>
        <p:spPr>
          <a:xfrm>
            <a:off x="749808" y="3611880"/>
            <a:ext cx="5222595" cy="128016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50976" y="3813048"/>
            <a:ext cx="384048" cy="384048"/>
          </a:xfrm>
          <a:prstGeom prst="roundRect">
            <a:avLst/>
          </a:prstGeom>
          <a:solidFill>
            <a:srgbClr val="DAF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50976" y="3813048"/>
            <a:ext cx="384048" cy="384048"/>
          </a:xfrm>
          <a:prstGeom prst="rect">
            <a:avLst/>
          </a:prstGeom>
          <a:noFill/>
        </p:spPr>
        <p:txBody>
          <a:bodyPr wrap="square" anchor="ctr">
            <a:spAutoFit/>
          </a:bodyPr>
          <a:lstStyle/>
          <a:p>
            <a:pPr algn="ctr">
              <a:defRPr sz="1300" b="1">
                <a:solidFill>
                  <a:srgbClr val="15B589"/>
                </a:solidFill>
                <a:latin typeface="Calibri"/>
              </a:defRPr>
            </a:pPr>
            <a:r>
              <a:t>03</a:t>
            </a:r>
          </a:p>
        </p:txBody>
      </p:sp>
      <p:sp>
        <p:nvSpPr>
          <p:cNvPr id="19" name="TextBox 18"/>
          <p:cNvSpPr txBox="1"/>
          <p:nvPr/>
        </p:nvSpPr>
        <p:spPr>
          <a:xfrm>
            <a:off x="1499616" y="3794760"/>
            <a:ext cx="4271619" cy="347472"/>
          </a:xfrm>
          <a:prstGeom prst="rect">
            <a:avLst/>
          </a:prstGeom>
          <a:noFill/>
        </p:spPr>
        <p:txBody>
          <a:bodyPr wrap="square" anchor="t">
            <a:spAutoFit/>
          </a:bodyPr>
          <a:lstStyle/>
          <a:p>
            <a:pPr algn="l">
              <a:defRPr sz="1600" b="1">
                <a:solidFill>
                  <a:srgbClr val="102C3C"/>
                </a:solidFill>
                <a:latin typeface="Calibri"/>
              </a:defRPr>
            </a:pPr>
            <a:r>
              <a:t>Ejecución secuencial</a:t>
            </a:r>
          </a:p>
        </p:txBody>
      </p:sp>
      <p:sp>
        <p:nvSpPr>
          <p:cNvPr id="20" name="TextBox 19"/>
          <p:cNvSpPr txBox="1"/>
          <p:nvPr/>
        </p:nvSpPr>
        <p:spPr>
          <a:xfrm>
            <a:off x="1499616" y="4142232"/>
            <a:ext cx="4271619" cy="548640"/>
          </a:xfrm>
          <a:prstGeom prst="rect">
            <a:avLst/>
          </a:prstGeom>
          <a:noFill/>
        </p:spPr>
        <p:txBody>
          <a:bodyPr wrap="square" anchor="t">
            <a:spAutoFit/>
          </a:bodyPr>
          <a:lstStyle/>
          <a:p>
            <a:pPr algn="l">
              <a:defRPr sz="1200" b="0">
                <a:solidFill>
                  <a:srgbClr val="5A7281"/>
                </a:solidFill>
                <a:latin typeface="Calibri"/>
              </a:defRPr>
            </a:pPr>
            <a:r>
              <a:t>Un servidor a la vez, con seguimiento independiente</a:t>
            </a:r>
          </a:p>
        </p:txBody>
      </p:sp>
      <p:sp>
        <p:nvSpPr>
          <p:cNvPr id="21" name="Rounded Rectangle 20"/>
          <p:cNvSpPr/>
          <p:nvPr/>
        </p:nvSpPr>
        <p:spPr>
          <a:xfrm>
            <a:off x="6219291" y="3611880"/>
            <a:ext cx="5222595" cy="128016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420459" y="3813048"/>
            <a:ext cx="384048" cy="384048"/>
          </a:xfrm>
          <a:prstGeom prst="roundRect">
            <a:avLst/>
          </a:prstGeom>
          <a:solidFill>
            <a:srgbClr val="DAF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20459" y="3813048"/>
            <a:ext cx="384048" cy="384048"/>
          </a:xfrm>
          <a:prstGeom prst="rect">
            <a:avLst/>
          </a:prstGeom>
          <a:noFill/>
        </p:spPr>
        <p:txBody>
          <a:bodyPr wrap="square" anchor="ctr">
            <a:spAutoFit/>
          </a:bodyPr>
          <a:lstStyle/>
          <a:p>
            <a:pPr algn="ctr">
              <a:defRPr sz="1300" b="1">
                <a:solidFill>
                  <a:srgbClr val="15B589"/>
                </a:solidFill>
                <a:latin typeface="Calibri"/>
              </a:defRPr>
            </a:pPr>
            <a:r>
              <a:t>04</a:t>
            </a:r>
          </a:p>
        </p:txBody>
      </p:sp>
      <p:sp>
        <p:nvSpPr>
          <p:cNvPr id="24" name="TextBox 23"/>
          <p:cNvSpPr txBox="1"/>
          <p:nvPr/>
        </p:nvSpPr>
        <p:spPr>
          <a:xfrm>
            <a:off x="6969099" y="3794760"/>
            <a:ext cx="4271619" cy="347472"/>
          </a:xfrm>
          <a:prstGeom prst="rect">
            <a:avLst/>
          </a:prstGeom>
          <a:noFill/>
        </p:spPr>
        <p:txBody>
          <a:bodyPr wrap="square" anchor="t">
            <a:spAutoFit/>
          </a:bodyPr>
          <a:lstStyle/>
          <a:p>
            <a:pPr algn="l">
              <a:defRPr sz="1600" b="1">
                <a:solidFill>
                  <a:srgbClr val="102C3C"/>
                </a:solidFill>
                <a:latin typeface="Calibri"/>
              </a:defRPr>
            </a:pPr>
            <a:r>
              <a:t>Verificación de salud</a:t>
            </a:r>
          </a:p>
        </p:txBody>
      </p:sp>
      <p:sp>
        <p:nvSpPr>
          <p:cNvPr id="25" name="TextBox 24"/>
          <p:cNvSpPr txBox="1"/>
          <p:nvPr/>
        </p:nvSpPr>
        <p:spPr>
          <a:xfrm>
            <a:off x="6969099" y="4142232"/>
            <a:ext cx="4271619" cy="548640"/>
          </a:xfrm>
          <a:prstGeom prst="rect">
            <a:avLst/>
          </a:prstGeom>
          <a:noFill/>
        </p:spPr>
        <p:txBody>
          <a:bodyPr wrap="square" anchor="t">
            <a:spAutoFit/>
          </a:bodyPr>
          <a:lstStyle/>
          <a:p>
            <a:pPr algn="l">
              <a:defRPr sz="1200" b="0">
                <a:solidFill>
                  <a:srgbClr val="5A7281"/>
                </a:solidFill>
                <a:latin typeface="Calibri"/>
              </a:defRPr>
            </a:pPr>
            <a:r>
              <a:t>Estado del SO y GeoPOS antes y después</a:t>
            </a:r>
          </a:p>
        </p:txBody>
      </p:sp>
      <p:sp>
        <p:nvSpPr>
          <p:cNvPr id="26" name="Rectangle 25"/>
          <p:cNvSpPr/>
          <p:nvPr/>
        </p:nvSpPr>
        <p:spPr>
          <a:xfrm>
            <a:off x="749808" y="5166360"/>
            <a:ext cx="10680192" cy="566928"/>
          </a:xfrm>
          <a:prstGeom prst="rect">
            <a:avLst/>
          </a:prstGeom>
          <a:solidFill>
            <a:srgbClr val="0D24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0120" y="5166360"/>
            <a:ext cx="10241280" cy="566928"/>
          </a:xfrm>
          <a:prstGeom prst="rect">
            <a:avLst/>
          </a:prstGeom>
          <a:noFill/>
        </p:spPr>
        <p:txBody>
          <a:bodyPr wrap="square" anchor="ctr">
            <a:spAutoFit/>
          </a:bodyPr>
          <a:lstStyle/>
          <a:p>
            <a:pPr algn="l">
              <a:defRPr sz="1400" b="1">
                <a:solidFill>
                  <a:srgbClr val="FFFFFF"/>
                </a:solidFill>
                <a:latin typeface="Calibri"/>
              </a:defRPr>
            </a:pPr>
            <a:r>
              <a:t>Actualizaciones únicamente desde los repositorios internos de Foreman / Katello</a:t>
            </a:r>
          </a:p>
        </p:txBody>
      </p:sp>
      <p:sp>
        <p:nvSpPr>
          <p:cNvPr id="28" name="Rectangle 27"/>
          <p:cNvSpPr/>
          <p:nvPr/>
        </p:nvSpPr>
        <p:spPr>
          <a:xfrm>
            <a:off x="749808" y="6437376"/>
            <a:ext cx="10692079" cy="1"/>
          </a:xfrm>
          <a:prstGeom prst="rect">
            <a:avLst/>
          </a:prstGeom>
          <a:solidFill>
            <a:srgbClr val="9AB8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9808" y="6464808"/>
            <a:ext cx="6400800" cy="182880"/>
          </a:xfrm>
          <a:prstGeom prst="rect">
            <a:avLst/>
          </a:prstGeom>
          <a:noFill/>
        </p:spPr>
        <p:txBody>
          <a:bodyPr wrap="square" anchor="t">
            <a:spAutoFit/>
          </a:bodyPr>
          <a:lstStyle/>
          <a:p>
            <a:pPr algn="l">
              <a:defRPr sz="800" b="1">
                <a:solidFill>
                  <a:srgbClr val="5A7281"/>
                </a:solidFill>
                <a:latin typeface="Calibri"/>
              </a:defRPr>
            </a:pPr>
            <a:r>
              <a:t>G E O P O S   /   I N F R A E S T R U C T U R A   L I N U X</a:t>
            </a:r>
          </a:p>
        </p:txBody>
      </p:sp>
      <p:sp>
        <p:nvSpPr>
          <p:cNvPr id="30" name="TextBox 29"/>
          <p:cNvSpPr txBox="1"/>
          <p:nvPr/>
        </p:nvSpPr>
        <p:spPr>
          <a:xfrm>
            <a:off x="10820095" y="6455664"/>
            <a:ext cx="822960" cy="182880"/>
          </a:xfrm>
          <a:prstGeom prst="rect">
            <a:avLst/>
          </a:prstGeom>
          <a:noFill/>
        </p:spPr>
        <p:txBody>
          <a:bodyPr wrap="square" anchor="t">
            <a:spAutoFit/>
          </a:bodyPr>
          <a:lstStyle/>
          <a:p>
            <a:pPr algn="r">
              <a:defRPr sz="900" b="1">
                <a:solidFill>
                  <a:srgbClr val="5A7281"/>
                </a:solidFill>
                <a:latin typeface="Calibri"/>
              </a:defRPr>
            </a:pPr>
            <a:r>
              <a:t>08  /  12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15B5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402336"/>
            <a:ext cx="9144000" cy="274320"/>
          </a:xfrm>
          <a:prstGeom prst="rect">
            <a:avLst/>
          </a:prstGeom>
          <a:noFill/>
        </p:spPr>
        <p:txBody>
          <a:bodyPr wrap="square" anchor="t">
            <a:spAutoFit/>
          </a:bodyPr>
          <a:lstStyle/>
          <a:p>
            <a:pPr algn="l">
              <a:defRPr sz="1400" b="1">
                <a:solidFill>
                  <a:srgbClr val="15B589"/>
                </a:solidFill>
                <a:latin typeface="Calibri"/>
              </a:defRPr>
            </a:pPr>
            <a:r>
              <a:t>08 / CONTINUIDAD FUNCIONAL</a:t>
            </a:r>
          </a:p>
        </p:txBody>
      </p:sp>
      <p:sp>
        <p:nvSpPr>
          <p:cNvPr id="4" name="TextBox 3"/>
          <p:cNvSpPr txBox="1"/>
          <p:nvPr/>
        </p:nvSpPr>
        <p:spPr>
          <a:xfrm>
            <a:off x="749808" y="822960"/>
            <a:ext cx="10881360" cy="603504"/>
          </a:xfrm>
          <a:prstGeom prst="rect">
            <a:avLst/>
          </a:prstGeom>
          <a:noFill/>
        </p:spPr>
        <p:txBody>
          <a:bodyPr wrap="square" anchor="t">
            <a:spAutoFit/>
          </a:bodyPr>
          <a:lstStyle/>
          <a:p>
            <a:pPr algn="l">
              <a:defRPr sz="3000" b="1">
                <a:solidFill>
                  <a:srgbClr val="102C3C"/>
                </a:solidFill>
                <a:latin typeface="Calibri"/>
              </a:defRPr>
            </a:pPr>
            <a:r>
              <a:t>El éxito no es sólo llegar al Service Pack objetivo</a:t>
            </a:r>
          </a:p>
        </p:txBody>
      </p:sp>
      <p:sp>
        <p:nvSpPr>
          <p:cNvPr id="5" name="TextBox 4"/>
          <p:cNvSpPr txBox="1"/>
          <p:nvPr/>
        </p:nvSpPr>
        <p:spPr>
          <a:xfrm>
            <a:off x="749808" y="1481328"/>
            <a:ext cx="10607040" cy="411480"/>
          </a:xfrm>
          <a:prstGeom prst="rect">
            <a:avLst/>
          </a:prstGeom>
          <a:noFill/>
        </p:spPr>
        <p:txBody>
          <a:bodyPr wrap="square" anchor="t">
            <a:spAutoFit/>
          </a:bodyPr>
          <a:lstStyle/>
          <a:p>
            <a:pPr algn="l">
              <a:defRPr sz="1500" b="0">
                <a:solidFill>
                  <a:srgbClr val="5A7281"/>
                </a:solidFill>
                <a:latin typeface="Calibri"/>
              </a:defRPr>
            </a:pPr>
            <a:r>
              <a:t>También debe comprobarse que los componentes críticos de GeoPOS permanezcan operativos.</a:t>
            </a:r>
          </a:p>
        </p:txBody>
      </p:sp>
      <p:sp>
        <p:nvSpPr>
          <p:cNvPr id="6" name="Rounded Rectangle 5"/>
          <p:cNvSpPr/>
          <p:nvPr/>
        </p:nvSpPr>
        <p:spPr>
          <a:xfrm>
            <a:off x="749808" y="2103120"/>
            <a:ext cx="5166360" cy="265176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0976" y="2286000"/>
            <a:ext cx="4764024" cy="347472"/>
          </a:xfrm>
          <a:prstGeom prst="rect">
            <a:avLst/>
          </a:prstGeom>
          <a:noFill/>
        </p:spPr>
        <p:txBody>
          <a:bodyPr wrap="square" anchor="t">
            <a:spAutoFit/>
          </a:bodyPr>
          <a:lstStyle/>
          <a:p>
            <a:pPr algn="l">
              <a:defRPr sz="1500" b="1">
                <a:solidFill>
                  <a:srgbClr val="102C3C"/>
                </a:solidFill>
                <a:latin typeface="Calibri"/>
              </a:defRPr>
            </a:pPr>
            <a:r>
              <a:t>ANTES DEL CAMBIO · Línea base de salud</a:t>
            </a:r>
          </a:p>
        </p:txBody>
      </p:sp>
      <p:sp>
        <p:nvSpPr>
          <p:cNvPr id="8" name="TextBox 7"/>
          <p:cNvSpPr txBox="1"/>
          <p:nvPr/>
        </p:nvSpPr>
        <p:spPr>
          <a:xfrm>
            <a:off x="950976" y="2633472"/>
            <a:ext cx="4764024" cy="1920240"/>
          </a:xfrm>
          <a:prstGeom prst="rect">
            <a:avLst/>
          </a:prstGeom>
          <a:noFill/>
        </p:spPr>
        <p:txBody>
          <a:bodyPr wrap="square" anchor="t">
            <a:spAutoFit/>
          </a:bodyPr>
          <a:lstStyle/>
          <a:p>
            <a:pPr algn="l">
              <a:defRPr sz="1300" b="0">
                <a:solidFill>
                  <a:srgbClr val="5A7281"/>
                </a:solidFill>
                <a:latin typeface="Calibri"/>
              </a:defRPr>
            </a:pPr>
            <a:r>
              <a:t>•  Servicios definidos</a:t>
            </a:r>
          </a:p>
          <a:p>
            <a:pPr algn="l">
              <a:defRPr sz="1300" b="0">
                <a:solidFill>
                  <a:srgbClr val="5A7281"/>
                </a:solidFill>
                <a:latin typeface="Calibri"/>
              </a:defRPr>
            </a:pPr>
            <a:r>
              <a:t>•  Procesos Java</a:t>
            </a:r>
          </a:p>
          <a:p>
            <a:pPr algn="l">
              <a:defRPr sz="1300" b="0">
                <a:solidFill>
                  <a:srgbClr val="5A7281"/>
                </a:solidFill>
                <a:latin typeface="Calibri"/>
              </a:defRPr>
            </a:pPr>
            <a:r>
              <a:t>•  Puertos · URLs opcionales</a:t>
            </a:r>
          </a:p>
          <a:p>
            <a:pPr algn="l">
              <a:defRPr sz="1300" b="0">
                <a:solidFill>
                  <a:srgbClr val="5A7281"/>
                </a:solidFill>
                <a:latin typeface="Calibri"/>
              </a:defRPr>
            </a:pPr>
            <a:r>
              <a:t>•  SP actual</a:t>
            </a:r>
          </a:p>
        </p:txBody>
      </p:sp>
      <p:sp>
        <p:nvSpPr>
          <p:cNvPr id="9" name="Rounded Rectangle 8"/>
          <p:cNvSpPr/>
          <p:nvPr/>
        </p:nvSpPr>
        <p:spPr>
          <a:xfrm>
            <a:off x="6263640" y="2103120"/>
            <a:ext cx="5166360" cy="265176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64808" y="2286000"/>
            <a:ext cx="4764024" cy="347472"/>
          </a:xfrm>
          <a:prstGeom prst="rect">
            <a:avLst/>
          </a:prstGeom>
          <a:noFill/>
        </p:spPr>
        <p:txBody>
          <a:bodyPr wrap="square" anchor="t">
            <a:spAutoFit/>
          </a:bodyPr>
          <a:lstStyle/>
          <a:p>
            <a:pPr algn="l">
              <a:defRPr sz="1500" b="1">
                <a:solidFill>
                  <a:srgbClr val="102C3C"/>
                </a:solidFill>
                <a:latin typeface="Calibri"/>
              </a:defRPr>
            </a:pPr>
            <a:r>
              <a:t>DESPUÉS DEL CAMBIO · Verificación final</a:t>
            </a:r>
          </a:p>
        </p:txBody>
      </p:sp>
      <p:sp>
        <p:nvSpPr>
          <p:cNvPr id="11" name="TextBox 10"/>
          <p:cNvSpPr txBox="1"/>
          <p:nvPr/>
        </p:nvSpPr>
        <p:spPr>
          <a:xfrm>
            <a:off x="6464808" y="2633472"/>
            <a:ext cx="4764024" cy="1920240"/>
          </a:xfrm>
          <a:prstGeom prst="rect">
            <a:avLst/>
          </a:prstGeom>
          <a:noFill/>
        </p:spPr>
        <p:txBody>
          <a:bodyPr wrap="square" anchor="t">
            <a:spAutoFit/>
          </a:bodyPr>
          <a:lstStyle/>
          <a:p>
            <a:pPr algn="l">
              <a:defRPr sz="1300" b="0">
                <a:solidFill>
                  <a:srgbClr val="5A7281"/>
                </a:solidFill>
                <a:latin typeface="Calibri"/>
              </a:defRPr>
            </a:pPr>
            <a:r>
              <a:t>•  Service Pack alcanzado</a:t>
            </a:r>
          </a:p>
          <a:p>
            <a:pPr algn="l">
              <a:defRPr sz="1300" b="0">
                <a:solidFill>
                  <a:srgbClr val="5A7281"/>
                </a:solidFill>
                <a:latin typeface="Calibri"/>
              </a:defRPr>
            </a:pPr>
            <a:r>
              <a:t>•  Servicios recuperados</a:t>
            </a:r>
          </a:p>
          <a:p>
            <a:pPr algn="l">
              <a:defRPr sz="1300" b="0">
                <a:solidFill>
                  <a:srgbClr val="5A7281"/>
                </a:solidFill>
                <a:latin typeface="Calibri"/>
              </a:defRPr>
            </a:pPr>
            <a:r>
              <a:t>•  GeoPOS saludable</a:t>
            </a:r>
          </a:p>
        </p:txBody>
      </p:sp>
      <p:sp>
        <p:nvSpPr>
          <p:cNvPr id="12" name="TextBox 11"/>
          <p:cNvSpPr txBox="1"/>
          <p:nvPr/>
        </p:nvSpPr>
        <p:spPr>
          <a:xfrm>
            <a:off x="749808" y="5074920"/>
            <a:ext cx="10607040" cy="365760"/>
          </a:xfrm>
          <a:prstGeom prst="rect">
            <a:avLst/>
          </a:prstGeom>
          <a:noFill/>
        </p:spPr>
        <p:txBody>
          <a:bodyPr wrap="square" anchor="t">
            <a:spAutoFit/>
          </a:bodyPr>
          <a:lstStyle/>
          <a:p>
            <a:pPr algn="l">
              <a:defRPr sz="1300" b="1">
                <a:solidFill>
                  <a:srgbClr val="B8860B"/>
                </a:solidFill>
                <a:latin typeface="Calibri"/>
              </a:defRPr>
            </a:pPr>
            <a:r>
              <a:t>Validaciones configurables por servidor  ·  Parametrización real pendiente antes de producción</a:t>
            </a:r>
          </a:p>
        </p:txBody>
      </p:sp>
      <p:sp>
        <p:nvSpPr>
          <p:cNvPr id="13" name="Rectangle 12"/>
          <p:cNvSpPr/>
          <p:nvPr/>
        </p:nvSpPr>
        <p:spPr>
          <a:xfrm>
            <a:off x="749808" y="6437376"/>
            <a:ext cx="10692079" cy="1"/>
          </a:xfrm>
          <a:prstGeom prst="rect">
            <a:avLst/>
          </a:prstGeom>
          <a:solidFill>
            <a:srgbClr val="9AB8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6464808"/>
            <a:ext cx="6400800" cy="182880"/>
          </a:xfrm>
          <a:prstGeom prst="rect">
            <a:avLst/>
          </a:prstGeom>
          <a:noFill/>
        </p:spPr>
        <p:txBody>
          <a:bodyPr wrap="square" anchor="t">
            <a:spAutoFit/>
          </a:bodyPr>
          <a:lstStyle/>
          <a:p>
            <a:pPr algn="l">
              <a:defRPr sz="800" b="1">
                <a:solidFill>
                  <a:srgbClr val="5A7281"/>
                </a:solidFill>
                <a:latin typeface="Calibri"/>
              </a:defRPr>
            </a:pPr>
            <a:r>
              <a:t>G E O P O S   /   I N F R A E S T R U C T U R A   L I N U X</a:t>
            </a:r>
          </a:p>
        </p:txBody>
      </p:sp>
      <p:sp>
        <p:nvSpPr>
          <p:cNvPr id="15" name="TextBox 14"/>
          <p:cNvSpPr txBox="1"/>
          <p:nvPr/>
        </p:nvSpPr>
        <p:spPr>
          <a:xfrm>
            <a:off x="10820095" y="6455664"/>
            <a:ext cx="822960" cy="182880"/>
          </a:xfrm>
          <a:prstGeom prst="rect">
            <a:avLst/>
          </a:prstGeom>
          <a:noFill/>
        </p:spPr>
        <p:txBody>
          <a:bodyPr wrap="square" anchor="t">
            <a:spAutoFit/>
          </a:bodyPr>
          <a:lstStyle/>
          <a:p>
            <a:pPr algn="r">
              <a:defRPr sz="900" b="1">
                <a:solidFill>
                  <a:srgbClr val="5A7281"/>
                </a:solidFill>
                <a:latin typeface="Calibri"/>
              </a:defRPr>
            </a:pPr>
            <a:r>
              <a:t>09  /  12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15B5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402336"/>
            <a:ext cx="9144000" cy="274320"/>
          </a:xfrm>
          <a:prstGeom prst="rect">
            <a:avLst/>
          </a:prstGeom>
          <a:noFill/>
        </p:spPr>
        <p:txBody>
          <a:bodyPr wrap="square" anchor="t">
            <a:spAutoFit/>
          </a:bodyPr>
          <a:lstStyle/>
          <a:p>
            <a:pPr algn="l">
              <a:defRPr sz="1400" b="1">
                <a:solidFill>
                  <a:srgbClr val="15B589"/>
                </a:solidFill>
                <a:latin typeface="Calibri"/>
              </a:defRPr>
            </a:pPr>
            <a:r>
              <a:t>09 / SEGUIMIENTO Y AUDITORÍA</a:t>
            </a:r>
          </a:p>
        </p:txBody>
      </p:sp>
      <p:sp>
        <p:nvSpPr>
          <p:cNvPr id="4" name="TextBox 3"/>
          <p:cNvSpPr txBox="1"/>
          <p:nvPr/>
        </p:nvSpPr>
        <p:spPr>
          <a:xfrm>
            <a:off x="749808" y="822960"/>
            <a:ext cx="10881360" cy="603504"/>
          </a:xfrm>
          <a:prstGeom prst="rect">
            <a:avLst/>
          </a:prstGeom>
          <a:noFill/>
        </p:spPr>
        <p:txBody>
          <a:bodyPr wrap="square" anchor="t">
            <a:spAutoFit/>
          </a:bodyPr>
          <a:lstStyle/>
          <a:p>
            <a:pPr algn="l">
              <a:defRPr sz="3000" b="1">
                <a:solidFill>
                  <a:srgbClr val="102C3C"/>
                </a:solidFill>
                <a:latin typeface="Calibri"/>
              </a:defRPr>
            </a:pPr>
            <a:r>
              <a:t>Cada ejecución deja evidencia clara y consolidada</a:t>
            </a:r>
          </a:p>
        </p:txBody>
      </p:sp>
      <p:sp>
        <p:nvSpPr>
          <p:cNvPr id="5" name="TextBox 4"/>
          <p:cNvSpPr txBox="1"/>
          <p:nvPr/>
        </p:nvSpPr>
        <p:spPr>
          <a:xfrm>
            <a:off x="749808" y="1481328"/>
            <a:ext cx="10607040" cy="411480"/>
          </a:xfrm>
          <a:prstGeom prst="rect">
            <a:avLst/>
          </a:prstGeom>
          <a:noFill/>
        </p:spPr>
        <p:txBody>
          <a:bodyPr wrap="square" anchor="t">
            <a:spAutoFit/>
          </a:bodyPr>
          <a:lstStyle/>
          <a:p>
            <a:pPr algn="l">
              <a:defRPr sz="1500" b="0">
                <a:solidFill>
                  <a:srgbClr val="5A7281"/>
                </a:solidFill>
                <a:latin typeface="Calibri"/>
              </a:defRPr>
            </a:pPr>
            <a:r>
              <a:t>Los resultados pueden consultarse por servidor, etapa y lote, sin reconstruir los logs manualmente.</a:t>
            </a:r>
          </a:p>
        </p:txBody>
      </p:sp>
      <p:sp>
        <p:nvSpPr>
          <p:cNvPr id="6" name="Rounded Rectangle 5"/>
          <p:cNvSpPr/>
          <p:nvPr/>
        </p:nvSpPr>
        <p:spPr>
          <a:xfrm>
            <a:off x="749808" y="2103120"/>
            <a:ext cx="3399434" cy="100584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50976" y="2304288"/>
            <a:ext cx="384048" cy="384048"/>
          </a:xfrm>
          <a:prstGeom prst="roundRect">
            <a:avLst/>
          </a:prstGeom>
          <a:solidFill>
            <a:srgbClr val="E8E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50976" y="2304288"/>
            <a:ext cx="384048" cy="384048"/>
          </a:xfrm>
          <a:prstGeom prst="rect">
            <a:avLst/>
          </a:prstGeom>
          <a:noFill/>
        </p:spPr>
        <p:txBody>
          <a:bodyPr wrap="square" anchor="ctr">
            <a:spAutoFit/>
          </a:bodyPr>
          <a:lstStyle/>
          <a:p>
            <a:pPr algn="ctr">
              <a:defRPr sz="1300" b="1">
                <a:solidFill>
                  <a:srgbClr val="15B589"/>
                </a:solidFill>
                <a:latin typeface="Calibri"/>
              </a:defRPr>
            </a:pPr>
            <a:r>
              <a:t>01</a:t>
            </a:r>
          </a:p>
        </p:txBody>
      </p:sp>
      <p:sp>
        <p:nvSpPr>
          <p:cNvPr id="9" name="TextBox 8"/>
          <p:cNvSpPr txBox="1"/>
          <p:nvPr/>
        </p:nvSpPr>
        <p:spPr>
          <a:xfrm>
            <a:off x="1499616" y="2286000"/>
            <a:ext cx="2448458" cy="347472"/>
          </a:xfrm>
          <a:prstGeom prst="rect">
            <a:avLst/>
          </a:prstGeom>
          <a:noFill/>
        </p:spPr>
        <p:txBody>
          <a:bodyPr wrap="square" anchor="t">
            <a:spAutoFit/>
          </a:bodyPr>
          <a:lstStyle/>
          <a:p>
            <a:pPr algn="l">
              <a:defRPr sz="1600" b="1">
                <a:solidFill>
                  <a:srgbClr val="102C3C"/>
                </a:solidFill>
                <a:latin typeface="Calibri"/>
              </a:defRPr>
            </a:pPr>
            <a:r>
              <a:t>SERVIDOR</a:t>
            </a:r>
          </a:p>
        </p:txBody>
      </p:sp>
      <p:sp>
        <p:nvSpPr>
          <p:cNvPr id="10" name="TextBox 9"/>
          <p:cNvSpPr txBox="1"/>
          <p:nvPr/>
        </p:nvSpPr>
        <p:spPr>
          <a:xfrm>
            <a:off x="1499616" y="2633472"/>
            <a:ext cx="2448458" cy="274320"/>
          </a:xfrm>
          <a:prstGeom prst="rect">
            <a:avLst/>
          </a:prstGeom>
          <a:noFill/>
        </p:spPr>
        <p:txBody>
          <a:bodyPr wrap="square" anchor="t">
            <a:spAutoFit/>
          </a:bodyPr>
          <a:lstStyle/>
          <a:p>
            <a:pPr algn="l">
              <a:defRPr sz="1200" b="0">
                <a:solidFill>
                  <a:srgbClr val="5A7281"/>
                </a:solidFill>
                <a:latin typeface="Calibri"/>
              </a:defRPr>
            </a:pPr>
            <a:r>
              <a:t>Estado individual</a:t>
            </a:r>
          </a:p>
        </p:txBody>
      </p:sp>
      <p:sp>
        <p:nvSpPr>
          <p:cNvPr id="11" name="Rounded Rectangle 10"/>
          <p:cNvSpPr/>
          <p:nvPr/>
        </p:nvSpPr>
        <p:spPr>
          <a:xfrm>
            <a:off x="4396130" y="2103120"/>
            <a:ext cx="3399434" cy="100584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597298" y="2304288"/>
            <a:ext cx="384048" cy="384048"/>
          </a:xfrm>
          <a:prstGeom prst="roundRect">
            <a:avLst/>
          </a:prstGeom>
          <a:solidFill>
            <a:srgbClr val="E8E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2304288"/>
            <a:ext cx="384048" cy="384048"/>
          </a:xfrm>
          <a:prstGeom prst="rect">
            <a:avLst/>
          </a:prstGeom>
          <a:noFill/>
        </p:spPr>
        <p:txBody>
          <a:bodyPr wrap="square" anchor="ctr">
            <a:spAutoFit/>
          </a:bodyPr>
          <a:lstStyle/>
          <a:p>
            <a:pPr algn="ctr">
              <a:defRPr sz="1300" b="1">
                <a:solidFill>
                  <a:srgbClr val="15B589"/>
                </a:solidFill>
                <a:latin typeface="Calibri"/>
              </a:defRPr>
            </a:pPr>
            <a:r>
              <a:t>02</a:t>
            </a:r>
          </a:p>
        </p:txBody>
      </p:sp>
      <p:sp>
        <p:nvSpPr>
          <p:cNvPr id="14" name="TextBox 13"/>
          <p:cNvSpPr txBox="1"/>
          <p:nvPr/>
        </p:nvSpPr>
        <p:spPr>
          <a:xfrm>
            <a:off x="5145938" y="2286000"/>
            <a:ext cx="2448458" cy="347472"/>
          </a:xfrm>
          <a:prstGeom prst="rect">
            <a:avLst/>
          </a:prstGeom>
          <a:noFill/>
        </p:spPr>
        <p:txBody>
          <a:bodyPr wrap="square" anchor="t">
            <a:spAutoFit/>
          </a:bodyPr>
          <a:lstStyle/>
          <a:p>
            <a:pPr algn="l">
              <a:defRPr sz="1600" b="1">
                <a:solidFill>
                  <a:srgbClr val="102C3C"/>
                </a:solidFill>
                <a:latin typeface="Calibri"/>
              </a:defRPr>
            </a:pPr>
            <a:r>
              <a:t>ETAPA</a:t>
            </a:r>
          </a:p>
        </p:txBody>
      </p:sp>
      <p:sp>
        <p:nvSpPr>
          <p:cNvPr id="15" name="TextBox 14"/>
          <p:cNvSpPr txBox="1"/>
          <p:nvPr/>
        </p:nvSpPr>
        <p:spPr>
          <a:xfrm>
            <a:off x="5145938" y="2633472"/>
            <a:ext cx="2448458" cy="274320"/>
          </a:xfrm>
          <a:prstGeom prst="rect">
            <a:avLst/>
          </a:prstGeom>
          <a:noFill/>
        </p:spPr>
        <p:txBody>
          <a:bodyPr wrap="square" anchor="t">
            <a:spAutoFit/>
          </a:bodyPr>
          <a:lstStyle/>
          <a:p>
            <a:pPr algn="l">
              <a:defRPr sz="1200" b="0">
                <a:solidFill>
                  <a:srgbClr val="5A7281"/>
                </a:solidFill>
                <a:latin typeface="Calibri"/>
              </a:defRPr>
            </a:pPr>
            <a:r>
              <a:t>Controles y hallazgos</a:t>
            </a:r>
          </a:p>
        </p:txBody>
      </p:sp>
      <p:sp>
        <p:nvSpPr>
          <p:cNvPr id="16" name="Rounded Rectangle 15"/>
          <p:cNvSpPr/>
          <p:nvPr/>
        </p:nvSpPr>
        <p:spPr>
          <a:xfrm>
            <a:off x="8042452" y="2103120"/>
            <a:ext cx="3399434" cy="100584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243620" y="2304288"/>
            <a:ext cx="384048" cy="384048"/>
          </a:xfrm>
          <a:prstGeom prst="roundRect">
            <a:avLst/>
          </a:prstGeom>
          <a:solidFill>
            <a:srgbClr val="E8E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43620" y="2304288"/>
            <a:ext cx="384048" cy="384048"/>
          </a:xfrm>
          <a:prstGeom prst="rect">
            <a:avLst/>
          </a:prstGeom>
          <a:noFill/>
        </p:spPr>
        <p:txBody>
          <a:bodyPr wrap="square" anchor="ctr">
            <a:spAutoFit/>
          </a:bodyPr>
          <a:lstStyle/>
          <a:p>
            <a:pPr algn="ctr">
              <a:defRPr sz="1300" b="1">
                <a:solidFill>
                  <a:srgbClr val="15B589"/>
                </a:solidFill>
                <a:latin typeface="Calibri"/>
              </a:defRPr>
            </a:pPr>
            <a:r>
              <a:t>03</a:t>
            </a:r>
          </a:p>
        </p:txBody>
      </p:sp>
      <p:sp>
        <p:nvSpPr>
          <p:cNvPr id="19" name="TextBox 18"/>
          <p:cNvSpPr txBox="1"/>
          <p:nvPr/>
        </p:nvSpPr>
        <p:spPr>
          <a:xfrm>
            <a:off x="8792260" y="2286000"/>
            <a:ext cx="2448458" cy="347472"/>
          </a:xfrm>
          <a:prstGeom prst="rect">
            <a:avLst/>
          </a:prstGeom>
          <a:noFill/>
        </p:spPr>
        <p:txBody>
          <a:bodyPr wrap="square" anchor="t">
            <a:spAutoFit/>
          </a:bodyPr>
          <a:lstStyle/>
          <a:p>
            <a:pPr algn="l">
              <a:defRPr sz="1600" b="1">
                <a:solidFill>
                  <a:srgbClr val="102C3C"/>
                </a:solidFill>
                <a:latin typeface="Calibri"/>
              </a:defRPr>
            </a:pPr>
            <a:r>
              <a:t>LOTE</a:t>
            </a:r>
          </a:p>
        </p:txBody>
      </p:sp>
      <p:sp>
        <p:nvSpPr>
          <p:cNvPr id="20" name="TextBox 19"/>
          <p:cNvSpPr txBox="1"/>
          <p:nvPr/>
        </p:nvSpPr>
        <p:spPr>
          <a:xfrm>
            <a:off x="8792260" y="2633472"/>
            <a:ext cx="2448458" cy="274320"/>
          </a:xfrm>
          <a:prstGeom prst="rect">
            <a:avLst/>
          </a:prstGeom>
          <a:noFill/>
        </p:spPr>
        <p:txBody>
          <a:bodyPr wrap="square" anchor="t">
            <a:spAutoFit/>
          </a:bodyPr>
          <a:lstStyle/>
          <a:p>
            <a:pPr algn="l">
              <a:defRPr sz="1200" b="0">
                <a:solidFill>
                  <a:srgbClr val="5A7281"/>
                </a:solidFill>
                <a:latin typeface="Calibri"/>
              </a:defRPr>
            </a:pPr>
            <a:r>
              <a:t>Vista consolidada</a:t>
            </a:r>
          </a:p>
        </p:txBody>
      </p:sp>
      <p:sp>
        <p:nvSpPr>
          <p:cNvPr id="21" name="TextBox 20"/>
          <p:cNvSpPr txBox="1"/>
          <p:nvPr/>
        </p:nvSpPr>
        <p:spPr>
          <a:xfrm>
            <a:off x="749808" y="3383280"/>
            <a:ext cx="10515600" cy="365760"/>
          </a:xfrm>
          <a:prstGeom prst="rect">
            <a:avLst/>
          </a:prstGeom>
          <a:noFill/>
        </p:spPr>
        <p:txBody>
          <a:bodyPr wrap="square" anchor="t">
            <a:spAutoFit/>
          </a:bodyPr>
          <a:lstStyle/>
          <a:p>
            <a:pPr algn="l">
              <a:defRPr sz="1300" b="1">
                <a:solidFill>
                  <a:srgbClr val="102C3C"/>
                </a:solidFill>
                <a:latin typeface="Calibri"/>
              </a:defRPr>
            </a:pPr>
            <a:r>
              <a:t>HTML  ·  Reporte legible por host y por lote      SharePoint  ·  sincronización opcional y configurable</a:t>
            </a:r>
          </a:p>
        </p:txBody>
      </p:sp>
      <p:sp>
        <p:nvSpPr>
          <p:cNvPr id="22" name="TextBox 21"/>
          <p:cNvSpPr txBox="1"/>
          <p:nvPr/>
        </p:nvSpPr>
        <p:spPr>
          <a:xfrm>
            <a:off x="749808" y="3977639"/>
            <a:ext cx="3657600" cy="237744"/>
          </a:xfrm>
          <a:prstGeom prst="rect">
            <a:avLst/>
          </a:prstGeom>
          <a:noFill/>
        </p:spPr>
        <p:txBody>
          <a:bodyPr wrap="square" anchor="t">
            <a:spAutoFit/>
          </a:bodyPr>
          <a:lstStyle/>
          <a:p>
            <a:pPr algn="l">
              <a:defRPr sz="1100" b="1">
                <a:solidFill>
                  <a:srgbClr val="5A7281"/>
                </a:solidFill>
                <a:latin typeface="Calibri"/>
              </a:defRPr>
            </a:pPr>
            <a:r>
              <a:t>Estados diferenciados</a:t>
            </a:r>
          </a:p>
        </p:txBody>
      </p:sp>
      <p:sp>
        <p:nvSpPr>
          <p:cNvPr id="23" name="Rounded Rectangle 22"/>
          <p:cNvSpPr/>
          <p:nvPr/>
        </p:nvSpPr>
        <p:spPr>
          <a:xfrm>
            <a:off x="749808" y="4279392"/>
            <a:ext cx="2331720" cy="384048"/>
          </a:xfrm>
          <a:prstGeom prst="roundRect">
            <a:avLst/>
          </a:prstGeom>
          <a:solidFill>
            <a:srgbClr val="DAF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9808" y="4279392"/>
            <a:ext cx="2331720" cy="384048"/>
          </a:xfrm>
          <a:prstGeom prst="rect">
            <a:avLst/>
          </a:prstGeom>
          <a:noFill/>
        </p:spPr>
        <p:txBody>
          <a:bodyPr wrap="square" anchor="ctr">
            <a:spAutoFit/>
          </a:bodyPr>
          <a:lstStyle/>
          <a:p>
            <a:pPr algn="ctr">
              <a:defRPr sz="1200" b="1">
                <a:solidFill>
                  <a:srgbClr val="15B589"/>
                </a:solidFill>
                <a:latin typeface="Calibri"/>
              </a:defRPr>
            </a:pPr>
            <a:r>
              <a:t>OK</a:t>
            </a:r>
          </a:p>
        </p:txBody>
      </p:sp>
      <p:sp>
        <p:nvSpPr>
          <p:cNvPr id="25" name="Rounded Rectangle 24"/>
          <p:cNvSpPr/>
          <p:nvPr/>
        </p:nvSpPr>
        <p:spPr>
          <a:xfrm>
            <a:off x="3218688" y="4279392"/>
            <a:ext cx="2331720" cy="384048"/>
          </a:xfrm>
          <a:prstGeom prst="roundRect">
            <a:avLst/>
          </a:prstGeom>
          <a:solidFill>
            <a:srgbClr val="FBF0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18688" y="4279392"/>
            <a:ext cx="2331720" cy="384048"/>
          </a:xfrm>
          <a:prstGeom prst="rect">
            <a:avLst/>
          </a:prstGeom>
          <a:noFill/>
        </p:spPr>
        <p:txBody>
          <a:bodyPr wrap="square" anchor="ctr">
            <a:spAutoFit/>
          </a:bodyPr>
          <a:lstStyle/>
          <a:p>
            <a:pPr algn="ctr">
              <a:defRPr sz="1200" b="1">
                <a:solidFill>
                  <a:srgbClr val="B8860B"/>
                </a:solidFill>
                <a:latin typeface="Calibri"/>
              </a:defRPr>
            </a:pPr>
            <a:r>
              <a:t>ADVERTENCIA</a:t>
            </a:r>
          </a:p>
        </p:txBody>
      </p:sp>
      <p:sp>
        <p:nvSpPr>
          <p:cNvPr id="27" name="Rounded Rectangle 26"/>
          <p:cNvSpPr/>
          <p:nvPr/>
        </p:nvSpPr>
        <p:spPr>
          <a:xfrm>
            <a:off x="5687568" y="4279392"/>
            <a:ext cx="2331720" cy="384048"/>
          </a:xfrm>
          <a:prstGeom prst="roundRect">
            <a:avLst/>
          </a:prstGeom>
          <a:solidFill>
            <a:srgbClr val="FB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87568" y="4279392"/>
            <a:ext cx="2331720" cy="384048"/>
          </a:xfrm>
          <a:prstGeom prst="rect">
            <a:avLst/>
          </a:prstGeom>
          <a:noFill/>
        </p:spPr>
        <p:txBody>
          <a:bodyPr wrap="square" anchor="ctr">
            <a:spAutoFit/>
          </a:bodyPr>
          <a:lstStyle/>
          <a:p>
            <a:pPr algn="ctr">
              <a:defRPr sz="1200" b="1">
                <a:solidFill>
                  <a:srgbClr val="C62828"/>
                </a:solidFill>
                <a:latin typeface="Calibri"/>
              </a:defRPr>
            </a:pPr>
            <a:r>
              <a:t>FALLIDO</a:t>
            </a:r>
          </a:p>
        </p:txBody>
      </p:sp>
      <p:sp>
        <p:nvSpPr>
          <p:cNvPr id="29" name="Rounded Rectangle 28"/>
          <p:cNvSpPr/>
          <p:nvPr/>
        </p:nvSpPr>
        <p:spPr>
          <a:xfrm>
            <a:off x="8156448" y="4279392"/>
            <a:ext cx="2331720" cy="384048"/>
          </a:xfrm>
          <a:prstGeom prst="roundRect">
            <a:avLst/>
          </a:prstGeom>
          <a:solidFill>
            <a:srgbClr val="E4E8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56448" y="4279392"/>
            <a:ext cx="2331720" cy="384048"/>
          </a:xfrm>
          <a:prstGeom prst="rect">
            <a:avLst/>
          </a:prstGeom>
          <a:noFill/>
        </p:spPr>
        <p:txBody>
          <a:bodyPr wrap="square" anchor="ctr">
            <a:spAutoFit/>
          </a:bodyPr>
          <a:lstStyle/>
          <a:p>
            <a:pPr algn="ctr">
              <a:defRPr sz="1200" b="1">
                <a:solidFill>
                  <a:srgbClr val="6B7A82"/>
                </a:solidFill>
                <a:latin typeface="Calibri"/>
              </a:defRPr>
            </a:pPr>
            <a:r>
              <a:t>NO VERIFICADO</a:t>
            </a:r>
          </a:p>
        </p:txBody>
      </p:sp>
      <p:sp>
        <p:nvSpPr>
          <p:cNvPr id="31" name="Rectangle 30"/>
          <p:cNvSpPr/>
          <p:nvPr/>
        </p:nvSpPr>
        <p:spPr>
          <a:xfrm>
            <a:off x="749808" y="6437376"/>
            <a:ext cx="10692079" cy="1"/>
          </a:xfrm>
          <a:prstGeom prst="rect">
            <a:avLst/>
          </a:prstGeom>
          <a:solidFill>
            <a:srgbClr val="9AB8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49808" y="6464808"/>
            <a:ext cx="6400800" cy="182880"/>
          </a:xfrm>
          <a:prstGeom prst="rect">
            <a:avLst/>
          </a:prstGeom>
          <a:noFill/>
        </p:spPr>
        <p:txBody>
          <a:bodyPr wrap="square" anchor="t">
            <a:spAutoFit/>
          </a:bodyPr>
          <a:lstStyle/>
          <a:p>
            <a:pPr algn="l">
              <a:defRPr sz="800" b="1">
                <a:solidFill>
                  <a:srgbClr val="5A7281"/>
                </a:solidFill>
                <a:latin typeface="Calibri"/>
              </a:defRPr>
            </a:pPr>
            <a:r>
              <a:t>G E O P O S   /   I N F R A E S T R U C T U R A   L I N U X</a:t>
            </a:r>
          </a:p>
        </p:txBody>
      </p:sp>
      <p:sp>
        <p:nvSpPr>
          <p:cNvPr id="33" name="TextBox 32"/>
          <p:cNvSpPr txBox="1"/>
          <p:nvPr/>
        </p:nvSpPr>
        <p:spPr>
          <a:xfrm>
            <a:off x="10820095" y="6455664"/>
            <a:ext cx="822960" cy="182880"/>
          </a:xfrm>
          <a:prstGeom prst="rect">
            <a:avLst/>
          </a:prstGeom>
          <a:noFill/>
        </p:spPr>
        <p:txBody>
          <a:bodyPr wrap="square" anchor="t">
            <a:spAutoFit/>
          </a:bodyPr>
          <a:lstStyle/>
          <a:p>
            <a:pPr algn="r">
              <a:defRPr sz="900" b="1">
                <a:solidFill>
                  <a:srgbClr val="5A7281"/>
                </a:solidFill>
                <a:latin typeface="Calibri"/>
              </a:defRPr>
            </a:pPr>
            <a:r>
              <a:t>10  /  12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15B5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402336"/>
            <a:ext cx="9144000" cy="274320"/>
          </a:xfrm>
          <a:prstGeom prst="rect">
            <a:avLst/>
          </a:prstGeom>
          <a:noFill/>
        </p:spPr>
        <p:txBody>
          <a:bodyPr wrap="square" anchor="t">
            <a:spAutoFit/>
          </a:bodyPr>
          <a:lstStyle/>
          <a:p>
            <a:pPr algn="l">
              <a:defRPr sz="1400" b="1">
                <a:solidFill>
                  <a:srgbClr val="15B589"/>
                </a:solidFill>
                <a:latin typeface="Calibri"/>
              </a:defRPr>
            </a:pPr>
            <a:r>
              <a:t>10 / VALIDACIÓN DEL PROYECTO</a:t>
            </a:r>
          </a:p>
        </p:txBody>
      </p:sp>
      <p:sp>
        <p:nvSpPr>
          <p:cNvPr id="4" name="TextBox 3"/>
          <p:cNvSpPr txBox="1"/>
          <p:nvPr/>
        </p:nvSpPr>
        <p:spPr>
          <a:xfrm>
            <a:off x="749808" y="822960"/>
            <a:ext cx="10881360" cy="603504"/>
          </a:xfrm>
          <a:prstGeom prst="rect">
            <a:avLst/>
          </a:prstGeom>
          <a:noFill/>
        </p:spPr>
        <p:txBody>
          <a:bodyPr wrap="square" anchor="t">
            <a:spAutoFit/>
          </a:bodyPr>
          <a:lstStyle/>
          <a:p>
            <a:pPr algn="l">
              <a:defRPr sz="3000" b="1">
                <a:solidFill>
                  <a:srgbClr val="102C3C"/>
                </a:solidFill>
                <a:latin typeface="Calibri"/>
              </a:defRPr>
            </a:pPr>
            <a:r>
              <a:t>Pruebas sobre plantilla SLES 15: estado de avance</a:t>
            </a:r>
          </a:p>
        </p:txBody>
      </p:sp>
      <p:sp>
        <p:nvSpPr>
          <p:cNvPr id="5" name="TextBox 4"/>
          <p:cNvSpPr txBox="1"/>
          <p:nvPr/>
        </p:nvSpPr>
        <p:spPr>
          <a:xfrm>
            <a:off x="749808" y="1481328"/>
            <a:ext cx="10607040" cy="411480"/>
          </a:xfrm>
          <a:prstGeom prst="rect">
            <a:avLst/>
          </a:prstGeom>
          <a:noFill/>
        </p:spPr>
        <p:txBody>
          <a:bodyPr wrap="square" anchor="t">
            <a:spAutoFit/>
          </a:bodyPr>
          <a:lstStyle/>
          <a:p>
            <a:pPr algn="l">
              <a:defRPr sz="1500" b="0">
                <a:solidFill>
                  <a:srgbClr val="5A7281"/>
                </a:solidFill>
                <a:latin typeface="Calibri"/>
              </a:defRPr>
            </a:pPr>
            <a:r>
              <a:t>La misma plantilla progresa por etapas; el modo FULL se ensaya desde SP5.</a:t>
            </a:r>
          </a:p>
        </p:txBody>
      </p:sp>
      <p:sp>
        <p:nvSpPr>
          <p:cNvPr id="6" name="TextBox 5"/>
          <p:cNvSpPr txBox="1"/>
          <p:nvPr/>
        </p:nvSpPr>
        <p:spPr>
          <a:xfrm>
            <a:off x="749808" y="1965960"/>
            <a:ext cx="10058400" cy="237744"/>
          </a:xfrm>
          <a:prstGeom prst="rect">
            <a:avLst/>
          </a:prstGeom>
          <a:noFill/>
        </p:spPr>
        <p:txBody>
          <a:bodyPr wrap="square" anchor="t">
            <a:spAutoFit/>
          </a:bodyPr>
          <a:lstStyle/>
          <a:p>
            <a:pPr algn="l">
              <a:defRPr sz="1100" b="1">
                <a:solidFill>
                  <a:srgbClr val="5A7281"/>
                </a:solidFill>
                <a:latin typeface="Calibri"/>
              </a:defRPr>
            </a:pPr>
            <a:r>
              <a:t>FASE DE LABORATORIO   ·   VALIDACIONES SOBRE PLANTILLA SLES 15</a:t>
            </a:r>
          </a:p>
        </p:txBody>
      </p:sp>
      <p:sp>
        <p:nvSpPr>
          <p:cNvPr id="7" name="Rounded Rectangle 6"/>
          <p:cNvSpPr/>
          <p:nvPr/>
        </p:nvSpPr>
        <p:spPr>
          <a:xfrm>
            <a:off x="749808" y="2286000"/>
            <a:ext cx="10680192" cy="512064"/>
          </a:xfrm>
          <a:prstGeom prst="roundRect">
            <a:avLst/>
          </a:prstGeom>
          <a:solidFill>
            <a:srgbClr val="E8E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77824" y="2286000"/>
            <a:ext cx="365760" cy="512064"/>
          </a:xfrm>
          <a:prstGeom prst="rect">
            <a:avLst/>
          </a:prstGeom>
          <a:noFill/>
        </p:spPr>
        <p:txBody>
          <a:bodyPr wrap="square" anchor="ctr">
            <a:spAutoFit/>
          </a:bodyPr>
          <a:lstStyle/>
          <a:p>
            <a:pPr algn="l">
              <a:defRPr sz="1800" b="1">
                <a:solidFill>
                  <a:srgbClr val="1B3B4C"/>
                </a:solidFill>
                <a:latin typeface="Calibri"/>
              </a:defRPr>
            </a:pPr>
            <a:r>
              <a:t>☐</a:t>
            </a:r>
          </a:p>
        </p:txBody>
      </p:sp>
      <p:sp>
        <p:nvSpPr>
          <p:cNvPr id="9" name="TextBox 8"/>
          <p:cNvSpPr txBox="1"/>
          <p:nvPr/>
        </p:nvSpPr>
        <p:spPr>
          <a:xfrm>
            <a:off x="1298448" y="2340864"/>
            <a:ext cx="9994392" cy="237744"/>
          </a:xfrm>
          <a:prstGeom prst="rect">
            <a:avLst/>
          </a:prstGeom>
          <a:noFill/>
        </p:spPr>
        <p:txBody>
          <a:bodyPr wrap="square" anchor="t">
            <a:spAutoFit/>
          </a:bodyPr>
          <a:lstStyle/>
          <a:p>
            <a:pPr algn="l">
              <a:defRPr sz="1300" b="1">
                <a:solidFill>
                  <a:srgbClr val="102C3C"/>
                </a:solidFill>
                <a:latin typeface="Calibri"/>
              </a:defRPr>
            </a:pPr>
            <a:r>
              <a:t>SP5 → SP6   ·   PENDIENTE</a:t>
            </a:r>
          </a:p>
        </p:txBody>
      </p:sp>
      <p:sp>
        <p:nvSpPr>
          <p:cNvPr id="10" name="TextBox 9"/>
          <p:cNvSpPr txBox="1"/>
          <p:nvPr/>
        </p:nvSpPr>
        <p:spPr>
          <a:xfrm>
            <a:off x="1298448" y="2560320"/>
            <a:ext cx="9994392" cy="219456"/>
          </a:xfrm>
          <a:prstGeom prst="rect">
            <a:avLst/>
          </a:prstGeom>
          <a:noFill/>
        </p:spPr>
        <p:txBody>
          <a:bodyPr wrap="square" anchor="t">
            <a:spAutoFit/>
          </a:bodyPr>
          <a:lstStyle/>
          <a:p>
            <a:pPr algn="l">
              <a:defRPr sz="1050" b="0">
                <a:solidFill>
                  <a:srgbClr val="5A7281"/>
                </a:solidFill>
                <a:latin typeface="Calibri"/>
              </a:defRPr>
            </a:pPr>
            <a:r>
              <a:t>Plantilla SUSE Linux Enterprise 15 SP5 · transición inicial completada.</a:t>
            </a:r>
          </a:p>
        </p:txBody>
      </p:sp>
      <p:sp>
        <p:nvSpPr>
          <p:cNvPr id="11" name="Rounded Rectangle 10"/>
          <p:cNvSpPr/>
          <p:nvPr/>
        </p:nvSpPr>
        <p:spPr>
          <a:xfrm>
            <a:off x="749808" y="2926080"/>
            <a:ext cx="10680192" cy="512064"/>
          </a:xfrm>
          <a:prstGeom prst="roundRect">
            <a:avLst/>
          </a:prstGeom>
          <a:solidFill>
            <a:srgbClr val="E8E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7824" y="2926080"/>
            <a:ext cx="365760" cy="512064"/>
          </a:xfrm>
          <a:prstGeom prst="rect">
            <a:avLst/>
          </a:prstGeom>
          <a:noFill/>
        </p:spPr>
        <p:txBody>
          <a:bodyPr wrap="square" anchor="ctr">
            <a:spAutoFit/>
          </a:bodyPr>
          <a:lstStyle/>
          <a:p>
            <a:pPr algn="l">
              <a:defRPr sz="1800" b="1">
                <a:solidFill>
                  <a:srgbClr val="1B3B4C"/>
                </a:solidFill>
                <a:latin typeface="Calibri"/>
              </a:defRPr>
            </a:pPr>
            <a:r>
              <a:t>☐</a:t>
            </a:r>
          </a:p>
        </p:txBody>
      </p:sp>
      <p:sp>
        <p:nvSpPr>
          <p:cNvPr id="13" name="TextBox 12"/>
          <p:cNvSpPr txBox="1"/>
          <p:nvPr/>
        </p:nvSpPr>
        <p:spPr>
          <a:xfrm>
            <a:off x="1298448" y="2980944"/>
            <a:ext cx="9994392" cy="237744"/>
          </a:xfrm>
          <a:prstGeom prst="rect">
            <a:avLst/>
          </a:prstGeom>
          <a:noFill/>
        </p:spPr>
        <p:txBody>
          <a:bodyPr wrap="square" anchor="t">
            <a:spAutoFit/>
          </a:bodyPr>
          <a:lstStyle/>
          <a:p>
            <a:pPr algn="l">
              <a:defRPr sz="1300" b="1">
                <a:solidFill>
                  <a:srgbClr val="102C3C"/>
                </a:solidFill>
                <a:latin typeface="Calibri"/>
              </a:defRPr>
            </a:pPr>
            <a:r>
              <a:t>SP6 → SP7   ·   PENDIENTE</a:t>
            </a:r>
          </a:p>
        </p:txBody>
      </p:sp>
      <p:sp>
        <p:nvSpPr>
          <p:cNvPr id="14" name="TextBox 13"/>
          <p:cNvSpPr txBox="1"/>
          <p:nvPr/>
        </p:nvSpPr>
        <p:spPr>
          <a:xfrm>
            <a:off x="1298448" y="3200400"/>
            <a:ext cx="9994392" cy="219456"/>
          </a:xfrm>
          <a:prstGeom prst="rect">
            <a:avLst/>
          </a:prstGeom>
          <a:noFill/>
        </p:spPr>
        <p:txBody>
          <a:bodyPr wrap="square" anchor="t">
            <a:spAutoFit/>
          </a:bodyPr>
          <a:lstStyle/>
          <a:p>
            <a:pPr algn="l">
              <a:defRPr sz="1050" b="0">
                <a:solidFill>
                  <a:srgbClr val="5A7281"/>
                </a:solidFill>
                <a:latin typeface="Calibri"/>
              </a:defRPr>
            </a:pPr>
            <a:r>
              <a:t>Continuación sobre la misma plantilla, una vez actualizada de SP5 a SP6.</a:t>
            </a:r>
          </a:p>
        </p:txBody>
      </p:sp>
      <p:sp>
        <p:nvSpPr>
          <p:cNvPr id="15" name="Rounded Rectangle 14"/>
          <p:cNvSpPr/>
          <p:nvPr/>
        </p:nvSpPr>
        <p:spPr>
          <a:xfrm>
            <a:off x="749808" y="3566160"/>
            <a:ext cx="10680192" cy="512064"/>
          </a:xfrm>
          <a:prstGeom prst="roundRect">
            <a:avLst/>
          </a:prstGeom>
          <a:solidFill>
            <a:srgbClr val="E8E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77824" y="3566160"/>
            <a:ext cx="365760" cy="512064"/>
          </a:xfrm>
          <a:prstGeom prst="rect">
            <a:avLst/>
          </a:prstGeom>
          <a:noFill/>
        </p:spPr>
        <p:txBody>
          <a:bodyPr wrap="square" anchor="ctr">
            <a:spAutoFit/>
          </a:bodyPr>
          <a:lstStyle/>
          <a:p>
            <a:pPr algn="l">
              <a:defRPr sz="1800" b="1">
                <a:solidFill>
                  <a:srgbClr val="1B3B4C"/>
                </a:solidFill>
                <a:latin typeface="Calibri"/>
              </a:defRPr>
            </a:pPr>
            <a:r>
              <a:t>☐</a:t>
            </a:r>
          </a:p>
        </p:txBody>
      </p:sp>
      <p:sp>
        <p:nvSpPr>
          <p:cNvPr id="17" name="TextBox 16"/>
          <p:cNvSpPr txBox="1"/>
          <p:nvPr/>
        </p:nvSpPr>
        <p:spPr>
          <a:xfrm>
            <a:off x="1298448" y="3621024"/>
            <a:ext cx="9994392" cy="237744"/>
          </a:xfrm>
          <a:prstGeom prst="rect">
            <a:avLst/>
          </a:prstGeom>
          <a:noFill/>
        </p:spPr>
        <p:txBody>
          <a:bodyPr wrap="square" anchor="t">
            <a:spAutoFit/>
          </a:bodyPr>
          <a:lstStyle/>
          <a:p>
            <a:pPr algn="l">
              <a:defRPr sz="1300" b="1">
                <a:solidFill>
                  <a:srgbClr val="102C3C"/>
                </a:solidFill>
                <a:latin typeface="Calibri"/>
              </a:defRPr>
            </a:pPr>
            <a:r>
              <a:t>FULL · SP5 → SP6 → SP7   ·   PENDIENTE</a:t>
            </a:r>
          </a:p>
        </p:txBody>
      </p:sp>
      <p:sp>
        <p:nvSpPr>
          <p:cNvPr id="18" name="TextBox 17"/>
          <p:cNvSpPr txBox="1"/>
          <p:nvPr/>
        </p:nvSpPr>
        <p:spPr>
          <a:xfrm>
            <a:off x="1298448" y="3840480"/>
            <a:ext cx="9994392" cy="219456"/>
          </a:xfrm>
          <a:prstGeom prst="rect">
            <a:avLst/>
          </a:prstGeom>
          <a:noFill/>
        </p:spPr>
        <p:txBody>
          <a:bodyPr wrap="square" anchor="t">
            <a:spAutoFit/>
          </a:bodyPr>
          <a:lstStyle/>
          <a:p>
            <a:pPr algn="l">
              <a:defRPr sz="1050" b="0">
                <a:solidFill>
                  <a:srgbClr val="5A7281"/>
                </a:solidFill>
                <a:latin typeface="Calibri"/>
              </a:defRPr>
            </a:pPr>
            <a:r>
              <a:t>Prueba integral desde SP5; valida SP6 antes de avanzar a SP7.</a:t>
            </a:r>
          </a:p>
        </p:txBody>
      </p:sp>
      <p:sp>
        <p:nvSpPr>
          <p:cNvPr id="19" name="TextBox 18"/>
          <p:cNvSpPr txBox="1"/>
          <p:nvPr/>
        </p:nvSpPr>
        <p:spPr>
          <a:xfrm>
            <a:off x="749808" y="4297680"/>
            <a:ext cx="10515600" cy="365760"/>
          </a:xfrm>
          <a:prstGeom prst="rect">
            <a:avLst/>
          </a:prstGeom>
          <a:noFill/>
        </p:spPr>
        <p:txBody>
          <a:bodyPr wrap="square" anchor="t">
            <a:spAutoFit/>
          </a:bodyPr>
          <a:lstStyle/>
          <a:p>
            <a:pPr algn="l">
              <a:defRPr sz="1100" b="0">
                <a:solidFill>
                  <a:srgbClr val="5A7281"/>
                </a:solidFill>
                <a:latin typeface="Calibri"/>
              </a:defRPr>
            </a:pPr>
            <a:r>
              <a:t>Marcar manualmente en PowerPoint cuando la prueba real se complete (no es un checkbox dinámico de presentación).</a:t>
            </a:r>
          </a:p>
        </p:txBody>
      </p:sp>
      <p:sp>
        <p:nvSpPr>
          <p:cNvPr id="20" name="Rectangle 19"/>
          <p:cNvSpPr/>
          <p:nvPr/>
        </p:nvSpPr>
        <p:spPr>
          <a:xfrm>
            <a:off x="749808" y="6437376"/>
            <a:ext cx="10692079" cy="1"/>
          </a:xfrm>
          <a:prstGeom prst="rect">
            <a:avLst/>
          </a:prstGeom>
          <a:solidFill>
            <a:srgbClr val="9AB8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9808" y="6464808"/>
            <a:ext cx="6400800" cy="182880"/>
          </a:xfrm>
          <a:prstGeom prst="rect">
            <a:avLst/>
          </a:prstGeom>
          <a:noFill/>
        </p:spPr>
        <p:txBody>
          <a:bodyPr wrap="square" anchor="t">
            <a:spAutoFit/>
          </a:bodyPr>
          <a:lstStyle/>
          <a:p>
            <a:pPr algn="l">
              <a:defRPr sz="800" b="1">
                <a:solidFill>
                  <a:srgbClr val="5A7281"/>
                </a:solidFill>
                <a:latin typeface="Calibri"/>
              </a:defRPr>
            </a:pPr>
            <a:r>
              <a:t>G E O P O S   /   I N F R A E S T R U C T U R A   L I N U X</a:t>
            </a:r>
          </a:p>
        </p:txBody>
      </p:sp>
      <p:sp>
        <p:nvSpPr>
          <p:cNvPr id="22" name="TextBox 21"/>
          <p:cNvSpPr txBox="1"/>
          <p:nvPr/>
        </p:nvSpPr>
        <p:spPr>
          <a:xfrm>
            <a:off x="10820095" y="6455664"/>
            <a:ext cx="822960" cy="182880"/>
          </a:xfrm>
          <a:prstGeom prst="rect">
            <a:avLst/>
          </a:prstGeom>
          <a:noFill/>
        </p:spPr>
        <p:txBody>
          <a:bodyPr wrap="square" anchor="t">
            <a:spAutoFit/>
          </a:bodyPr>
          <a:lstStyle/>
          <a:p>
            <a:pPr algn="r">
              <a:defRPr sz="900" b="1">
                <a:solidFill>
                  <a:srgbClr val="5A7281"/>
                </a:solidFill>
                <a:latin typeface="Calibri"/>
              </a:defRPr>
            </a:pPr>
            <a:r>
              <a:t>11  /  12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15B5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402336"/>
            <a:ext cx="9144000" cy="274320"/>
          </a:xfrm>
          <a:prstGeom prst="rect">
            <a:avLst/>
          </a:prstGeom>
          <a:noFill/>
        </p:spPr>
        <p:txBody>
          <a:bodyPr wrap="square" anchor="t">
            <a:spAutoFit/>
          </a:bodyPr>
          <a:lstStyle/>
          <a:p>
            <a:pPr algn="l">
              <a:defRPr sz="1400" b="1">
                <a:solidFill>
                  <a:srgbClr val="15B589"/>
                </a:solidFill>
                <a:latin typeface="Calibri"/>
              </a:defRPr>
            </a:pPr>
            <a:r>
              <a:t>11 / SIGUIENTES PASOS</a:t>
            </a:r>
          </a:p>
        </p:txBody>
      </p:sp>
      <p:sp>
        <p:nvSpPr>
          <p:cNvPr id="4" name="TextBox 3"/>
          <p:cNvSpPr txBox="1"/>
          <p:nvPr/>
        </p:nvSpPr>
        <p:spPr>
          <a:xfrm>
            <a:off x="749808" y="822960"/>
            <a:ext cx="10881360" cy="603504"/>
          </a:xfrm>
          <a:prstGeom prst="rect">
            <a:avLst/>
          </a:prstGeom>
          <a:noFill/>
        </p:spPr>
        <p:txBody>
          <a:bodyPr wrap="square" anchor="t">
            <a:spAutoFit/>
          </a:bodyPr>
          <a:lstStyle/>
          <a:p>
            <a:pPr algn="l">
              <a:defRPr sz="3000" b="1">
                <a:solidFill>
                  <a:srgbClr val="102C3C"/>
                </a:solidFill>
                <a:latin typeface="Calibri"/>
              </a:defRPr>
            </a:pPr>
            <a:r>
              <a:t>Pruebas en QA y cierre funcional</a:t>
            </a:r>
          </a:p>
        </p:txBody>
      </p:sp>
      <p:sp>
        <p:nvSpPr>
          <p:cNvPr id="5" name="TextBox 4"/>
          <p:cNvSpPr txBox="1"/>
          <p:nvPr/>
        </p:nvSpPr>
        <p:spPr>
          <a:xfrm>
            <a:off x="749808" y="1481328"/>
            <a:ext cx="10607040" cy="411480"/>
          </a:xfrm>
          <a:prstGeom prst="rect">
            <a:avLst/>
          </a:prstGeom>
          <a:noFill/>
        </p:spPr>
        <p:txBody>
          <a:bodyPr wrap="square" anchor="t">
            <a:spAutoFit/>
          </a:bodyPr>
          <a:lstStyle/>
          <a:p>
            <a:pPr algn="l">
              <a:defRPr sz="1500" b="0">
                <a:solidFill>
                  <a:srgbClr val="5A7281"/>
                </a:solidFill>
                <a:latin typeface="Calibri"/>
              </a:defRPr>
            </a:pPr>
            <a:r>
              <a:t>Seguimiento de los cuatro modos en servidores reales de QA y de la validación GeoPOS.</a:t>
            </a:r>
          </a:p>
        </p:txBody>
      </p:sp>
      <p:sp>
        <p:nvSpPr>
          <p:cNvPr id="6" name="TextBox 5"/>
          <p:cNvSpPr txBox="1"/>
          <p:nvPr/>
        </p:nvSpPr>
        <p:spPr>
          <a:xfrm>
            <a:off x="749808" y="1920240"/>
            <a:ext cx="10058400" cy="219456"/>
          </a:xfrm>
          <a:prstGeom prst="rect">
            <a:avLst/>
          </a:prstGeom>
          <a:noFill/>
        </p:spPr>
        <p:txBody>
          <a:bodyPr wrap="square" anchor="t">
            <a:spAutoFit/>
          </a:bodyPr>
          <a:lstStyle/>
          <a:p>
            <a:pPr algn="l">
              <a:defRPr sz="1050" b="1">
                <a:solidFill>
                  <a:srgbClr val="5A7281"/>
                </a:solidFill>
                <a:latin typeface="Calibri"/>
              </a:defRPr>
            </a:pPr>
            <a:r>
              <a:t>AMBIENTE REAL QA   ·   CUATRO ESCENARIOS DE PRUEBA</a:t>
            </a:r>
          </a:p>
        </p:txBody>
      </p:sp>
      <p:sp>
        <p:nvSpPr>
          <p:cNvPr id="7" name="Rounded Rectangle 6"/>
          <p:cNvSpPr/>
          <p:nvPr/>
        </p:nvSpPr>
        <p:spPr>
          <a:xfrm>
            <a:off x="749808" y="2194560"/>
            <a:ext cx="10680192" cy="512064"/>
          </a:xfrm>
          <a:prstGeom prst="roundRect">
            <a:avLst/>
          </a:prstGeom>
          <a:solidFill>
            <a:srgbClr val="E8E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77824" y="2194560"/>
            <a:ext cx="365760" cy="512064"/>
          </a:xfrm>
          <a:prstGeom prst="rect">
            <a:avLst/>
          </a:prstGeom>
          <a:noFill/>
        </p:spPr>
        <p:txBody>
          <a:bodyPr wrap="square" anchor="ctr">
            <a:spAutoFit/>
          </a:bodyPr>
          <a:lstStyle/>
          <a:p>
            <a:pPr algn="l">
              <a:defRPr sz="1800" b="1">
                <a:solidFill>
                  <a:srgbClr val="1B3B4C"/>
                </a:solidFill>
                <a:latin typeface="Calibri"/>
              </a:defRPr>
            </a:pPr>
            <a:r>
              <a:t>☐</a:t>
            </a:r>
          </a:p>
        </p:txBody>
      </p:sp>
      <p:sp>
        <p:nvSpPr>
          <p:cNvPr id="9" name="TextBox 8"/>
          <p:cNvSpPr txBox="1"/>
          <p:nvPr/>
        </p:nvSpPr>
        <p:spPr>
          <a:xfrm>
            <a:off x="1298448" y="2249424"/>
            <a:ext cx="9994392" cy="237744"/>
          </a:xfrm>
          <a:prstGeom prst="rect">
            <a:avLst/>
          </a:prstGeom>
          <a:noFill/>
        </p:spPr>
        <p:txBody>
          <a:bodyPr wrap="square" anchor="t">
            <a:spAutoFit/>
          </a:bodyPr>
          <a:lstStyle/>
          <a:p>
            <a:pPr algn="l">
              <a:defRPr sz="1300" b="1">
                <a:solidFill>
                  <a:srgbClr val="102C3C"/>
                </a:solidFill>
                <a:latin typeface="Calibri"/>
              </a:defRPr>
            </a:pPr>
            <a:r>
              <a:t>SP4 → SP5   ·   PENDIENTE</a:t>
            </a:r>
          </a:p>
        </p:txBody>
      </p:sp>
      <p:sp>
        <p:nvSpPr>
          <p:cNvPr id="10" name="TextBox 9"/>
          <p:cNvSpPr txBox="1"/>
          <p:nvPr/>
        </p:nvSpPr>
        <p:spPr>
          <a:xfrm>
            <a:off x="1298448" y="2468880"/>
            <a:ext cx="9994392" cy="219456"/>
          </a:xfrm>
          <a:prstGeom prst="rect">
            <a:avLst/>
          </a:prstGeom>
          <a:noFill/>
        </p:spPr>
        <p:txBody>
          <a:bodyPr wrap="square" anchor="t">
            <a:spAutoFit/>
          </a:bodyPr>
          <a:lstStyle/>
          <a:p>
            <a:pPr algn="l">
              <a:defRPr sz="1050" b="0">
                <a:solidFill>
                  <a:srgbClr val="5A7281"/>
                </a:solidFill>
                <a:latin typeface="Calibri"/>
              </a:defRPr>
            </a:pPr>
            <a:r>
              <a:t>Upgrade individual en servidor QA con Service Pack 4.</a:t>
            </a:r>
          </a:p>
        </p:txBody>
      </p:sp>
      <p:sp>
        <p:nvSpPr>
          <p:cNvPr id="11" name="Rounded Rectangle 10"/>
          <p:cNvSpPr/>
          <p:nvPr/>
        </p:nvSpPr>
        <p:spPr>
          <a:xfrm>
            <a:off x="749808" y="2761488"/>
            <a:ext cx="10680192" cy="512064"/>
          </a:xfrm>
          <a:prstGeom prst="roundRect">
            <a:avLst/>
          </a:prstGeom>
          <a:solidFill>
            <a:srgbClr val="E8E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7824" y="2761488"/>
            <a:ext cx="365760" cy="512064"/>
          </a:xfrm>
          <a:prstGeom prst="rect">
            <a:avLst/>
          </a:prstGeom>
          <a:noFill/>
        </p:spPr>
        <p:txBody>
          <a:bodyPr wrap="square" anchor="ctr">
            <a:spAutoFit/>
          </a:bodyPr>
          <a:lstStyle/>
          <a:p>
            <a:pPr algn="l">
              <a:defRPr sz="1800" b="1">
                <a:solidFill>
                  <a:srgbClr val="1B3B4C"/>
                </a:solidFill>
                <a:latin typeface="Calibri"/>
              </a:defRPr>
            </a:pPr>
            <a:r>
              <a:t>☐</a:t>
            </a:r>
          </a:p>
        </p:txBody>
      </p:sp>
      <p:sp>
        <p:nvSpPr>
          <p:cNvPr id="13" name="TextBox 12"/>
          <p:cNvSpPr txBox="1"/>
          <p:nvPr/>
        </p:nvSpPr>
        <p:spPr>
          <a:xfrm>
            <a:off x="1298448" y="2816352"/>
            <a:ext cx="9994392" cy="237744"/>
          </a:xfrm>
          <a:prstGeom prst="rect">
            <a:avLst/>
          </a:prstGeom>
          <a:noFill/>
        </p:spPr>
        <p:txBody>
          <a:bodyPr wrap="square" anchor="t">
            <a:spAutoFit/>
          </a:bodyPr>
          <a:lstStyle/>
          <a:p>
            <a:pPr algn="l">
              <a:defRPr sz="1300" b="1">
                <a:solidFill>
                  <a:srgbClr val="102C3C"/>
                </a:solidFill>
                <a:latin typeface="Calibri"/>
              </a:defRPr>
            </a:pPr>
            <a:r>
              <a:t>SP5 → SP6   ·   PENDIENTE</a:t>
            </a:r>
          </a:p>
        </p:txBody>
      </p:sp>
      <p:sp>
        <p:nvSpPr>
          <p:cNvPr id="14" name="TextBox 13"/>
          <p:cNvSpPr txBox="1"/>
          <p:nvPr/>
        </p:nvSpPr>
        <p:spPr>
          <a:xfrm>
            <a:off x="1298448" y="3035808"/>
            <a:ext cx="9994392" cy="219456"/>
          </a:xfrm>
          <a:prstGeom prst="rect">
            <a:avLst/>
          </a:prstGeom>
          <a:noFill/>
        </p:spPr>
        <p:txBody>
          <a:bodyPr wrap="square" anchor="t">
            <a:spAutoFit/>
          </a:bodyPr>
          <a:lstStyle/>
          <a:p>
            <a:pPr algn="l">
              <a:defRPr sz="1050" b="0">
                <a:solidFill>
                  <a:srgbClr val="5A7281"/>
                </a:solidFill>
                <a:latin typeface="Calibri"/>
              </a:defRPr>
            </a:pPr>
            <a:r>
              <a:t>Upgrade individual en servidor QA con Service Pack 5.</a:t>
            </a:r>
          </a:p>
        </p:txBody>
      </p:sp>
      <p:sp>
        <p:nvSpPr>
          <p:cNvPr id="15" name="Rounded Rectangle 14"/>
          <p:cNvSpPr/>
          <p:nvPr/>
        </p:nvSpPr>
        <p:spPr>
          <a:xfrm>
            <a:off x="749808" y="3328416"/>
            <a:ext cx="10680192" cy="512064"/>
          </a:xfrm>
          <a:prstGeom prst="roundRect">
            <a:avLst/>
          </a:prstGeom>
          <a:solidFill>
            <a:srgbClr val="E8E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77824" y="3328416"/>
            <a:ext cx="365760" cy="512064"/>
          </a:xfrm>
          <a:prstGeom prst="rect">
            <a:avLst/>
          </a:prstGeom>
          <a:noFill/>
        </p:spPr>
        <p:txBody>
          <a:bodyPr wrap="square" anchor="ctr">
            <a:spAutoFit/>
          </a:bodyPr>
          <a:lstStyle/>
          <a:p>
            <a:pPr algn="l">
              <a:defRPr sz="1800" b="1">
                <a:solidFill>
                  <a:srgbClr val="1B3B4C"/>
                </a:solidFill>
                <a:latin typeface="Calibri"/>
              </a:defRPr>
            </a:pPr>
            <a:r>
              <a:t>☐</a:t>
            </a:r>
          </a:p>
        </p:txBody>
      </p:sp>
      <p:sp>
        <p:nvSpPr>
          <p:cNvPr id="17" name="TextBox 16"/>
          <p:cNvSpPr txBox="1"/>
          <p:nvPr/>
        </p:nvSpPr>
        <p:spPr>
          <a:xfrm>
            <a:off x="1298448" y="3383280"/>
            <a:ext cx="9994392" cy="237744"/>
          </a:xfrm>
          <a:prstGeom prst="rect">
            <a:avLst/>
          </a:prstGeom>
          <a:noFill/>
        </p:spPr>
        <p:txBody>
          <a:bodyPr wrap="square" anchor="t">
            <a:spAutoFit/>
          </a:bodyPr>
          <a:lstStyle/>
          <a:p>
            <a:pPr algn="l">
              <a:defRPr sz="1300" b="1">
                <a:solidFill>
                  <a:srgbClr val="102C3C"/>
                </a:solidFill>
                <a:latin typeface="Calibri"/>
              </a:defRPr>
            </a:pPr>
            <a:r>
              <a:t>SP6 → SP7   ·   PENDIENTE</a:t>
            </a:r>
          </a:p>
        </p:txBody>
      </p:sp>
      <p:sp>
        <p:nvSpPr>
          <p:cNvPr id="18" name="TextBox 17"/>
          <p:cNvSpPr txBox="1"/>
          <p:nvPr/>
        </p:nvSpPr>
        <p:spPr>
          <a:xfrm>
            <a:off x="1298448" y="3602736"/>
            <a:ext cx="9994392" cy="219456"/>
          </a:xfrm>
          <a:prstGeom prst="rect">
            <a:avLst/>
          </a:prstGeom>
          <a:noFill/>
        </p:spPr>
        <p:txBody>
          <a:bodyPr wrap="square" anchor="t">
            <a:spAutoFit/>
          </a:bodyPr>
          <a:lstStyle/>
          <a:p>
            <a:pPr algn="l">
              <a:defRPr sz="1050" b="0">
                <a:solidFill>
                  <a:srgbClr val="5A7281"/>
                </a:solidFill>
                <a:latin typeface="Calibri"/>
              </a:defRPr>
            </a:pPr>
            <a:r>
              <a:t>Upgrade individual en servidor QA con Service Pack 6.</a:t>
            </a:r>
          </a:p>
        </p:txBody>
      </p:sp>
      <p:sp>
        <p:nvSpPr>
          <p:cNvPr id="19" name="Rounded Rectangle 18"/>
          <p:cNvSpPr/>
          <p:nvPr/>
        </p:nvSpPr>
        <p:spPr>
          <a:xfrm>
            <a:off x="749808" y="3895344"/>
            <a:ext cx="10680192" cy="512064"/>
          </a:xfrm>
          <a:prstGeom prst="roundRect">
            <a:avLst/>
          </a:prstGeom>
          <a:solidFill>
            <a:srgbClr val="E8E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77824" y="3895344"/>
            <a:ext cx="365760" cy="512064"/>
          </a:xfrm>
          <a:prstGeom prst="rect">
            <a:avLst/>
          </a:prstGeom>
          <a:noFill/>
        </p:spPr>
        <p:txBody>
          <a:bodyPr wrap="square" anchor="ctr">
            <a:spAutoFit/>
          </a:bodyPr>
          <a:lstStyle/>
          <a:p>
            <a:pPr algn="l">
              <a:defRPr sz="1800" b="1">
                <a:solidFill>
                  <a:srgbClr val="1B3B4C"/>
                </a:solidFill>
                <a:latin typeface="Calibri"/>
              </a:defRPr>
            </a:pPr>
            <a:r>
              <a:t>☐</a:t>
            </a:r>
          </a:p>
        </p:txBody>
      </p:sp>
      <p:sp>
        <p:nvSpPr>
          <p:cNvPr id="21" name="TextBox 20"/>
          <p:cNvSpPr txBox="1"/>
          <p:nvPr/>
        </p:nvSpPr>
        <p:spPr>
          <a:xfrm>
            <a:off x="1298448" y="3950208"/>
            <a:ext cx="9994392" cy="237744"/>
          </a:xfrm>
          <a:prstGeom prst="rect">
            <a:avLst/>
          </a:prstGeom>
          <a:noFill/>
        </p:spPr>
        <p:txBody>
          <a:bodyPr wrap="square" anchor="t">
            <a:spAutoFit/>
          </a:bodyPr>
          <a:lstStyle/>
          <a:p>
            <a:pPr algn="l">
              <a:defRPr sz="1300" b="1">
                <a:solidFill>
                  <a:srgbClr val="102C3C"/>
                </a:solidFill>
                <a:latin typeface="Calibri"/>
              </a:defRPr>
            </a:pPr>
            <a:r>
              <a:t>FULL · SP5 → SP6 → SP7   ·   PENDIENTE</a:t>
            </a:r>
          </a:p>
        </p:txBody>
      </p:sp>
      <p:sp>
        <p:nvSpPr>
          <p:cNvPr id="22" name="TextBox 21"/>
          <p:cNvSpPr txBox="1"/>
          <p:nvPr/>
        </p:nvSpPr>
        <p:spPr>
          <a:xfrm>
            <a:off x="1298448" y="4169664"/>
            <a:ext cx="9994392" cy="219456"/>
          </a:xfrm>
          <a:prstGeom prst="rect">
            <a:avLst/>
          </a:prstGeom>
          <a:noFill/>
        </p:spPr>
        <p:txBody>
          <a:bodyPr wrap="square" anchor="t">
            <a:spAutoFit/>
          </a:bodyPr>
          <a:lstStyle/>
          <a:p>
            <a:pPr algn="l">
              <a:defRPr sz="1050" b="0">
                <a:solidFill>
                  <a:srgbClr val="5A7281"/>
                </a:solidFill>
                <a:latin typeface="Calibri"/>
              </a:defRPr>
            </a:pPr>
            <a:r>
              <a:t>Secuencia integrada desde SP5 y validación intermedia de SP6.</a:t>
            </a:r>
          </a:p>
        </p:txBody>
      </p:sp>
      <p:sp>
        <p:nvSpPr>
          <p:cNvPr id="23" name="TextBox 22"/>
          <p:cNvSpPr txBox="1"/>
          <p:nvPr/>
        </p:nvSpPr>
        <p:spPr>
          <a:xfrm>
            <a:off x="749808" y="4535424"/>
            <a:ext cx="10058400" cy="219456"/>
          </a:xfrm>
          <a:prstGeom prst="rect">
            <a:avLst/>
          </a:prstGeom>
          <a:noFill/>
        </p:spPr>
        <p:txBody>
          <a:bodyPr wrap="square" anchor="t">
            <a:spAutoFit/>
          </a:bodyPr>
          <a:lstStyle/>
          <a:p>
            <a:pPr algn="l">
              <a:defRPr sz="1050" b="1">
                <a:solidFill>
                  <a:srgbClr val="5A7281"/>
                </a:solidFill>
                <a:latin typeface="Calibri"/>
              </a:defRPr>
            </a:pPr>
            <a:r>
              <a:t>CIERRE FUNCIONAL   ·   ÚLTIMA ACTIVIDAD DE VALIDACIÓN</a:t>
            </a:r>
          </a:p>
        </p:txBody>
      </p:sp>
      <p:sp>
        <p:nvSpPr>
          <p:cNvPr id="24" name="Rounded Rectangle 23"/>
          <p:cNvSpPr/>
          <p:nvPr/>
        </p:nvSpPr>
        <p:spPr>
          <a:xfrm>
            <a:off x="749808" y="4809744"/>
            <a:ext cx="10680192" cy="512064"/>
          </a:xfrm>
          <a:prstGeom prst="roundRect">
            <a:avLst/>
          </a:prstGeom>
          <a:solidFill>
            <a:srgbClr val="E8E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77824" y="4809744"/>
            <a:ext cx="365760" cy="512064"/>
          </a:xfrm>
          <a:prstGeom prst="rect">
            <a:avLst/>
          </a:prstGeom>
          <a:noFill/>
        </p:spPr>
        <p:txBody>
          <a:bodyPr wrap="square" anchor="ctr">
            <a:spAutoFit/>
          </a:bodyPr>
          <a:lstStyle/>
          <a:p>
            <a:pPr algn="l">
              <a:defRPr sz="1800" b="1">
                <a:solidFill>
                  <a:srgbClr val="1B3B4C"/>
                </a:solidFill>
                <a:latin typeface="Calibri"/>
              </a:defRPr>
            </a:pPr>
            <a:r>
              <a:t>☐</a:t>
            </a:r>
          </a:p>
        </p:txBody>
      </p:sp>
      <p:sp>
        <p:nvSpPr>
          <p:cNvPr id="26" name="TextBox 25"/>
          <p:cNvSpPr txBox="1"/>
          <p:nvPr/>
        </p:nvSpPr>
        <p:spPr>
          <a:xfrm>
            <a:off x="1298448" y="4864608"/>
            <a:ext cx="9994392" cy="237744"/>
          </a:xfrm>
          <a:prstGeom prst="rect">
            <a:avLst/>
          </a:prstGeom>
          <a:noFill/>
        </p:spPr>
        <p:txBody>
          <a:bodyPr wrap="square" anchor="t">
            <a:spAutoFit/>
          </a:bodyPr>
          <a:lstStyle/>
          <a:p>
            <a:pPr algn="l">
              <a:defRPr sz="1300" b="1">
                <a:solidFill>
                  <a:srgbClr val="102C3C"/>
                </a:solidFill>
                <a:latin typeface="Calibri"/>
              </a:defRPr>
            </a:pPr>
            <a:r>
              <a:t>Verificación de servicios GeoPOS   ·   PENDIENTE</a:t>
            </a:r>
          </a:p>
        </p:txBody>
      </p:sp>
      <p:sp>
        <p:nvSpPr>
          <p:cNvPr id="27" name="TextBox 26"/>
          <p:cNvSpPr txBox="1"/>
          <p:nvPr/>
        </p:nvSpPr>
        <p:spPr>
          <a:xfrm>
            <a:off x="1298448" y="5084064"/>
            <a:ext cx="9994392" cy="219456"/>
          </a:xfrm>
          <a:prstGeom prst="rect">
            <a:avLst/>
          </a:prstGeom>
          <a:noFill/>
        </p:spPr>
        <p:txBody>
          <a:bodyPr wrap="square" anchor="t">
            <a:spAutoFit/>
          </a:bodyPr>
          <a:lstStyle/>
          <a:p>
            <a:pPr algn="l">
              <a:defRPr sz="1050" b="0">
                <a:solidFill>
                  <a:srgbClr val="5A7281"/>
                </a:solidFill>
                <a:latin typeface="Calibri"/>
              </a:defRPr>
            </a:pPr>
            <a:r>
              <a:t>Incorporar y probar servicios, procesos Java, puertos y URL de salud opcionales.</a:t>
            </a:r>
          </a:p>
        </p:txBody>
      </p:sp>
      <p:sp>
        <p:nvSpPr>
          <p:cNvPr id="28" name="Rectangle 27"/>
          <p:cNvSpPr/>
          <p:nvPr/>
        </p:nvSpPr>
        <p:spPr>
          <a:xfrm>
            <a:off x="749808" y="6437376"/>
            <a:ext cx="10692079" cy="1"/>
          </a:xfrm>
          <a:prstGeom prst="rect">
            <a:avLst/>
          </a:prstGeom>
          <a:solidFill>
            <a:srgbClr val="9AB8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9808" y="6464808"/>
            <a:ext cx="6400800" cy="182880"/>
          </a:xfrm>
          <a:prstGeom prst="rect">
            <a:avLst/>
          </a:prstGeom>
          <a:noFill/>
        </p:spPr>
        <p:txBody>
          <a:bodyPr wrap="square" anchor="t">
            <a:spAutoFit/>
          </a:bodyPr>
          <a:lstStyle/>
          <a:p>
            <a:pPr algn="l">
              <a:defRPr sz="800" b="1">
                <a:solidFill>
                  <a:srgbClr val="5A7281"/>
                </a:solidFill>
                <a:latin typeface="Calibri"/>
              </a:defRPr>
            </a:pPr>
            <a:r>
              <a:t>G E O P O S   /   I N F R A E S T R U C T U R A   L I N U X</a:t>
            </a:r>
          </a:p>
        </p:txBody>
      </p:sp>
      <p:sp>
        <p:nvSpPr>
          <p:cNvPr id="30" name="TextBox 29"/>
          <p:cNvSpPr txBox="1"/>
          <p:nvPr/>
        </p:nvSpPr>
        <p:spPr>
          <a:xfrm>
            <a:off x="10820095" y="6455664"/>
            <a:ext cx="822960" cy="182880"/>
          </a:xfrm>
          <a:prstGeom prst="rect">
            <a:avLst/>
          </a:prstGeom>
          <a:noFill/>
        </p:spPr>
        <p:txBody>
          <a:bodyPr wrap="square" anchor="t">
            <a:spAutoFit/>
          </a:bodyPr>
          <a:lstStyle/>
          <a:p>
            <a:pPr algn="r">
              <a:defRPr sz="900" b="1">
                <a:solidFill>
                  <a:srgbClr val="5A7281"/>
                </a:solidFill>
                <a:latin typeface="Calibri"/>
              </a:defRPr>
            </a:pPr>
            <a:r>
              <a:t>12  /  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