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Upgrade automatizado de SLES 15</a:t>
            </a:r>
          </a:p>
          <a:p>
            <a:pPr>
              <a:spcBef>
                <a:spcPts val="1200"/>
              </a:spcBef>
              <a:defRPr sz="2200">
                <a:solidFill>
                  <a:srgbClr val="C9D6E8"/>
                </a:solidFill>
              </a:defRPr>
            </a:pPr>
            <a:r>
              <a:t>SP4 → SP5 → SP6 → SP7 para los servidores GeoPOS</a:t>
            </a:r>
          </a:p>
          <a:p>
            <a:pPr>
              <a:spcBef>
                <a:spcPts val="2000"/>
              </a:spcBef>
              <a:defRPr sz="1600">
                <a:solidFill>
                  <a:srgbClr val="1F7A6C"/>
                </a:solidFill>
              </a:defRPr>
            </a:pPr>
            <a:r>
              <a:t>Automatización con Ansible y AWX · Repositorios internos Foreman/Katello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Objetivo y necesidad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Mantener los servidores SLES 15 que ejecutan GeoPOS en un Service Pack soportado por SUSE, de forma segura y repetible.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Hoy el upgrade de Service Pack es una tarea manual: lenta, dependiente de una persona y difícil de auditar entre muchos servidores.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Se necesita un mecanismo controlado, con evidencia clara de resultado, que no dependa del registro SUSEConnect de cada servidor.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El resultado debe poder verificarse sin conectarse por SSH a cada servidor ni leer manualmente el log completo de cada ejecución.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Presentación ejecutiva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Alcance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Rutas contempladas por el proyecto: SP4 → SP5, SP5 → SP6, SP6 → SP7, y la secuencia completa SP5 → SP6 → SP7.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SP4 → SP5 es independiente (para servidores que todavía están en SP4): se ejecuta aparte, no se encadena automáticamente con lo siguiente.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Nunca se realiza un salto directo de etapa (ni SP4 → SP6, ni SP5 → SP7): cada etapa debe quedar realmente validada (aplicada, reiniciada y verificada) antes de continuar.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Aplica a todos los servidores SLES 15 que ejecutan la aplicación GeoPOS (uno o varios servicios, procesos Java y puertos por servidor).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Incluye: verificación previa, ensayo real sin cambios contra los repositorios, migración real, reinicio obligatorio, validación posterior y reporte.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Presentación ejecutiva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Arquitectura de alto nivel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108960" cy="1005840"/>
          </a:xfrm>
          <a:prstGeom prst="roundRect">
            <a:avLst/>
          </a:prstGeom>
          <a:solidFill>
            <a:srgbClr val="1B2A4A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AWX</a:t>
            </a:r>
            <a:br/>
            <a:r>
              <a:t>(orquestación, Survey, Limit)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749040" y="2221992"/>
            <a:ext cx="457200" cy="219456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06240" y="1828800"/>
            <a:ext cx="3108960" cy="1005840"/>
          </a:xfrm>
          <a:prstGeom prst="roundRect">
            <a:avLst/>
          </a:prstGeom>
          <a:solidFill>
            <a:srgbClr val="1F7A6C"/>
          </a:solidFill>
          <a:ln>
            <a:solidFill>
              <a:srgbClr val="1F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Ansible</a:t>
            </a:r>
            <a:br/>
            <a:r>
              <a:t>(este proyecto)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772400" y="2221992"/>
            <a:ext cx="457200" cy="219456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0" y="1828800"/>
            <a:ext cx="3108960" cy="1005840"/>
          </a:xfrm>
          <a:prstGeom prst="roundRect">
            <a:avLst/>
          </a:prstGeom>
          <a:solidFill>
            <a:srgbClr val="1F7A6C"/>
          </a:solidFill>
          <a:ln>
            <a:solidFill>
              <a:srgbClr val="1F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Servidores SLES 15</a:t>
            </a:r>
            <a:br/>
            <a:r>
              <a:t>(GeoPOS)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657600"/>
            <a:ext cx="3108960" cy="100584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Foreman / Katello</a:t>
            </a:r>
            <a:br/>
            <a:r>
              <a:t>(repositorios internos únicamente)</a:t>
            </a:r>
          </a:p>
        </p:txBody>
      </p:sp>
      <p:sp>
        <p:nvSpPr>
          <p:cNvPr id="10" name="Up Arrow 9"/>
          <p:cNvSpPr/>
          <p:nvPr/>
        </p:nvSpPr>
        <p:spPr>
          <a:xfrm>
            <a:off x="5650992" y="2880360"/>
            <a:ext cx="219456" cy="320040"/>
          </a:xfrm>
          <a:prstGeom prst="up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AWX dispara la ejecución (Job Template + Survey) y define el alcance de servidores con “Limit”.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Ansible ejecuta el procedimiento en cada servidor, uno a la vez por defecto.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Los servidores obtienen los paquetes de actualización exclusivamente desde Foreman/Katello, nunca desde Internet ni desde SUSEConnect.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Presentación ejecutiva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Flujo general del upgrade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5852160" cy="502920"/>
          </a:xfrm>
          <a:prstGeom prst="roundRect">
            <a:avLst/>
          </a:prstGeom>
          <a:solidFill>
            <a:srgbClr val="1B2A4A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1. Verificación previa (precheck)</a:t>
            </a:r>
          </a:p>
        </p:txBody>
      </p:sp>
      <p:sp>
        <p:nvSpPr>
          <p:cNvPr id="5" name="Down Arrow 4"/>
          <p:cNvSpPr/>
          <p:nvPr/>
        </p:nvSpPr>
        <p:spPr>
          <a:xfrm>
            <a:off x="3639312" y="1783080"/>
            <a:ext cx="219456" cy="146304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29384"/>
            <a:ext cx="5852160" cy="502920"/>
          </a:xfrm>
          <a:prstGeom prst="roundRect">
            <a:avLst/>
          </a:prstGeom>
          <a:solidFill>
            <a:srgbClr val="1F7A6C"/>
          </a:solidFill>
          <a:ln>
            <a:solidFill>
              <a:srgbClr val="1F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Confirmación explícita para producción</a:t>
            </a:r>
          </a:p>
        </p:txBody>
      </p:sp>
      <p:sp>
        <p:nvSpPr>
          <p:cNvPr id="7" name="Down Arrow 6"/>
          <p:cNvSpPr/>
          <p:nvPr/>
        </p:nvSpPr>
        <p:spPr>
          <a:xfrm>
            <a:off x="3639312" y="2432304"/>
            <a:ext cx="219456" cy="146304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578608"/>
            <a:ext cx="5852160" cy="502920"/>
          </a:xfrm>
          <a:prstGeom prst="roundRect">
            <a:avLst/>
          </a:prstGeom>
          <a:solidFill>
            <a:srgbClr val="1B2A4A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3. Preparar repositorios Foreman/Katello de la etapa</a:t>
            </a:r>
          </a:p>
        </p:txBody>
      </p:sp>
      <p:sp>
        <p:nvSpPr>
          <p:cNvPr id="9" name="Down Arrow 8"/>
          <p:cNvSpPr/>
          <p:nvPr/>
        </p:nvSpPr>
        <p:spPr>
          <a:xfrm>
            <a:off x="3639312" y="3081528"/>
            <a:ext cx="219456" cy="146304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227832"/>
            <a:ext cx="5852160" cy="502920"/>
          </a:xfrm>
          <a:prstGeom prst="roundRect">
            <a:avLst/>
          </a:prstGeom>
          <a:solidFill>
            <a:srgbClr val="1F7A6C"/>
          </a:solidFill>
          <a:ln>
            <a:solidFill>
              <a:srgbClr val="1F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4. Migración real, con verificación interna obligatoria justo antes de aplicar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639312" y="3730752"/>
            <a:ext cx="219456" cy="146304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877056"/>
            <a:ext cx="5852160" cy="502920"/>
          </a:xfrm>
          <a:prstGeom prst="roundRect">
            <a:avLst/>
          </a:prstGeom>
          <a:solidFill>
            <a:srgbClr val="1B2A4A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5. Reinicio obligatorio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639312" y="4379976"/>
            <a:ext cx="219456" cy="146304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4526280"/>
            <a:ext cx="5852160" cy="502920"/>
          </a:xfrm>
          <a:prstGeom prst="roundRect">
            <a:avLst/>
          </a:prstGeom>
          <a:solidFill>
            <a:srgbClr val="1F7A6C"/>
          </a:solidFill>
          <a:ln>
            <a:solidFill>
              <a:srgbClr val="1F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6. Validar sistema operativo, servicios y GeoPOS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639312" y="5029200"/>
            <a:ext cx="219456" cy="146304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175504"/>
            <a:ext cx="5852160" cy="502920"/>
          </a:xfrm>
          <a:prstGeom prst="roundRect">
            <a:avLst/>
          </a:prstGeom>
          <a:solidFill>
            <a:srgbClr val="1B2A4A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7. Reporte de la etapa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46304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Este mismo ciclo aplica igual a SP4→SP5 (independiente) y se repite para SP5→SP6 y, solo si esa etapa quedó realmente validada, para SP6→SP7.</a:t>
            </a:r>
          </a:p>
          <a:p>
            <a:br/>
            <a:pPr>
              <a:defRPr sz="1400">
                <a:solidFill>
                  <a:srgbClr val="666666"/>
                </a:solidFill>
              </a:defRPr>
            </a:pPr>
            <a:r>
              <a:t>Para ensayar sin modificar nada, existe un modo de validación real independiente (siguiente diapositiva).</a:t>
            </a:r>
          </a:p>
          <a:p>
            <a:br/>
            <a:pPr>
              <a:defRPr sz="1400">
                <a:solidFill>
                  <a:srgbClr val="666666"/>
                </a:solidFill>
              </a:defRPr>
            </a:pPr>
            <a:r>
              <a:t>Una migración real requiere una confirmación explícita adicional (no ocurre por defecto), verificada antes de tocar cualquier repositorio.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Presentación ejecutiva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Tres niveles, nunca confundidos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520440" cy="123444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PRECHECK</a:t>
            </a:r>
            <a:br/>
            <a:br/>
            <a:r>
              <a:t>¿Está el servidor listo?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463040"/>
            <a:ext cx="3520440" cy="1234440"/>
          </a:xfrm>
          <a:prstGeom prst="roundRect">
            <a:avLst/>
          </a:prstGeom>
          <a:solidFill>
            <a:srgbClr val="1F7A6C"/>
          </a:solidFill>
          <a:ln>
            <a:solidFill>
              <a:srgbClr val="1F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VALIDATE</a:t>
            </a:r>
            <a:br/>
            <a:br/>
            <a:r>
              <a:t>¿Funcionaría la migración</a:t>
            </a:r>
            <a:br/>
            <a:r>
              <a:t>ahora mismo?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463040"/>
            <a:ext cx="3520440" cy="1234440"/>
          </a:xfrm>
          <a:prstGeom prst="roundRect">
            <a:avLst/>
          </a:prstGeom>
          <a:solidFill>
            <a:srgbClr val="1B2A4A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UPGRADE</a:t>
            </a:r>
            <a:br/>
            <a:br/>
            <a:r>
              <a:t>Ejecución real,</a:t>
            </a:r>
            <a:br/>
            <a:r>
              <a:t>con cambios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•  PRECHECK nunca modifica nada: revisa salud del servidor y su preparación.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•  VALIDATE hace un ensayo real contra los repositorios Foreman, sin dejar ningún cambio permanente en el servidor.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•  Solo UPGRADE modifica el servidor, y únicamente tras una confirmación explícita adicional.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•  Estos tres niveles no son intercambiables: nunca se presenta un ensayo como si fuera la ejecución real, ni al revés.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Presentación ejecutiva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Repositorios internos Foreman/Katello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El upgrade usa exclusivamente los repositorios internos que el administrador configura en Foreman/Katello.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No se usan repositorios públicos de SUSE en ningún momento de la migración.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El estado de registro de SUSEConnect (registrado, mal registrado o no registrado) no determina ni bloquea el procedimiento; si se consulta, es solo informativo.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Antes de migrar, se inventarían los repositorios ya existentes en el servidor y se deshabilitan los que estén activos — nunca se borran, y no se reactivan automáticamente al terminar.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Los repositorios que la automatización agrega son temporales y quedan claramente identificados; al finalizar una etapa con éxito, se retiran automáticamente.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El proceso corporativo de parchado, que administra los repositorios habituales de forma independiente, decide después qué hacer con lo que quedó deshabilitado.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Presentación ejecutiva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Repositorios requeridos por Service Pack</a:t>
            </a:r>
          </a:p>
          <a:p>
            <a:pPr>
              <a:defRPr sz="1400">
                <a:solidFill>
                  <a:srgbClr val="C9D6E8"/>
                </a:solidFill>
              </a:defRPr>
            </a:pPr>
            <a:r>
              <a:t>Verificado por API contra Foreman/Katello (solo lectura) — todos sincronizados sin errores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76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645919"/>
                <a:gridCol w="1645919"/>
                <a:gridCol w="1645919"/>
                <a:gridCol w="1645919"/>
              </a:tblGrid>
              <a:tr h="518160">
                <a:tc>
                  <a:txBody>
                    <a:bodyPr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Módulo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SP4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SP5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SP6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SP7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</a:defRPr>
                      </a:pPr>
                      <a:r>
                        <a:t>SUSE Linux Enterprise Server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</a:defRPr>
                      </a:pPr>
                      <a:r>
                        <a:t>Basesystem Module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</a:defRPr>
                      </a:pPr>
                      <a:r>
                        <a:t>Server Applications Module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</a:defRPr>
                      </a:pPr>
                      <a:r>
                        <a:t>Desktop Applications Module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</a:defRPr>
                      </a:pPr>
                      <a:r>
                        <a:t>Python 3 Module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✓ Pool +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</a:defRPr>
            </a:pPr>
            <a:r>
              <a:t>•  5 módulos × 4 Service Pack × (Pool + Updates) = 40 repositorios reales, todos confirmados sincronizados sin errores en Foreman/Katello.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</a:defRPr>
            </a:pPr>
            <a:r>
              <a:t>•  Deliberadamente no se incluyen repos de Source ni Debuginfo (no son necesarios para el upgrade).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Presentación ejecutiva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Controles y consideraciones para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Un servidor a la vez por defecto (procesamiento serial), para minimizar el impacto de cualquier imprevisto.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Ensayo real disponible (VALIDATE) antes de cualquier cambio, y una verificación interna obligatoria se repite automáticamente justo antes de aplicar cualquier cambio real.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Una migración real requiere una confirmación explícita adicional, verificada antes de tocar cualquier repositorio; no puede ocurrir por accidente.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El reinicio tras una migración real es siempre obligatorio: no existe una opción para omitirlo.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SP6 debe quedar realmente validado (aplicado, reiniciado, sistema operativo, servicios y GeoPOS) antes de que el mismo servidor continúe hacia SP7.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Ante cualquier fallo, la información de diagnóstico se conserva por defecto en el propio servidor (no se limpia a ciegas).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Todo el alcance de servidores se controla desde AWX (“Limit”), evitando ejecuciones accidentales sobre servidores no previstos.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Presentación ejecutiva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Validación de GeoPOS antes y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GeoPOS se valida en cuatro dimensiones configurables por servidor: servicios, procesos Java, puertos y (opcionalmente) health checks.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Cada servidor puede tener cero, uno o varios elementos en cada categoría; no se asume una configuración única para todos.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Si un componente marcado como crítico no está saludable antes de iniciar, el upgrade de ese servidor se bloquea por política (configurable para excepciones autorizadas).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•  Después de una migración real, GeoPOS se vuelve a validar: alcanzar el Service Pack objetivo no se considera éxito si GeoPOS quedó insalubre.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Presentación ejecutiva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Reportes y trazabilidad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Cada servidor y cada etapa generan un reporte legible (HTML) con el resultado y el detalle de cada verificación.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Estados claros: OK, ADVERTENCIA, FALLIDO, NO VERIFICADO — sin ambigüedad sobre lo que realmente se comprobó.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Un resumen consolidado permite ver, de un vistazo, el estado de todos los servidores procesados.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El operador puede determinar si la migración fue satisfactoria sin conectarse por SSH ni revisar todo el log del Job en AWX.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</a:defRPr>
            </a:pPr>
            <a:r>
              <a:t>•  Importante: para que los reportes se conserven más allá de cada ejecución, se necesita definir un destino de almacenamiento persistente real; mientras no exista, solo están garantizados durante esa ejecución puntual.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Presentación ejecutiva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Riesgos principales y próximos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Riesgos y cómo se controlan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 Interrupción del servicio durante el upgrade → ensayo real previo (VALIDATE), un servidor a la vez, validación GeoPOS antes/después.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 Repositorios incorrectos o inaccesibles → verificación de conectividad antes de modificar el sistema; nunca se inventan datos de Foreman.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 Falta de evidencia de rollback real → el proyecto no afirma capacidad de rollback automático salvo que el servidor use Btrfs con snapshots.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 Ejecución accidental contra servidores no previstos → el alcance siempre se define explícitamente desde AWX.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212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Próximos pasos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 Repositorios Foreman/Katello y CA interna: ya completados, verificados e instalación automatizada (SP4 a SP7). Pendiente real: servicios/puertos de GeoPOS, destino definitivo de los reportes.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 Configurar los objetos de AWX (Inventory, Credential, Job Template, Survey) con datos del ambiente.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 Ejecutar precheck y luego validate en un servidor de laboratorio antes de la primera ejecución real.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 Definir la ventana de mantenimiento y acordar el criterio de éxito con el equipo de GeoPOS.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Presentación ejecutiva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Anexo: arquitectura técnica</a:t>
            </a:r>
          </a:p>
          <a:p>
            <a:pPr>
              <a:defRPr sz="1400">
                <a:solidFill>
                  <a:srgbClr val="C9D6E8"/>
                </a:solidFill>
              </a:defRPr>
            </a:pPr>
            <a:r>
              <a:t>Diapositiva opcional para audiencia técnica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•  Un solo playbook de entrada, controlado por el modo de ejecución (precheck / validate / sp4_to_sp5 / sp5_to_sp6 / sp6_to_sp7 / full).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•  Un solo rol de migración parametrizado, reutilizado para las tres etapas — la diferencia entre ellas es de datos (repositorios, opción --releasever), no de procedimiento.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•  El ensayo real (VALIDATE) usa un directorio de repositorios temporal y aislado que Zypper consulta en lugar del real, y que se elimina siempre al finalizar.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•  El diseño técnico completo, con sus justificaciones, está documentado en docs/ARQUITECTURA_Y_DISENO_TECNICO.html del propio repositorio.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Anexo técnico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Anexo: ciclo de vida de repositorios</a:t>
            </a:r>
          </a:p>
          <a:p>
            <a:pPr>
              <a:defRPr sz="1400">
                <a:solidFill>
                  <a:srgbClr val="C9D6E8"/>
                </a:solidFill>
              </a:defRPr>
            </a:pPr>
            <a:r>
              <a:t>Diapositiva opcional para audiencia técnica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6949440" cy="548640"/>
          </a:xfrm>
          <a:prstGeom prst="roundRect">
            <a:avLst/>
          </a:prstGeom>
          <a:solidFill>
            <a:srgbClr val="1B2A4A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1. Inventariar repositorios actuales (habilitados / deshabilitados)</a:t>
            </a:r>
          </a:p>
        </p:txBody>
      </p:sp>
      <p:sp>
        <p:nvSpPr>
          <p:cNvPr id="5" name="Down Arrow 4"/>
          <p:cNvSpPr/>
          <p:nvPr/>
        </p:nvSpPr>
        <p:spPr>
          <a:xfrm>
            <a:off x="4005072" y="1920240"/>
            <a:ext cx="219456" cy="128016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048256"/>
            <a:ext cx="6949440" cy="548640"/>
          </a:xfrm>
          <a:prstGeom prst="roundRect">
            <a:avLst/>
          </a:prstGeom>
          <a:solidFill>
            <a:srgbClr val="1F7A6C"/>
          </a:solidFill>
          <a:ln>
            <a:solidFill>
              <a:srgbClr val="1F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Deshabilitar solo los que estaban habilitados (nunca se borran)</a:t>
            </a:r>
          </a:p>
        </p:txBody>
      </p:sp>
      <p:sp>
        <p:nvSpPr>
          <p:cNvPr id="7" name="Down Arrow 6"/>
          <p:cNvSpPr/>
          <p:nvPr/>
        </p:nvSpPr>
        <p:spPr>
          <a:xfrm>
            <a:off x="4005072" y="2596896"/>
            <a:ext cx="219456" cy="128016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724912"/>
            <a:ext cx="6949440" cy="548640"/>
          </a:xfrm>
          <a:prstGeom prst="roundRect">
            <a:avLst/>
          </a:prstGeom>
          <a:solidFill>
            <a:srgbClr val="1B2A4A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3. Agregar repos Foreman de origen -&gt; actualizar la pila de paquetes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4005072" y="3273552"/>
            <a:ext cx="219456" cy="128016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401568"/>
            <a:ext cx="6949440" cy="548640"/>
          </a:xfrm>
          <a:prstGeom prst="roundRect">
            <a:avLst/>
          </a:prstGeom>
          <a:solidFill>
            <a:srgbClr val="1F7A6C"/>
          </a:solidFill>
          <a:ln>
            <a:solidFill>
              <a:srgbClr val="1F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4. Retirar los repos Foreman de origen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005072" y="3950208"/>
            <a:ext cx="219456" cy="128016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4078224"/>
            <a:ext cx="6949440" cy="548640"/>
          </a:xfrm>
          <a:prstGeom prst="roundRect">
            <a:avLst/>
          </a:prstGeom>
          <a:solidFill>
            <a:srgbClr val="1B2A4A"/>
          </a:solidFill>
          <a:ln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5. Agregar repos Foreman de destino -&gt; migrar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005072" y="4626864"/>
            <a:ext cx="219456" cy="128016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6949440" cy="548640"/>
          </a:xfrm>
          <a:prstGeom prst="roundRect">
            <a:avLst/>
          </a:prstGeom>
          <a:solidFill>
            <a:srgbClr val="1F7A6C"/>
          </a:solidFill>
          <a:ln>
            <a:solidFill>
              <a:srgbClr val="1F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6. Etapa exitosa: retirar los repos Foreman de destino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46304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Los repositorios que estaban deshabilitados antes de empezar no se tocan.</a:t>
            </a:r>
          </a:p>
          <a:p>
            <a:br/>
            <a:pPr>
              <a:defRPr sz="1300">
                <a:solidFill>
                  <a:srgbClr val="666666"/>
                </a:solidFill>
              </a:defRPr>
            </a:pPr>
            <a:r>
              <a:t>Los que se deshabilitan durante la migración no se reactivan automáticamente al terminar.</a:t>
            </a:r>
          </a:p>
          <a:p>
            <a:br/>
            <a:pPr>
              <a:defRPr sz="1300">
                <a:solidFill>
                  <a:srgbClr val="666666"/>
                </a:solidFill>
              </a:defRPr>
            </a:pPr>
            <a:r>
              <a:t>Ante un fallo, todo se conserva tal cual para diagnóstico.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ansible-sles-upgrade · Anexo técnico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