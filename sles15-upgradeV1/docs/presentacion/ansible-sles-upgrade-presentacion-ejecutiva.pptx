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2286000"/>
            <a:ext cx="10362895" cy="1828800"/>
          </a:xfrm>
          <a:prstGeom prst="rect">
            <a:avLst/>
          </a:prstGeom>
          <a:noFill/>
        </p:spPr>
        <p:txBody>
          <a:bodyPr wrap="square">
            <a:spAutoFit/>
          </a:bodyPr>
          <a:lstStyle/>
          <a:p>
            <a:pPr>
              <a:defRPr sz="4000" b="1">
                <a:solidFill>
                  <a:srgbClr val="FFFFFF"/>
                </a:solidFill>
              </a:defRPr>
            </a:pPr>
            <a:r>
              <a:t>Upgrade automatizado de SLES 15</a:t>
            </a:r>
          </a:p>
          <a:p>
            <a:pPr>
              <a:spcBef>
                <a:spcPts val="1200"/>
              </a:spcBef>
              <a:defRPr sz="2200">
                <a:solidFill>
                  <a:srgbClr val="C9D6E8"/>
                </a:solidFill>
              </a:defRPr>
            </a:pPr>
            <a:r>
              <a:t>SP4 → SP5 → SP6 → SP7 para los servidores GeoPOS</a:t>
            </a:r>
          </a:p>
          <a:p>
            <a:pPr>
              <a:spcBef>
                <a:spcPts val="2000"/>
              </a:spcBef>
              <a:defRPr sz="1600">
                <a:solidFill>
                  <a:srgbClr val="1F7A6C"/>
                </a:solidFill>
              </a:defRPr>
            </a:pPr>
            <a:r>
              <a:t>Automatización con Ansible y AWX · Repositorios internos Foreman/Katello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Objetivo y necesidad del proyecto</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800">
                <a:solidFill>
                  <a:srgbClr val="333333"/>
                </a:solidFill>
              </a:defRPr>
            </a:pPr>
            <a:r>
              <a:t>•  Mantener los servidores SLES 15 que ejecutan GeoPOS en un Service Pack soportado por SUSE, de forma segura y repetible.</a:t>
            </a:r>
          </a:p>
          <a:p>
            <a:pPr>
              <a:spcAft>
                <a:spcPts val="1000"/>
              </a:spcAft>
              <a:defRPr sz="1800">
                <a:solidFill>
                  <a:srgbClr val="333333"/>
                </a:solidFill>
              </a:defRPr>
            </a:pPr>
            <a:r>
              <a:t>•  Hoy el upgrade de Service Pack es una tarea manual: lenta, dependiente de una persona y difícil de auditar entre muchos servidores.</a:t>
            </a:r>
          </a:p>
          <a:p>
            <a:pPr>
              <a:spcAft>
                <a:spcPts val="1000"/>
              </a:spcAft>
              <a:defRPr sz="1800">
                <a:solidFill>
                  <a:srgbClr val="333333"/>
                </a:solidFill>
              </a:defRPr>
            </a:pPr>
            <a:r>
              <a:t>•  Se necesita un mecanismo controlado, con evidencia clara de resultado, que no dependa del registro SUSEConnect de cada servidor.</a:t>
            </a:r>
          </a:p>
          <a:p>
            <a:pPr>
              <a:spcAft>
                <a:spcPts val="1000"/>
              </a:spcAft>
              <a:defRPr sz="1800">
                <a:solidFill>
                  <a:srgbClr val="333333"/>
                </a:solidFill>
              </a:defRPr>
            </a:pPr>
            <a:r>
              <a:t>•  El resultado debe poder verificarse sin conectarse por SSH a cada servidor ni leer manualmente el log completo de cada ejecución.</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Alcance del proyecto</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800">
                <a:solidFill>
                  <a:srgbClr val="333333"/>
                </a:solidFill>
              </a:defRPr>
            </a:pPr>
            <a:r>
              <a:t>•  Rutas contempladas por el proyecto: SP4 → SP5, SP5 → SP6, SP6 → SP7, y la secuencia completa SP5 → SP6 → SP7.</a:t>
            </a:r>
          </a:p>
          <a:p>
            <a:pPr>
              <a:spcAft>
                <a:spcPts val="1000"/>
              </a:spcAft>
              <a:defRPr sz="1800">
                <a:solidFill>
                  <a:srgbClr val="333333"/>
                </a:solidFill>
              </a:defRPr>
            </a:pPr>
            <a:r>
              <a:t>•  SP4 → SP5 es independiente (para servidores que todavía están en SP4): se ejecuta aparte, no se encadena automáticamente con lo siguiente.</a:t>
            </a:r>
          </a:p>
          <a:p>
            <a:pPr>
              <a:spcAft>
                <a:spcPts val="1000"/>
              </a:spcAft>
              <a:defRPr sz="1800">
                <a:solidFill>
                  <a:srgbClr val="333333"/>
                </a:solidFill>
              </a:defRPr>
            </a:pPr>
            <a:r>
              <a:t>•  Nunca se realiza un salto directo de etapa (ni SP4 → SP6, ni SP5 → SP7): cada etapa debe quedar realmente validada (aplicada, reiniciada y verificada) antes de continuar.</a:t>
            </a:r>
          </a:p>
          <a:p>
            <a:pPr>
              <a:spcAft>
                <a:spcPts val="1000"/>
              </a:spcAft>
              <a:defRPr sz="1800">
                <a:solidFill>
                  <a:srgbClr val="333333"/>
                </a:solidFill>
              </a:defRPr>
            </a:pPr>
            <a:r>
              <a:t>•  Aplica a todos los servidores SLES 15 que ejecutan la aplicación GeoPOS (uno o varios servicios, procesos Java y puertos por servidor).</a:t>
            </a:r>
          </a:p>
          <a:p>
            <a:pPr>
              <a:spcAft>
                <a:spcPts val="1000"/>
              </a:spcAft>
              <a:defRPr sz="1800">
                <a:solidFill>
                  <a:srgbClr val="333333"/>
                </a:solidFill>
              </a:defRPr>
            </a:pPr>
            <a:r>
              <a:t>•  Incluye: verificación previa, ensayo real sin cambios contra los repositorios, migración real, reinicio obligatorio, validación posterior y reporte.</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Arquitectura de alto nivel</a:t>
            </a:r>
          </a:p>
        </p:txBody>
      </p:sp>
      <p:sp>
        <p:nvSpPr>
          <p:cNvPr id="4" name="Rounded Rectangle 3"/>
          <p:cNvSpPr/>
          <p:nvPr/>
        </p:nvSpPr>
        <p:spPr>
          <a:xfrm>
            <a:off x="640080" y="1828800"/>
            <a:ext cx="3108960" cy="100584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AWX</a:t>
            </a:r>
            <a:br/>
            <a:r>
              <a:t>(orquestación, Survey)</a:t>
            </a:r>
          </a:p>
        </p:txBody>
      </p:sp>
      <p:sp>
        <p:nvSpPr>
          <p:cNvPr id="5" name="Right Arrow 4"/>
          <p:cNvSpPr/>
          <p:nvPr/>
        </p:nvSpPr>
        <p:spPr>
          <a:xfrm>
            <a:off x="3749040" y="2221992"/>
            <a:ext cx="457200" cy="219456"/>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206240" y="1828800"/>
            <a:ext cx="3108960" cy="10058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Ansible</a:t>
            </a:r>
            <a:br/>
            <a:r>
              <a:t>(este proyecto)</a:t>
            </a:r>
          </a:p>
        </p:txBody>
      </p:sp>
      <p:sp>
        <p:nvSpPr>
          <p:cNvPr id="7" name="Right Arrow 6"/>
          <p:cNvSpPr/>
          <p:nvPr/>
        </p:nvSpPr>
        <p:spPr>
          <a:xfrm>
            <a:off x="7772400" y="2221992"/>
            <a:ext cx="457200" cy="219456"/>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0" y="1828800"/>
            <a:ext cx="3108960" cy="10058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Servidores SLES 15</a:t>
            </a:r>
            <a:br/>
            <a:r>
              <a:t>(GeoPOS)</a:t>
            </a:r>
          </a:p>
        </p:txBody>
      </p:sp>
      <p:sp>
        <p:nvSpPr>
          <p:cNvPr id="9" name="Rounded Rectangle 8"/>
          <p:cNvSpPr/>
          <p:nvPr/>
        </p:nvSpPr>
        <p:spPr>
          <a:xfrm>
            <a:off x="4206240" y="3657600"/>
            <a:ext cx="3108960" cy="1005840"/>
          </a:xfrm>
          <a:prstGeom prst="roundRect">
            <a:avLst/>
          </a:prstGeom>
          <a:solidFill>
            <a:srgbClr val="666666"/>
          </a:solidFill>
          <a:ln>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Foreman / Katello</a:t>
            </a:r>
            <a:br/>
            <a:r>
              <a:t>(repositorios internos únicamente)</a:t>
            </a:r>
          </a:p>
        </p:txBody>
      </p:sp>
      <p:sp>
        <p:nvSpPr>
          <p:cNvPr id="10" name="Up Arrow 9"/>
          <p:cNvSpPr/>
          <p:nvPr/>
        </p:nvSpPr>
        <p:spPr>
          <a:xfrm>
            <a:off x="5650992" y="2880360"/>
            <a:ext cx="219456" cy="320040"/>
          </a:xfrm>
          <a:prstGeom prst="up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206240"/>
            <a:ext cx="10911535" cy="4846320"/>
          </a:xfrm>
          <a:prstGeom prst="rect">
            <a:avLst/>
          </a:prstGeom>
          <a:noFill/>
        </p:spPr>
        <p:txBody>
          <a:bodyPr wrap="square">
            <a:spAutoFit/>
          </a:bodyPr>
          <a:lstStyle/>
          <a:p>
            <a:pPr>
              <a:spcAft>
                <a:spcPts val="1000"/>
              </a:spcAft>
              <a:defRPr sz="1500">
                <a:solidFill>
                  <a:srgbClr val="333333"/>
                </a:solidFill>
              </a:defRPr>
            </a:pPr>
            <a:r>
              <a:t>•  AWX dispara la ejecución (Job Template + Survey); el alcance de servidores se define con el CRQ/Lote/Ambiente declarados en el Survey, verificados contra el inventario — nunca con un campo de selección manual aparte.</a:t>
            </a:r>
          </a:p>
          <a:p>
            <a:pPr>
              <a:spcAft>
                <a:spcPts val="1000"/>
              </a:spcAft>
              <a:defRPr sz="1500">
                <a:solidFill>
                  <a:srgbClr val="333333"/>
                </a:solidFill>
              </a:defRPr>
            </a:pPr>
            <a:r>
              <a:t>•  Ansible ejecuta el procedimiento en cada servidor, uno a la vez por defecto.</a:t>
            </a:r>
          </a:p>
          <a:p>
            <a:pPr>
              <a:spcAft>
                <a:spcPts val="1000"/>
              </a:spcAft>
              <a:defRPr sz="1500">
                <a:solidFill>
                  <a:srgbClr val="333333"/>
                </a:solidFill>
              </a:defRPr>
            </a:pPr>
            <a:r>
              <a:t>•  Los servidores obtienen los paquetes de actualización exclusivamente desde Foreman/Katello, nunca desde Internet ni desde SUSEConnect.</a:t>
            </a:r>
          </a:p>
        </p:txBody>
      </p:sp>
      <p:sp>
        <p:nvSpPr>
          <p:cNvPr id="12" name="TextBox 11"/>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Flujo general del upgrade</a:t>
            </a:r>
          </a:p>
        </p:txBody>
      </p:sp>
      <p:sp>
        <p:nvSpPr>
          <p:cNvPr id="4" name="Rounded Rectangle 3"/>
          <p:cNvSpPr/>
          <p:nvPr/>
        </p:nvSpPr>
        <p:spPr>
          <a:xfrm>
            <a:off x="822960" y="1280160"/>
            <a:ext cx="5852160" cy="50292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1. Verificación previa (precheck)</a:t>
            </a:r>
          </a:p>
        </p:txBody>
      </p:sp>
      <p:sp>
        <p:nvSpPr>
          <p:cNvPr id="5" name="Down Arrow 4"/>
          <p:cNvSpPr/>
          <p:nvPr/>
        </p:nvSpPr>
        <p:spPr>
          <a:xfrm>
            <a:off x="3639312" y="1783080"/>
            <a:ext cx="219456" cy="146304"/>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929384"/>
            <a:ext cx="5852160" cy="50292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2. Confirmación explícita para producción</a:t>
            </a:r>
          </a:p>
        </p:txBody>
      </p:sp>
      <p:sp>
        <p:nvSpPr>
          <p:cNvPr id="7" name="Down Arrow 6"/>
          <p:cNvSpPr/>
          <p:nvPr/>
        </p:nvSpPr>
        <p:spPr>
          <a:xfrm>
            <a:off x="3639312" y="2432304"/>
            <a:ext cx="219456" cy="146304"/>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578608"/>
            <a:ext cx="5852160" cy="50292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3. Preparar repositorios Foreman/Katello de la etapa</a:t>
            </a:r>
          </a:p>
        </p:txBody>
      </p:sp>
      <p:sp>
        <p:nvSpPr>
          <p:cNvPr id="9" name="Down Arrow 8"/>
          <p:cNvSpPr/>
          <p:nvPr/>
        </p:nvSpPr>
        <p:spPr>
          <a:xfrm>
            <a:off x="3639312" y="3081528"/>
            <a:ext cx="219456" cy="146304"/>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3227832"/>
            <a:ext cx="5852160" cy="50292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4. Migración real, con verificación interna obligatoria justo antes de aplicar</a:t>
            </a:r>
          </a:p>
        </p:txBody>
      </p:sp>
      <p:sp>
        <p:nvSpPr>
          <p:cNvPr id="11" name="Down Arrow 10"/>
          <p:cNvSpPr/>
          <p:nvPr/>
        </p:nvSpPr>
        <p:spPr>
          <a:xfrm>
            <a:off x="3639312" y="3730752"/>
            <a:ext cx="219456" cy="146304"/>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877056"/>
            <a:ext cx="5852160" cy="50292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5. Reinicio obligatorio</a:t>
            </a:r>
          </a:p>
        </p:txBody>
      </p:sp>
      <p:sp>
        <p:nvSpPr>
          <p:cNvPr id="13" name="Down Arrow 12"/>
          <p:cNvSpPr/>
          <p:nvPr/>
        </p:nvSpPr>
        <p:spPr>
          <a:xfrm>
            <a:off x="3639312" y="4379976"/>
            <a:ext cx="219456" cy="146304"/>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4526280"/>
            <a:ext cx="5852160" cy="50292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6. Validar sistema operativo, servicios y GeoPOS</a:t>
            </a:r>
          </a:p>
        </p:txBody>
      </p:sp>
      <p:sp>
        <p:nvSpPr>
          <p:cNvPr id="15" name="Down Arrow 14"/>
          <p:cNvSpPr/>
          <p:nvPr/>
        </p:nvSpPr>
        <p:spPr>
          <a:xfrm>
            <a:off x="3639312" y="5029200"/>
            <a:ext cx="219456" cy="146304"/>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5175504"/>
            <a:ext cx="5852160" cy="50292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7. Reporte de la etapa</a:t>
            </a:r>
          </a:p>
        </p:txBody>
      </p:sp>
      <p:sp>
        <p:nvSpPr>
          <p:cNvPr id="17" name="TextBox 16"/>
          <p:cNvSpPr txBox="1"/>
          <p:nvPr/>
        </p:nvSpPr>
        <p:spPr>
          <a:xfrm>
            <a:off x="7040880" y="1463040"/>
            <a:ext cx="4480560" cy="4389120"/>
          </a:xfrm>
          <a:prstGeom prst="rect">
            <a:avLst/>
          </a:prstGeom>
          <a:noFill/>
        </p:spPr>
        <p:txBody>
          <a:bodyPr wrap="square">
            <a:spAutoFit/>
          </a:bodyPr>
          <a:lstStyle/>
          <a:p>
            <a:pPr>
              <a:defRPr sz="1500">
                <a:solidFill>
                  <a:srgbClr val="333333"/>
                </a:solidFill>
              </a:defRPr>
            </a:pPr>
            <a:r>
              <a:t>Este mismo ciclo aplica igual a SP4→SP5 (independiente) y se repite para SP5→SP6 y, solo si esa etapa quedó realmente validada, para SP6→SP7.</a:t>
            </a:r>
          </a:p>
          <a:p>
            <a:br/>
            <a:pPr>
              <a:defRPr sz="1400">
                <a:solidFill>
                  <a:srgbClr val="666666"/>
                </a:solidFill>
              </a:defRPr>
            </a:pPr>
            <a:r>
              <a:t>Para ensayar sin modificar nada, existe un modo de validación real independiente (siguiente diapositiva).</a:t>
            </a:r>
          </a:p>
          <a:p>
            <a:br/>
            <a:pPr>
              <a:defRPr sz="1400">
                <a:solidFill>
                  <a:srgbClr val="666666"/>
                </a:solidFill>
              </a:defRPr>
            </a:pPr>
            <a:r>
              <a:t>Una migración real requiere una confirmación explícita adicional (no ocurre por defecto), verificada antes de tocar cualquier repositorio.</a:t>
            </a:r>
          </a:p>
          <a:p>
            <a:br/>
            <a:pPr>
              <a:defRPr sz="1400">
                <a:solidFill>
                  <a:srgbClr val="666666"/>
                </a:solidFill>
              </a:defRPr>
            </a:pPr>
            <a:r>
              <a:t>Por defecto, los pasos 3 (preparar repos) y 4-6 (aplicar el cambio) se ejecutan como 2 etapas separadas, con un punto de aprobación entre ambas — ver diapositiva siguiente.</a:t>
            </a:r>
          </a:p>
        </p:txBody>
      </p:sp>
      <p:sp>
        <p:nvSpPr>
          <p:cNvPr id="18" name="TextBox 17"/>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Configuración por defecto: “Preparar” y “Aplicar” separados</a:t>
            </a:r>
          </a:p>
          <a:p>
            <a:pPr>
              <a:defRPr sz="1400">
                <a:solidFill>
                  <a:srgbClr val="C9D6E8"/>
                </a:solidFill>
              </a:defRPr>
            </a:pPr>
            <a:r>
              <a:t>Mismo procedimiento, con un punto de control humano en el medio</a:t>
            </a:r>
          </a:p>
        </p:txBody>
      </p:sp>
      <p:sp>
        <p:nvSpPr>
          <p:cNvPr id="4" name="Rounded Rectangle 3"/>
          <p:cNvSpPr/>
          <p:nvPr/>
        </p:nvSpPr>
        <p:spPr>
          <a:xfrm>
            <a:off x="548640" y="1508760"/>
            <a:ext cx="2514600" cy="1005840"/>
          </a:xfrm>
          <a:prstGeom prst="roundRect">
            <a:avLst/>
          </a:prstGeom>
          <a:solidFill>
            <a:srgbClr val="666666"/>
          </a:solidFill>
          <a:ln>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1. Precheck</a:t>
            </a:r>
            <a:br/>
            <a:br/>
            <a:r>
              <a:t>¿Está listo</a:t>
            </a:r>
            <a:br/>
            <a:r>
              <a:t>el servidor?</a:t>
            </a:r>
          </a:p>
        </p:txBody>
      </p:sp>
      <p:sp>
        <p:nvSpPr>
          <p:cNvPr id="5" name="Right Arrow 4"/>
          <p:cNvSpPr/>
          <p:nvPr/>
        </p:nvSpPr>
        <p:spPr>
          <a:xfrm>
            <a:off x="3063240" y="1901952"/>
            <a:ext cx="320040" cy="219456"/>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83280" y="1508760"/>
            <a:ext cx="2514600" cy="10058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2. Preparar</a:t>
            </a:r>
            <a:br/>
            <a:r>
              <a:t>repositorios</a:t>
            </a:r>
            <a:br/>
            <a:br/>
            <a:r>
              <a:t>(cambio real)</a:t>
            </a:r>
          </a:p>
        </p:txBody>
      </p:sp>
      <p:sp>
        <p:nvSpPr>
          <p:cNvPr id="7" name="Right Arrow 6"/>
          <p:cNvSpPr/>
          <p:nvPr/>
        </p:nvSpPr>
        <p:spPr>
          <a:xfrm>
            <a:off x="6217920" y="1901952"/>
            <a:ext cx="320040" cy="219456"/>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0" y="1508760"/>
            <a:ext cx="2514600" cy="100584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3. Aplicar</a:t>
            </a:r>
            <a:br/>
            <a:r>
              <a:t>el upgrade</a:t>
            </a:r>
            <a:br/>
            <a:br/>
            <a:r>
              <a:t>(cambio real,</a:t>
            </a:r>
            <a:br/>
            <a:r>
              <a:t>reinicio)</a:t>
            </a:r>
          </a:p>
        </p:txBody>
      </p:sp>
      <p:sp>
        <p:nvSpPr>
          <p:cNvPr id="9" name="Right Arrow 8"/>
          <p:cNvSpPr/>
          <p:nvPr/>
        </p:nvSpPr>
        <p:spPr>
          <a:xfrm>
            <a:off x="9052560" y="1901952"/>
            <a:ext cx="320040" cy="219456"/>
          </a:xfrm>
          <a:prstGeom prst="right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052560" y="1508760"/>
            <a:ext cx="2514600" cy="1005840"/>
          </a:xfrm>
          <a:prstGeom prst="roundRect">
            <a:avLst/>
          </a:prstGeom>
          <a:solidFill>
            <a:srgbClr val="666666"/>
          </a:solidFill>
          <a:ln>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defRPr>
            </a:pPr>
            <a:r>
              <a:t>4. Reporte</a:t>
            </a:r>
            <a:br/>
            <a:r>
              <a:t>consolidado</a:t>
            </a:r>
          </a:p>
        </p:txBody>
      </p:sp>
      <p:sp>
        <p:nvSpPr>
          <p:cNvPr id="11" name="TextBox 10"/>
          <p:cNvSpPr txBox="1"/>
          <p:nvPr/>
        </p:nvSpPr>
        <p:spPr>
          <a:xfrm>
            <a:off x="5916168" y="2560320"/>
            <a:ext cx="2834640" cy="365760"/>
          </a:xfrm>
          <a:prstGeom prst="rect">
            <a:avLst/>
          </a:prstGeom>
          <a:noFill/>
        </p:spPr>
        <p:txBody>
          <a:bodyPr wrap="none">
            <a:spAutoFit/>
          </a:bodyPr>
          <a:lstStyle/>
          <a:p>
            <a:pPr algn="ctr">
              <a:defRPr sz="1100" i="1">
                <a:solidFill>
                  <a:srgbClr val="B8860B"/>
                </a:solidFill>
              </a:defRPr>
            </a:pPr>
            <a:r>
              <a:t>⬆ punto de aprobación (opcional insertar un Approval Node aquí)</a:t>
            </a:r>
          </a:p>
        </p:txBody>
      </p:sp>
      <p:sp>
        <p:nvSpPr>
          <p:cNvPr id="12" name="TextBox 11"/>
          <p:cNvSpPr txBox="1"/>
          <p:nvPr/>
        </p:nvSpPr>
        <p:spPr>
          <a:xfrm>
            <a:off x="640080" y="2834640"/>
            <a:ext cx="10911535" cy="4846320"/>
          </a:xfrm>
          <a:prstGeom prst="rect">
            <a:avLst/>
          </a:prstGeom>
          <a:noFill/>
        </p:spPr>
        <p:txBody>
          <a:bodyPr wrap="square">
            <a:spAutoFit/>
          </a:bodyPr>
          <a:lstStyle/>
          <a:p>
            <a:pPr>
              <a:spcAft>
                <a:spcPts val="1000"/>
              </a:spcAft>
              <a:defRPr sz="1400">
                <a:solidFill>
                  <a:srgbClr val="333333"/>
                </a:solidFill>
              </a:defRPr>
            </a:pPr>
            <a:r>
              <a:t>•  Por qué separar “preparar” de “aplicar”: permite que una persona (ej. un supervisor de cambios) autorice el paso irreversible (el reinicio) después de ver que la preparación salió bien, sin tener que repetir todo desde cero.</a:t>
            </a:r>
          </a:p>
          <a:p>
            <a:pPr>
              <a:spcAft>
                <a:spcPts val="1000"/>
              </a:spcAft>
              <a:defRPr sz="1400">
                <a:solidFill>
                  <a:srgbClr val="333333"/>
                </a:solidFill>
              </a:defRPr>
            </a:pPr>
            <a:r>
              <a:t>•  Qué hace “preparar”: deja el servidor listo para migrar — respalda, deshabilita lo anterior, actualiza la herramienta de paquetes con los repositorios de origen, y agrega los repositorios de destino. Todavía NO aplica el cambio de Service Pack ni reinicia.</a:t>
            </a:r>
          </a:p>
          <a:p>
            <a:pPr>
              <a:spcAft>
                <a:spcPts val="1000"/>
              </a:spcAft>
              <a:defRPr sz="1400">
                <a:solidFill>
                  <a:srgbClr val="333333"/>
                </a:solidFill>
              </a:defRPr>
            </a:pPr>
            <a:r>
              <a:t>•  Qué hace “aplicar”: primero repite, con el sistema real ya preparado, la misma simulación que recomienda SUSE antes de migrar (ver nota abajo); si todo está bien, aplica el cambio real y reinicia.</a:t>
            </a:r>
          </a:p>
          <a:p>
            <a:pPr>
              <a:spcAft>
                <a:spcPts val="1000"/>
              </a:spcAft>
              <a:defRPr sz="1400">
                <a:solidFill>
                  <a:srgbClr val="333333"/>
                </a:solidFill>
              </a:defRPr>
            </a:pPr>
            <a:r>
              <a:t>•  Es la configuración por defecto de este proyecto; existe una alternativa simplificada (las 2 etapas en una sola corrida) para casos donde no se necesita el punto de aprobación.</a:t>
            </a:r>
          </a:p>
        </p:txBody>
      </p:sp>
      <p:sp>
        <p:nvSpPr>
          <p:cNvPr id="13" name="Rounded Rectangle 12"/>
          <p:cNvSpPr/>
          <p:nvPr/>
        </p:nvSpPr>
        <p:spPr>
          <a:xfrm>
            <a:off x="548640" y="5623560"/>
            <a:ext cx="11094415" cy="868680"/>
          </a:xfrm>
          <a:prstGeom prst="roundRect">
            <a:avLst/>
          </a:prstGeom>
          <a:solidFill>
            <a:srgbClr val="F4F6F8"/>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a:solidFill>
                  <a:srgbClr val="333333"/>
                </a:solidFill>
              </a:defRPr>
            </a:pPr>
            <a:r>
              <a:t>Por qué se hizo así: la guía oficial de SUSE (“SLES Upgrade Guide”, sección “Upgrading with plain Zypper”) ya indica ejecutar una simulación (zypper dup -D) y corregir cualquier problema ANTES de aplicar el cambio real (zypper dup). Separar “preparar” de “aplicar” simplemente hace visible, como un paso propio del flujo de aprobación, algo que el procedimiento oficial ya recomienda hacer antes de comprometerse al cambio real.</a:t>
            </a:r>
          </a:p>
        </p:txBody>
      </p:sp>
      <p:sp>
        <p:nvSpPr>
          <p:cNvPr id="14" name="TextBox 13"/>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Tres niveles, nunca confundidos</a:t>
            </a:r>
          </a:p>
        </p:txBody>
      </p:sp>
      <p:sp>
        <p:nvSpPr>
          <p:cNvPr id="4" name="Rounded Rectangle 3"/>
          <p:cNvSpPr/>
          <p:nvPr/>
        </p:nvSpPr>
        <p:spPr>
          <a:xfrm>
            <a:off x="640080" y="1463040"/>
            <a:ext cx="3520440" cy="1234440"/>
          </a:xfrm>
          <a:prstGeom prst="roundRect">
            <a:avLst/>
          </a:prstGeom>
          <a:solidFill>
            <a:srgbClr val="666666"/>
          </a:solidFill>
          <a:ln>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PRECHECK</a:t>
            </a:r>
            <a:br/>
            <a:br/>
            <a:r>
              <a:t>¿Está el servidor listo?</a:t>
            </a:r>
          </a:p>
        </p:txBody>
      </p:sp>
      <p:sp>
        <p:nvSpPr>
          <p:cNvPr id="5" name="Rounded Rectangle 4"/>
          <p:cNvSpPr/>
          <p:nvPr/>
        </p:nvSpPr>
        <p:spPr>
          <a:xfrm>
            <a:off x="4480560" y="1463040"/>
            <a:ext cx="3520440" cy="12344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VALIDATE</a:t>
            </a:r>
            <a:br/>
            <a:br/>
            <a:r>
              <a:t>¿Funcionaría la migración</a:t>
            </a:r>
            <a:br/>
            <a:r>
              <a:t>ahora mismo?</a:t>
            </a:r>
          </a:p>
        </p:txBody>
      </p:sp>
      <p:sp>
        <p:nvSpPr>
          <p:cNvPr id="6" name="Rounded Rectangle 5"/>
          <p:cNvSpPr/>
          <p:nvPr/>
        </p:nvSpPr>
        <p:spPr>
          <a:xfrm>
            <a:off x="8321040" y="1463040"/>
            <a:ext cx="3520440" cy="123444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UPGRADE</a:t>
            </a:r>
            <a:br/>
            <a:br/>
            <a:r>
              <a:t>Ejecución real,</a:t>
            </a:r>
            <a:br/>
            <a:r>
              <a:t>con cambios</a:t>
            </a:r>
          </a:p>
        </p:txBody>
      </p:sp>
      <p:sp>
        <p:nvSpPr>
          <p:cNvPr id="7" name="TextBox 6"/>
          <p:cNvSpPr txBox="1"/>
          <p:nvPr/>
        </p:nvSpPr>
        <p:spPr>
          <a:xfrm>
            <a:off x="640080" y="3108960"/>
            <a:ext cx="10911535" cy="4846320"/>
          </a:xfrm>
          <a:prstGeom prst="rect">
            <a:avLst/>
          </a:prstGeom>
          <a:noFill/>
        </p:spPr>
        <p:txBody>
          <a:bodyPr wrap="square">
            <a:spAutoFit/>
          </a:bodyPr>
          <a:lstStyle/>
          <a:p>
            <a:pPr>
              <a:spcAft>
                <a:spcPts val="1000"/>
              </a:spcAft>
              <a:defRPr sz="1600">
                <a:solidFill>
                  <a:srgbClr val="333333"/>
                </a:solidFill>
              </a:defRPr>
            </a:pPr>
            <a:r>
              <a:t>•  PRECHECK nunca modifica nada: revisa salud del servidor y su preparación.</a:t>
            </a:r>
          </a:p>
          <a:p>
            <a:pPr>
              <a:spcAft>
                <a:spcPts val="1000"/>
              </a:spcAft>
              <a:defRPr sz="1600">
                <a:solidFill>
                  <a:srgbClr val="333333"/>
                </a:solidFill>
              </a:defRPr>
            </a:pPr>
            <a:r>
              <a:t>•  VALIDATE hace un ensayo real contra los repositorios Foreman, sin dejar ningún cambio permanente en el servidor.</a:t>
            </a:r>
          </a:p>
          <a:p>
            <a:pPr>
              <a:spcAft>
                <a:spcPts val="1000"/>
              </a:spcAft>
              <a:defRPr sz="1600">
                <a:solidFill>
                  <a:srgbClr val="333333"/>
                </a:solidFill>
              </a:defRPr>
            </a:pPr>
            <a:r>
              <a:t>•  Solo UPGRADE modifica el servidor, y únicamente tras una confirmación explícita adicional.</a:t>
            </a:r>
          </a:p>
          <a:p>
            <a:pPr>
              <a:spcAft>
                <a:spcPts val="1000"/>
              </a:spcAft>
              <a:defRPr sz="1600">
                <a:solidFill>
                  <a:srgbClr val="333333"/>
                </a:solidFill>
              </a:defRPr>
            </a:pPr>
            <a:r>
              <a:t>•  Estos tres niveles no son intercambiables: nunca se presenta un ensayo como si fuera la ejecución real, ni al revés.</a:t>
            </a:r>
          </a:p>
        </p:txBody>
      </p:sp>
      <p:sp>
        <p:nvSpPr>
          <p:cNvPr id="8" name="TextBox 7"/>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Repositorios internos Foreman/Katello</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500">
                <a:solidFill>
                  <a:srgbClr val="333333"/>
                </a:solidFill>
              </a:defRPr>
            </a:pPr>
            <a:r>
              <a:t>•  El upgrade usa exclusivamente los repositorios internos que el administrador configura en Foreman/Katello.</a:t>
            </a:r>
          </a:p>
          <a:p>
            <a:pPr>
              <a:spcAft>
                <a:spcPts val="1000"/>
              </a:spcAft>
              <a:defRPr sz="1500">
                <a:solidFill>
                  <a:srgbClr val="333333"/>
                </a:solidFill>
              </a:defRPr>
            </a:pPr>
            <a:r>
              <a:t>•  No se usan repositorios públicos de SUSE en ningún momento de la migración.</a:t>
            </a:r>
          </a:p>
          <a:p>
            <a:pPr>
              <a:spcAft>
                <a:spcPts val="1000"/>
              </a:spcAft>
              <a:defRPr sz="1500">
                <a:solidFill>
                  <a:srgbClr val="333333"/>
                </a:solidFill>
              </a:defRPr>
            </a:pPr>
            <a:r>
              <a:t>•  El estado de registro de SUSEConnect (registrado, mal registrado o no registrado) no determina ni bloquea el procedimiento; si se consulta, es solo informativo.</a:t>
            </a:r>
          </a:p>
          <a:p>
            <a:pPr>
              <a:spcAft>
                <a:spcPts val="1000"/>
              </a:spcAft>
              <a:defRPr sz="1500">
                <a:solidFill>
                  <a:srgbClr val="333333"/>
                </a:solidFill>
              </a:defRPr>
            </a:pPr>
            <a:r>
              <a:t>•  Antes de migrar, se inventarían los repositorios ya existentes en el servidor y se deshabilitan los que estén activos — nunca se borran, y no se reactivan automáticamente al terminar.</a:t>
            </a:r>
          </a:p>
          <a:p>
            <a:pPr>
              <a:spcAft>
                <a:spcPts val="1000"/>
              </a:spcAft>
              <a:defRPr sz="1500">
                <a:solidFill>
                  <a:srgbClr val="333333"/>
                </a:solidFill>
              </a:defRPr>
            </a:pPr>
            <a:r>
              <a:t>•  Los repositorios que la automatización agrega son temporales y quedan claramente identificados; al finalizar una etapa con éxito, se retiran automáticamente.</a:t>
            </a:r>
          </a:p>
          <a:p>
            <a:pPr>
              <a:spcAft>
                <a:spcPts val="1000"/>
              </a:spcAft>
              <a:defRPr sz="1500">
                <a:solidFill>
                  <a:srgbClr val="333333"/>
                </a:solidFill>
              </a:defRPr>
            </a:pPr>
            <a:r>
              <a:t>•  El proceso corporativo de parchado, que administra los repositorios habituales de forma independiente, decide después qué hacer con lo que quedó deshabilitado.</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Repositorios requeridos por Service Pack</a:t>
            </a:r>
          </a:p>
          <a:p>
            <a:pPr>
              <a:defRPr sz="1400">
                <a:solidFill>
                  <a:srgbClr val="C9D6E8"/>
                </a:solidFill>
              </a:defRPr>
            </a:pPr>
            <a:r>
              <a:t>Verificado por API contra Foreman/Katello (solo lectura) — todos sincronizados sin errores</a:t>
            </a:r>
          </a:p>
        </p:txBody>
      </p:sp>
      <p:graphicFrame>
        <p:nvGraphicFramePr>
          <p:cNvPr id="4" name="Table 3"/>
          <p:cNvGraphicFramePr>
            <a:graphicFrameLocks noGrp="1"/>
          </p:cNvGraphicFramePr>
          <p:nvPr/>
        </p:nvGraphicFramePr>
        <p:xfrm>
          <a:off x="731520" y="1463040"/>
          <a:ext cx="10698476" cy="3108960"/>
        </p:xfrm>
        <a:graphic>
          <a:graphicData uri="http://schemas.openxmlformats.org/drawingml/2006/table">
            <a:tbl>
              <a:tblPr firstRow="1" bandRow="1">
                <a:tableStyleId>{5C22544A-7EE6-4342-B048-85BDC9FD1C3A}</a:tableStyleId>
              </a:tblPr>
              <a:tblGrid>
                <a:gridCol w="4114800"/>
                <a:gridCol w="1645919"/>
                <a:gridCol w="1645919"/>
                <a:gridCol w="1645919"/>
                <a:gridCol w="1645919"/>
              </a:tblGrid>
              <a:tr h="518160">
                <a:tc>
                  <a:txBody>
                    <a:bodyPr/>
                    <a:lstStyle/>
                    <a:p>
                      <a:pPr algn="l">
                        <a:defRPr b="1" sz="1500">
                          <a:solidFill>
                            <a:srgbClr val="FFFFFF"/>
                          </a:solidFill>
                        </a:defRPr>
                      </a:pPr>
                      <a:r>
                        <a:t>Módulo</a:t>
                      </a:r>
                    </a:p>
                  </a:txBody>
                  <a:tcPr>
                    <a:solidFill>
                      <a:srgbClr val="1B2A4A"/>
                    </a:solidFill>
                  </a:tcPr>
                </a:tc>
                <a:tc>
                  <a:txBody>
                    <a:bodyPr/>
                    <a:lstStyle/>
                    <a:p>
                      <a:pPr algn="ctr">
                        <a:defRPr b="1" sz="1500">
                          <a:solidFill>
                            <a:srgbClr val="FFFFFF"/>
                          </a:solidFill>
                        </a:defRPr>
                      </a:pPr>
                      <a:r>
                        <a:t>SP4</a:t>
                      </a:r>
                    </a:p>
                  </a:txBody>
                  <a:tcPr>
                    <a:solidFill>
                      <a:srgbClr val="1B2A4A"/>
                    </a:solidFill>
                  </a:tcPr>
                </a:tc>
                <a:tc>
                  <a:txBody>
                    <a:bodyPr/>
                    <a:lstStyle/>
                    <a:p>
                      <a:pPr algn="ctr">
                        <a:defRPr b="1" sz="1500">
                          <a:solidFill>
                            <a:srgbClr val="FFFFFF"/>
                          </a:solidFill>
                        </a:defRPr>
                      </a:pPr>
                      <a:r>
                        <a:t>SP5</a:t>
                      </a:r>
                    </a:p>
                  </a:txBody>
                  <a:tcPr>
                    <a:solidFill>
                      <a:srgbClr val="1B2A4A"/>
                    </a:solidFill>
                  </a:tcPr>
                </a:tc>
                <a:tc>
                  <a:txBody>
                    <a:bodyPr/>
                    <a:lstStyle/>
                    <a:p>
                      <a:pPr algn="ctr">
                        <a:defRPr b="1" sz="1500">
                          <a:solidFill>
                            <a:srgbClr val="FFFFFF"/>
                          </a:solidFill>
                        </a:defRPr>
                      </a:pPr>
                      <a:r>
                        <a:t>SP6</a:t>
                      </a:r>
                    </a:p>
                  </a:txBody>
                  <a:tcPr>
                    <a:solidFill>
                      <a:srgbClr val="1B2A4A"/>
                    </a:solidFill>
                  </a:tcPr>
                </a:tc>
                <a:tc>
                  <a:txBody>
                    <a:bodyPr/>
                    <a:lstStyle/>
                    <a:p>
                      <a:pPr algn="ctr">
                        <a:defRPr b="1" sz="1500">
                          <a:solidFill>
                            <a:srgbClr val="FFFFFF"/>
                          </a:solidFill>
                        </a:defRPr>
                      </a:pPr>
                      <a:r>
                        <a:t>SP7</a:t>
                      </a:r>
                    </a:p>
                  </a:txBody>
                  <a:tcPr>
                    <a:solidFill>
                      <a:srgbClr val="1B2A4A"/>
                    </a:solidFill>
                  </a:tcPr>
                </a:tc>
              </a:tr>
              <a:tr h="518160">
                <a:tc>
                  <a:txBody>
                    <a:bodyPr/>
                    <a:lstStyle/>
                    <a:p>
                      <a:pPr>
                        <a:defRPr sz="1300" b="1">
                          <a:solidFill>
                            <a:srgbClr val="333333"/>
                          </a:solidFill>
                        </a:defRPr>
                      </a:pPr>
                      <a:r>
                        <a:t>SUSE Linux Enterprise Server</a:t>
                      </a:r>
                    </a:p>
                  </a:txBody>
                  <a:tcPr>
                    <a:solidFill>
                      <a:srgbClr val="F4F6F8"/>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r>
              <a:tr h="518160">
                <a:tc>
                  <a:txBody>
                    <a:bodyPr/>
                    <a:lstStyle/>
                    <a:p>
                      <a:pPr>
                        <a:defRPr sz="1300" b="1">
                          <a:solidFill>
                            <a:srgbClr val="333333"/>
                          </a:solidFill>
                        </a:defRPr>
                      </a:pPr>
                      <a:r>
                        <a:t>Basesystem Module</a:t>
                      </a:r>
                    </a:p>
                  </a:txBody>
                  <a:tcPr>
                    <a:solidFill>
                      <a:srgbClr val="F4F6F8"/>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r>
              <a:tr h="518160">
                <a:tc>
                  <a:txBody>
                    <a:bodyPr/>
                    <a:lstStyle/>
                    <a:p>
                      <a:pPr>
                        <a:defRPr sz="1300" b="1">
                          <a:solidFill>
                            <a:srgbClr val="333333"/>
                          </a:solidFill>
                        </a:defRPr>
                      </a:pPr>
                      <a:r>
                        <a:t>Server Applications Module</a:t>
                      </a:r>
                    </a:p>
                  </a:txBody>
                  <a:tcPr>
                    <a:solidFill>
                      <a:srgbClr val="F4F6F8"/>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r>
              <a:tr h="518160">
                <a:tc>
                  <a:txBody>
                    <a:bodyPr/>
                    <a:lstStyle/>
                    <a:p>
                      <a:pPr>
                        <a:defRPr sz="1300" b="1">
                          <a:solidFill>
                            <a:srgbClr val="333333"/>
                          </a:solidFill>
                        </a:defRPr>
                      </a:pPr>
                      <a:r>
                        <a:t>Desktop Applications Module</a:t>
                      </a:r>
                    </a:p>
                  </a:txBody>
                  <a:tcPr>
                    <a:solidFill>
                      <a:srgbClr val="F4F6F8"/>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r>
              <a:tr h="518160">
                <a:tc>
                  <a:txBody>
                    <a:bodyPr/>
                    <a:lstStyle/>
                    <a:p>
                      <a:pPr>
                        <a:defRPr sz="1300" b="1">
                          <a:solidFill>
                            <a:srgbClr val="333333"/>
                          </a:solidFill>
                        </a:defRPr>
                      </a:pPr>
                      <a:r>
                        <a:t>Python 3 Module</a:t>
                      </a:r>
                    </a:p>
                  </a:txBody>
                  <a:tcPr>
                    <a:solidFill>
                      <a:srgbClr val="F4F6F8"/>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c>
                  <a:txBody>
                    <a:bodyPr/>
                    <a:lstStyle/>
                    <a:p>
                      <a:pPr algn="ctr">
                        <a:defRPr sz="1200">
                          <a:solidFill>
                            <a:srgbClr val="2E7D32"/>
                          </a:solidFill>
                        </a:defRPr>
                      </a:pPr>
                      <a:r>
                        <a:t>✓ Pool + Updates</a:t>
                      </a:r>
                    </a:p>
                  </a:txBody>
                  <a:tcPr>
                    <a:solidFill>
                      <a:srgbClr val="FFFFFF"/>
                    </a:solidFill>
                  </a:tcPr>
                </a:tc>
              </a:tr>
            </a:tbl>
          </a:graphicData>
        </a:graphic>
      </p:graphicFrame>
      <p:sp>
        <p:nvSpPr>
          <p:cNvPr id="5" name="TextBox 4"/>
          <p:cNvSpPr txBox="1"/>
          <p:nvPr/>
        </p:nvSpPr>
        <p:spPr>
          <a:xfrm>
            <a:off x="640080" y="4846320"/>
            <a:ext cx="10911535" cy="4846320"/>
          </a:xfrm>
          <a:prstGeom prst="rect">
            <a:avLst/>
          </a:prstGeom>
          <a:noFill/>
        </p:spPr>
        <p:txBody>
          <a:bodyPr wrap="square">
            <a:spAutoFit/>
          </a:bodyPr>
          <a:lstStyle/>
          <a:p>
            <a:pPr>
              <a:spcAft>
                <a:spcPts val="1000"/>
              </a:spcAft>
              <a:defRPr sz="1400">
                <a:solidFill>
                  <a:srgbClr val="333333"/>
                </a:solidFill>
              </a:defRPr>
            </a:pPr>
            <a:r>
              <a:t>•  5 módulos × 4 Service Pack × (Pool + Updates) = 40 repositorios reales, todos confirmados sincronizados sin errores en Foreman/Katello.</a:t>
            </a:r>
          </a:p>
          <a:p>
            <a:pPr>
              <a:spcAft>
                <a:spcPts val="1000"/>
              </a:spcAft>
              <a:defRPr sz="1400">
                <a:solidFill>
                  <a:srgbClr val="333333"/>
                </a:solidFill>
              </a:defRPr>
            </a:pPr>
            <a:r>
              <a:t>•  Deliberadamente no se incluyen repos de Source ni Debuginfo (no son necesarios para el upgrade).</a:t>
            </a:r>
          </a:p>
        </p:txBody>
      </p:sp>
      <p:sp>
        <p:nvSpPr>
          <p:cNvPr id="6" name="TextBox 5"/>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Controles y consideraciones para producción</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500">
                <a:solidFill>
                  <a:srgbClr val="333333"/>
                </a:solidFill>
              </a:defRPr>
            </a:pPr>
            <a:r>
              <a:t>•  Un servidor a la vez por defecto (procesamiento serial), para minimizar el impacto de cualquier imprevisto.</a:t>
            </a:r>
          </a:p>
          <a:p>
            <a:pPr>
              <a:spcAft>
                <a:spcPts val="1000"/>
              </a:spcAft>
              <a:defRPr sz="1500">
                <a:solidFill>
                  <a:srgbClr val="333333"/>
                </a:solidFill>
              </a:defRPr>
            </a:pPr>
            <a:r>
              <a:t>•  Ensayo real disponible (VALIDATE) antes de cualquier cambio, y una verificación interna obligatoria se repite automáticamente justo antes de aplicar cualquier cambio real.</a:t>
            </a:r>
          </a:p>
          <a:p>
            <a:pPr>
              <a:spcAft>
                <a:spcPts val="1000"/>
              </a:spcAft>
              <a:defRPr sz="1500">
                <a:solidFill>
                  <a:srgbClr val="333333"/>
                </a:solidFill>
              </a:defRPr>
            </a:pPr>
            <a:r>
              <a:t>•  Una migración real requiere una confirmación explícita adicional, verificada antes de tocar cualquier repositorio; no puede ocurrir por accidente.</a:t>
            </a:r>
          </a:p>
          <a:p>
            <a:pPr>
              <a:spcAft>
                <a:spcPts val="1000"/>
              </a:spcAft>
              <a:defRPr sz="1500">
                <a:solidFill>
                  <a:srgbClr val="333333"/>
                </a:solidFill>
              </a:defRPr>
            </a:pPr>
            <a:r>
              <a:t>•  El reinicio tras una migración real es siempre obligatorio: no existe una opción para omitirlo.</a:t>
            </a:r>
          </a:p>
          <a:p>
            <a:pPr>
              <a:spcAft>
                <a:spcPts val="1000"/>
              </a:spcAft>
              <a:defRPr sz="1500">
                <a:solidFill>
                  <a:srgbClr val="333333"/>
                </a:solidFill>
              </a:defRPr>
            </a:pPr>
            <a:r>
              <a:t>•  SP6 debe quedar realmente validado (aplicado, reiniciado, sistema operativo, servicios y GeoPOS) antes de que el mismo servidor continúe hacia SP7.</a:t>
            </a:r>
          </a:p>
          <a:p>
            <a:pPr>
              <a:spcAft>
                <a:spcPts val="1000"/>
              </a:spcAft>
              <a:defRPr sz="1500">
                <a:solidFill>
                  <a:srgbClr val="333333"/>
                </a:solidFill>
              </a:defRPr>
            </a:pPr>
            <a:r>
              <a:t>•  Ante cualquier fallo, la información de diagnóstico se conserva por defecto en el propio servidor (no se limpia a ciegas).</a:t>
            </a:r>
          </a:p>
          <a:p>
            <a:pPr>
              <a:spcAft>
                <a:spcPts val="1000"/>
              </a:spcAft>
              <a:defRPr sz="1500">
                <a:solidFill>
                  <a:srgbClr val="333333"/>
                </a:solidFill>
              </a:defRPr>
            </a:pPr>
            <a:r>
              <a:t>•  El alcance de servidores se controla con el CRQ/Lote/Ambiente del Survey, verificados contra el inventario: si no coinciden con ningún servidor, la ejecución falla antes de tocar nada — evitando ejecuciones accidentales sobre servidores no previstos.</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Validación de GeoPOS antes y después</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800">
                <a:solidFill>
                  <a:srgbClr val="333333"/>
                </a:solidFill>
              </a:defRPr>
            </a:pPr>
            <a:r>
              <a:t>•  GeoPOS se valida en cuatro dimensiones configurables por servidor: servicios, procesos Java, puertos y (opcionalmente) health checks.</a:t>
            </a:r>
          </a:p>
          <a:p>
            <a:pPr>
              <a:spcAft>
                <a:spcPts val="1000"/>
              </a:spcAft>
              <a:defRPr sz="1800">
                <a:solidFill>
                  <a:srgbClr val="333333"/>
                </a:solidFill>
              </a:defRPr>
            </a:pPr>
            <a:r>
              <a:t>•  Cada servidor puede tener cero, uno o varios elementos en cada categoría; no se asume una configuración única para todos.</a:t>
            </a:r>
          </a:p>
          <a:p>
            <a:pPr>
              <a:spcAft>
                <a:spcPts val="1000"/>
              </a:spcAft>
              <a:defRPr sz="1800">
                <a:solidFill>
                  <a:srgbClr val="333333"/>
                </a:solidFill>
              </a:defRPr>
            </a:pPr>
            <a:r>
              <a:t>•  Si un componente marcado como crítico no está saludable antes de iniciar, el upgrade de ese servidor se bloquea por política (configurable para excepciones autorizadas).</a:t>
            </a:r>
          </a:p>
          <a:p>
            <a:pPr>
              <a:spcAft>
                <a:spcPts val="1000"/>
              </a:spcAft>
              <a:defRPr sz="1800">
                <a:solidFill>
                  <a:srgbClr val="333333"/>
                </a:solidFill>
              </a:defRPr>
            </a:pPr>
            <a:r>
              <a:t>•  Después de una migración real, GeoPOS se vuelve a validar: alcanzar el Service Pack objetivo no se considera éxito si GeoPOS quedó insalubre.</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Reportes y trazabilidad</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500">
                <a:solidFill>
                  <a:srgbClr val="333333"/>
                </a:solidFill>
              </a:defRPr>
            </a:pPr>
            <a:r>
              <a:t>•  Cada servidor y cada etapa generan un reporte legible (HTML) con el resultado y el detalle de cada verificación.</a:t>
            </a:r>
          </a:p>
          <a:p>
            <a:pPr>
              <a:spcAft>
                <a:spcPts val="1000"/>
              </a:spcAft>
              <a:defRPr sz="1500">
                <a:solidFill>
                  <a:srgbClr val="333333"/>
                </a:solidFill>
              </a:defRPr>
            </a:pPr>
            <a:r>
              <a:t>•  Estados claros: OK, ADVERTENCIA, FALLIDO, NO VERIFICADO — sin ambigüedad sobre lo que realmente se comprobó.</a:t>
            </a:r>
          </a:p>
          <a:p>
            <a:pPr>
              <a:spcAft>
                <a:spcPts val="1000"/>
              </a:spcAft>
              <a:defRPr sz="1500">
                <a:solidFill>
                  <a:srgbClr val="333333"/>
                </a:solidFill>
              </a:defRPr>
            </a:pPr>
            <a:r>
              <a:t>•  Un resumen consolidado permite ver, de un vistazo, el estado de todos los servidores procesados.</a:t>
            </a:r>
          </a:p>
          <a:p>
            <a:pPr>
              <a:spcAft>
                <a:spcPts val="1000"/>
              </a:spcAft>
              <a:defRPr sz="1500">
                <a:solidFill>
                  <a:srgbClr val="333333"/>
                </a:solidFill>
              </a:defRPr>
            </a:pPr>
            <a:r>
              <a:t>•  El operador puede determinar si la migración fue satisfactoria sin conectarse por SSH ni revisar todo el log del Job en AWX.</a:t>
            </a:r>
          </a:p>
          <a:p>
            <a:pPr>
              <a:spcAft>
                <a:spcPts val="1000"/>
              </a:spcAft>
              <a:defRPr sz="1500">
                <a:solidFill>
                  <a:srgbClr val="333333"/>
                </a:solidFill>
              </a:defRPr>
            </a:pPr>
            <a:r>
              <a:t>•  Importante: para que los reportes se conserven más allá de cada ejecución, se necesita definir un destino de almacenamiento persistente real; mientras no exista, solo están garantizados durante esa ejecución puntual.</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Riesgos principales y próximos pasos</a:t>
            </a:r>
          </a:p>
        </p:txBody>
      </p:sp>
      <p:sp>
        <p:nvSpPr>
          <p:cNvPr id="4" name="TextBox 3"/>
          <p:cNvSpPr txBox="1"/>
          <p:nvPr/>
        </p:nvSpPr>
        <p:spPr>
          <a:xfrm>
            <a:off x="548640" y="1371600"/>
            <a:ext cx="5486400" cy="4846320"/>
          </a:xfrm>
          <a:prstGeom prst="rect">
            <a:avLst/>
          </a:prstGeom>
          <a:noFill/>
        </p:spPr>
        <p:txBody>
          <a:bodyPr wrap="square">
            <a:spAutoFit/>
          </a:bodyPr>
          <a:lstStyle/>
          <a:p>
            <a:pPr>
              <a:defRPr sz="1800" b="1">
                <a:solidFill>
                  <a:srgbClr val="1B2A4A"/>
                </a:solidFill>
              </a:defRPr>
            </a:pPr>
            <a:r>
              <a:t>Riesgos y cómo se controlan</a:t>
            </a:r>
          </a:p>
          <a:p>
            <a:pPr>
              <a:spcBef>
                <a:spcPts val="800"/>
              </a:spcBef>
              <a:defRPr sz="1400">
                <a:solidFill>
                  <a:srgbClr val="333333"/>
                </a:solidFill>
              </a:defRPr>
            </a:pPr>
            <a:r>
              <a:t>•  Interrupción del servicio durante el upgrade → ensayo real previo (VALIDATE), un servidor a la vez, validación GeoPOS antes/después.</a:t>
            </a:r>
          </a:p>
          <a:p>
            <a:pPr>
              <a:spcBef>
                <a:spcPts val="800"/>
              </a:spcBef>
              <a:defRPr sz="1400">
                <a:solidFill>
                  <a:srgbClr val="333333"/>
                </a:solidFill>
              </a:defRPr>
            </a:pPr>
            <a:r>
              <a:t>•  Repositorios incorrectos o inaccesibles → verificación de conectividad antes de modificar el sistema; nunca se inventan datos de Foreman.</a:t>
            </a:r>
          </a:p>
          <a:p>
            <a:pPr>
              <a:spcBef>
                <a:spcPts val="800"/>
              </a:spcBef>
              <a:defRPr sz="1400">
                <a:solidFill>
                  <a:srgbClr val="333333"/>
                </a:solidFill>
              </a:defRPr>
            </a:pPr>
            <a:r>
              <a:t>•  Falta de evidencia de rollback real → el proyecto no afirma capacidad de rollback automático salvo que el servidor use Btrfs con snapshots.</a:t>
            </a:r>
          </a:p>
          <a:p>
            <a:pPr>
              <a:spcBef>
                <a:spcPts val="800"/>
              </a:spcBef>
              <a:defRPr sz="1400">
                <a:solidFill>
                  <a:srgbClr val="333333"/>
                </a:solidFill>
              </a:defRPr>
            </a:pPr>
            <a:r>
              <a:t>•  Ejecución accidental contra servidores no previstos → el alcance siempre se define explícitamente desde AWX.</a:t>
            </a:r>
          </a:p>
        </p:txBody>
      </p:sp>
      <p:sp>
        <p:nvSpPr>
          <p:cNvPr id="5" name="TextBox 4"/>
          <p:cNvSpPr txBox="1"/>
          <p:nvPr/>
        </p:nvSpPr>
        <p:spPr>
          <a:xfrm>
            <a:off x="6400800" y="1371600"/>
            <a:ext cx="5212080" cy="4846320"/>
          </a:xfrm>
          <a:prstGeom prst="rect">
            <a:avLst/>
          </a:prstGeom>
          <a:noFill/>
        </p:spPr>
        <p:txBody>
          <a:bodyPr wrap="square">
            <a:spAutoFit/>
          </a:bodyPr>
          <a:lstStyle/>
          <a:p>
            <a:pPr>
              <a:defRPr sz="1800" b="1">
                <a:solidFill>
                  <a:srgbClr val="1B2A4A"/>
                </a:solidFill>
              </a:defRPr>
            </a:pPr>
            <a:r>
              <a:t>Próximos pasos</a:t>
            </a:r>
          </a:p>
          <a:p>
            <a:pPr>
              <a:spcBef>
                <a:spcPts val="800"/>
              </a:spcBef>
              <a:defRPr sz="1400">
                <a:solidFill>
                  <a:srgbClr val="333333"/>
                </a:solidFill>
              </a:defRPr>
            </a:pPr>
            <a:r>
              <a:t>•  Repositorios Foreman/Katello y CA interna: ya completados, verificados e instalación automatizada (SP4 a SP7). Pendiente real: servicios/puertos de GeoPOS, destino definitivo de los reportes.</a:t>
            </a:r>
          </a:p>
          <a:p>
            <a:pPr>
              <a:spcBef>
                <a:spcPts val="800"/>
              </a:spcBef>
              <a:defRPr sz="1400">
                <a:solidFill>
                  <a:srgbClr val="333333"/>
                </a:solidFill>
              </a:defRPr>
            </a:pPr>
            <a:r>
              <a:t>•  Configurar los objetos de AWX (Inventory, Credential, Job Template, Survey) con datos del ambiente.</a:t>
            </a:r>
          </a:p>
          <a:p>
            <a:pPr>
              <a:spcBef>
                <a:spcPts val="800"/>
              </a:spcBef>
              <a:defRPr sz="1400">
                <a:solidFill>
                  <a:srgbClr val="333333"/>
                </a:solidFill>
              </a:defRPr>
            </a:pPr>
            <a:r>
              <a:t>•  Ejecutar precheck y luego validate en un servidor de laboratorio antes de la primera ejecución real.</a:t>
            </a:r>
          </a:p>
          <a:p>
            <a:pPr>
              <a:spcBef>
                <a:spcPts val="800"/>
              </a:spcBef>
              <a:defRPr sz="1400">
                <a:solidFill>
                  <a:srgbClr val="333333"/>
                </a:solidFill>
              </a:defRPr>
            </a:pPr>
            <a:r>
              <a:t>•  Definir la ventana de mantenimiento y acordar el criterio de éxito con el equipo de GeoPOS.</a:t>
            </a:r>
          </a:p>
        </p:txBody>
      </p:sp>
      <p:sp>
        <p:nvSpPr>
          <p:cNvPr id="6" name="TextBox 5"/>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Presentación ejecutiva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Anexo: arquitectura técnica</a:t>
            </a:r>
          </a:p>
          <a:p>
            <a:pPr>
              <a:defRPr sz="1400">
                <a:solidFill>
                  <a:srgbClr val="C9D6E8"/>
                </a:solidFill>
              </a:defRPr>
            </a:pPr>
            <a:r>
              <a:t>Diapositiva opcional para audiencia técnica</a:t>
            </a:r>
          </a:p>
        </p:txBody>
      </p:sp>
      <p:sp>
        <p:nvSpPr>
          <p:cNvPr id="4" name="TextBox 3"/>
          <p:cNvSpPr txBox="1"/>
          <p:nvPr/>
        </p:nvSpPr>
        <p:spPr>
          <a:xfrm>
            <a:off x="640080" y="1371600"/>
            <a:ext cx="10911535" cy="4846320"/>
          </a:xfrm>
          <a:prstGeom prst="rect">
            <a:avLst/>
          </a:prstGeom>
          <a:noFill/>
        </p:spPr>
        <p:txBody>
          <a:bodyPr wrap="square">
            <a:spAutoFit/>
          </a:bodyPr>
          <a:lstStyle/>
          <a:p>
            <a:pPr>
              <a:spcAft>
                <a:spcPts val="1000"/>
              </a:spcAft>
              <a:defRPr sz="1600">
                <a:solidFill>
                  <a:srgbClr val="333333"/>
                </a:solidFill>
              </a:defRPr>
            </a:pPr>
            <a:r>
              <a:t>•  Un solo playbook de entrada, controlado por el modo de ejecución (precheck / validate / sp4_to_sp5 / sp5_to_sp6 / sp6_to_sp7 / full).</a:t>
            </a:r>
          </a:p>
          <a:p>
            <a:pPr>
              <a:spcAft>
                <a:spcPts val="1000"/>
              </a:spcAft>
              <a:defRPr sz="1600">
                <a:solidFill>
                  <a:srgbClr val="333333"/>
                </a:solidFill>
              </a:defRPr>
            </a:pPr>
            <a:r>
              <a:t>•  Un solo rol de migración parametrizado, reutilizado para las tres etapas — la diferencia entre ellas es de datos (repositorios, opción --releasever), no de procedimiento.</a:t>
            </a:r>
          </a:p>
          <a:p>
            <a:pPr>
              <a:spcAft>
                <a:spcPts val="1000"/>
              </a:spcAft>
              <a:defRPr sz="1600">
                <a:solidFill>
                  <a:srgbClr val="333333"/>
                </a:solidFill>
              </a:defRPr>
            </a:pPr>
            <a:r>
              <a:t>•  El ensayo real (VALIDATE) usa un directorio de repositorios temporal y aislado que Zypper consulta en lugar del real, y que se elimina siempre al finalizar.</a:t>
            </a:r>
          </a:p>
          <a:p>
            <a:pPr>
              <a:spcAft>
                <a:spcPts val="1000"/>
              </a:spcAft>
              <a:defRPr sz="1600">
                <a:solidFill>
                  <a:srgbClr val="333333"/>
                </a:solidFill>
              </a:defRPr>
            </a:pPr>
            <a:r>
              <a:t>•  El diseño técnico completo, con sus justificaciones, está documentado en docs/ARQUITECTURA_Y_DISENO_TECNICO.html del propio repositorio.</a:t>
            </a:r>
          </a:p>
        </p:txBody>
      </p:sp>
      <p:sp>
        <p:nvSpPr>
          <p:cNvPr id="5" name="TextBox 4"/>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Anexo técnico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1094415" cy="640080"/>
          </a:xfrm>
          <a:prstGeom prst="rect">
            <a:avLst/>
          </a:prstGeom>
          <a:noFill/>
        </p:spPr>
        <p:txBody>
          <a:bodyPr wrap="square">
            <a:spAutoFit/>
          </a:bodyPr>
          <a:lstStyle/>
          <a:p>
            <a:pPr>
              <a:defRPr sz="2800" b="1">
                <a:solidFill>
                  <a:srgbClr val="FFFFFF"/>
                </a:solidFill>
              </a:defRPr>
            </a:pPr>
            <a:r>
              <a:t>Anexo: ciclo de vida de repositorios</a:t>
            </a:r>
          </a:p>
          <a:p>
            <a:pPr>
              <a:defRPr sz="1400">
                <a:solidFill>
                  <a:srgbClr val="C9D6E8"/>
                </a:solidFill>
              </a:defRPr>
            </a:pPr>
            <a:r>
              <a:t>Diapositiva opcional para audiencia técnica</a:t>
            </a:r>
          </a:p>
        </p:txBody>
      </p:sp>
      <p:sp>
        <p:nvSpPr>
          <p:cNvPr id="4" name="Rounded Rectangle 3"/>
          <p:cNvSpPr/>
          <p:nvPr/>
        </p:nvSpPr>
        <p:spPr>
          <a:xfrm>
            <a:off x="640080" y="1371600"/>
            <a:ext cx="6949440" cy="54864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1. Inventariar repositorios actuales (habilitados / deshabilitados)</a:t>
            </a:r>
          </a:p>
        </p:txBody>
      </p:sp>
      <p:sp>
        <p:nvSpPr>
          <p:cNvPr id="5" name="Down Arrow 4"/>
          <p:cNvSpPr/>
          <p:nvPr/>
        </p:nvSpPr>
        <p:spPr>
          <a:xfrm>
            <a:off x="4005072" y="1920240"/>
            <a:ext cx="219456" cy="128016"/>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2048256"/>
            <a:ext cx="6949440" cy="5486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2. Deshabilitar solo los que estaban habilitados (nunca se borran)</a:t>
            </a:r>
          </a:p>
        </p:txBody>
      </p:sp>
      <p:sp>
        <p:nvSpPr>
          <p:cNvPr id="7" name="Down Arrow 6"/>
          <p:cNvSpPr/>
          <p:nvPr/>
        </p:nvSpPr>
        <p:spPr>
          <a:xfrm>
            <a:off x="4005072" y="2596896"/>
            <a:ext cx="219456" cy="128016"/>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724912"/>
            <a:ext cx="6949440" cy="54864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3. Agregar repos Foreman de origen -&gt; actualizar la pila de paquetes</a:t>
            </a:r>
          </a:p>
        </p:txBody>
      </p:sp>
      <p:sp>
        <p:nvSpPr>
          <p:cNvPr id="9" name="Down Arrow 8"/>
          <p:cNvSpPr/>
          <p:nvPr/>
        </p:nvSpPr>
        <p:spPr>
          <a:xfrm>
            <a:off x="4005072" y="3273552"/>
            <a:ext cx="219456" cy="128016"/>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401568"/>
            <a:ext cx="6949440" cy="5486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4. Retirar los repos Foreman de origen</a:t>
            </a:r>
          </a:p>
        </p:txBody>
      </p:sp>
      <p:sp>
        <p:nvSpPr>
          <p:cNvPr id="11" name="Down Arrow 10"/>
          <p:cNvSpPr/>
          <p:nvPr/>
        </p:nvSpPr>
        <p:spPr>
          <a:xfrm>
            <a:off x="4005072" y="3950208"/>
            <a:ext cx="219456" cy="128016"/>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4078224"/>
            <a:ext cx="6949440" cy="548640"/>
          </a:xfrm>
          <a:prstGeom prst="roundRect">
            <a:avLst/>
          </a:prstGeom>
          <a:solidFill>
            <a:srgbClr val="1B2A4A"/>
          </a:solidFill>
          <a:ln>
            <a:solidFill>
              <a:srgbClr val="1B2A4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5. Agregar repos Foreman de destino (listos para migrar)</a:t>
            </a:r>
          </a:p>
        </p:txBody>
      </p:sp>
      <p:sp>
        <p:nvSpPr>
          <p:cNvPr id="13" name="Down Arrow 12"/>
          <p:cNvSpPr/>
          <p:nvPr/>
        </p:nvSpPr>
        <p:spPr>
          <a:xfrm>
            <a:off x="4005072" y="4626864"/>
            <a:ext cx="219456" cy="128016"/>
          </a:xfrm>
          <a:prstGeom prst="downArrow">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4754880"/>
            <a:ext cx="6949440" cy="548640"/>
          </a:xfrm>
          <a:prstGeom prst="roundRect">
            <a:avLst/>
          </a:prstGeom>
          <a:solidFill>
            <a:srgbClr val="1F7A6C"/>
          </a:solidFill>
          <a:ln>
            <a:solidFill>
              <a:srgbClr val="1F7A6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6. Migrar (dup); si la etapa fue exitosa, retirar los repos Foreman de destino</a:t>
            </a:r>
          </a:p>
        </p:txBody>
      </p:sp>
      <p:sp>
        <p:nvSpPr>
          <p:cNvPr id="15" name="TextBox 14"/>
          <p:cNvSpPr txBox="1"/>
          <p:nvPr/>
        </p:nvSpPr>
        <p:spPr>
          <a:xfrm>
            <a:off x="7955279" y="1463040"/>
            <a:ext cx="3566160" cy="4389120"/>
          </a:xfrm>
          <a:prstGeom prst="rect">
            <a:avLst/>
          </a:prstGeom>
          <a:noFill/>
        </p:spPr>
        <p:txBody>
          <a:bodyPr wrap="square">
            <a:spAutoFit/>
          </a:bodyPr>
          <a:lstStyle/>
          <a:p>
            <a:pPr>
              <a:defRPr sz="1300">
                <a:solidFill>
                  <a:srgbClr val="333333"/>
                </a:solidFill>
              </a:defRPr>
            </a:pPr>
            <a:r>
              <a:t>Los repositorios que estaban deshabilitados antes de empezar no se tocan.</a:t>
            </a:r>
          </a:p>
          <a:p>
            <a:br/>
            <a:pPr>
              <a:defRPr sz="1300">
                <a:solidFill>
                  <a:srgbClr val="666666"/>
                </a:solidFill>
              </a:defRPr>
            </a:pPr>
            <a:r>
              <a:t>Los que se deshabilitan durante la migración no se reactivan automáticamente al terminar.</a:t>
            </a:r>
          </a:p>
          <a:p>
            <a:br/>
            <a:pPr>
              <a:defRPr sz="1300">
                <a:solidFill>
                  <a:srgbClr val="666666"/>
                </a:solidFill>
              </a:defRPr>
            </a:pPr>
            <a:r>
              <a:t>Ante un fallo, todo se conserva tal cual para diagnóstico.</a:t>
            </a:r>
          </a:p>
          <a:p>
            <a:br/>
            <a:pPr>
              <a:defRPr sz="1300">
                <a:solidFill>
                  <a:srgbClr val="666666"/>
                </a:solidFill>
              </a:defRPr>
            </a:pPr>
            <a:r>
              <a:t>Los pasos 1-5 son la etapa “Preparar”; el paso 6 (migrar + retirar destino) es la etapa “Aplicar” — ver diapositiva 6.</a:t>
            </a:r>
          </a:p>
        </p:txBody>
      </p:sp>
      <p:sp>
        <p:nvSpPr>
          <p:cNvPr id="16" name="TextBox 15"/>
          <p:cNvSpPr txBox="1"/>
          <p:nvPr/>
        </p:nvSpPr>
        <p:spPr>
          <a:xfrm>
            <a:off x="457200" y="6446520"/>
            <a:ext cx="11277295" cy="320040"/>
          </a:xfrm>
          <a:prstGeom prst="rect">
            <a:avLst/>
          </a:prstGeom>
          <a:noFill/>
        </p:spPr>
        <p:txBody>
          <a:bodyPr wrap="none">
            <a:spAutoFit/>
          </a:bodyPr>
          <a:lstStyle/>
          <a:p>
            <a:pPr>
              <a:defRPr sz="1100">
                <a:solidFill>
                  <a:srgbClr val="666666"/>
                </a:solidFill>
              </a:defRPr>
            </a:pPr>
            <a:r>
              <a:t>ansible-sles-upgrade · Anexo técnico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